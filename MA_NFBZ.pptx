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6" r:id="rId1"/>
  </p:sldMasterIdLst>
  <p:notesMasterIdLst>
    <p:notesMasterId r:id="rId67"/>
  </p:notesMasterIdLst>
  <p:handoutMasterIdLst>
    <p:handoutMasterId r:id="rId68"/>
  </p:handoutMasterIdLst>
  <p:sldIdLst>
    <p:sldId id="256" r:id="rId2"/>
    <p:sldId id="257" r:id="rId3"/>
    <p:sldId id="258" r:id="rId4"/>
    <p:sldId id="261" r:id="rId5"/>
    <p:sldId id="262" r:id="rId6"/>
    <p:sldId id="269" r:id="rId7"/>
    <p:sldId id="270" r:id="rId8"/>
    <p:sldId id="271" r:id="rId9"/>
    <p:sldId id="327" r:id="rId10"/>
    <p:sldId id="267" r:id="rId11"/>
    <p:sldId id="264" r:id="rId12"/>
    <p:sldId id="281" r:id="rId13"/>
    <p:sldId id="285" r:id="rId14"/>
    <p:sldId id="276" r:id="rId15"/>
    <p:sldId id="282" r:id="rId16"/>
    <p:sldId id="284" r:id="rId17"/>
    <p:sldId id="277" r:id="rId18"/>
    <p:sldId id="305" r:id="rId19"/>
    <p:sldId id="283" r:id="rId20"/>
    <p:sldId id="306" r:id="rId21"/>
    <p:sldId id="307" r:id="rId22"/>
    <p:sldId id="287" r:id="rId23"/>
    <p:sldId id="286" r:id="rId24"/>
    <p:sldId id="288" r:id="rId25"/>
    <p:sldId id="289" r:id="rId26"/>
    <p:sldId id="290" r:id="rId27"/>
    <p:sldId id="291" r:id="rId28"/>
    <p:sldId id="292" r:id="rId29"/>
    <p:sldId id="293" r:id="rId30"/>
    <p:sldId id="294" r:id="rId31"/>
    <p:sldId id="295" r:id="rId32"/>
    <p:sldId id="309" r:id="rId33"/>
    <p:sldId id="298" r:id="rId34"/>
    <p:sldId id="300" r:id="rId35"/>
    <p:sldId id="310" r:id="rId36"/>
    <p:sldId id="301" r:id="rId37"/>
    <p:sldId id="302" r:id="rId38"/>
    <p:sldId id="304" r:id="rId39"/>
    <p:sldId id="323" r:id="rId40"/>
    <p:sldId id="324" r:id="rId41"/>
    <p:sldId id="311" r:id="rId42"/>
    <p:sldId id="312" r:id="rId43"/>
    <p:sldId id="313" r:id="rId44"/>
    <p:sldId id="314" r:id="rId45"/>
    <p:sldId id="315" r:id="rId46"/>
    <p:sldId id="316" r:id="rId47"/>
    <p:sldId id="317" r:id="rId48"/>
    <p:sldId id="318" r:id="rId49"/>
    <p:sldId id="319" r:id="rId50"/>
    <p:sldId id="320" r:id="rId51"/>
    <p:sldId id="321" r:id="rId52"/>
    <p:sldId id="322" r:id="rId53"/>
    <p:sldId id="274" r:id="rId54"/>
    <p:sldId id="275" r:id="rId55"/>
    <p:sldId id="279" r:id="rId56"/>
    <p:sldId id="280" r:id="rId57"/>
    <p:sldId id="259" r:id="rId58"/>
    <p:sldId id="268" r:id="rId59"/>
    <p:sldId id="273" r:id="rId60"/>
    <p:sldId id="308" r:id="rId61"/>
    <p:sldId id="260" r:id="rId62"/>
    <p:sldId id="278" r:id="rId63"/>
    <p:sldId id="263" r:id="rId64"/>
    <p:sldId id="326" r:id="rId65"/>
    <p:sldId id="325" r:id="rId66"/>
  </p:sldIdLst>
  <p:sldSz cx="9144000" cy="5143500" type="screen16x9"/>
  <p:notesSz cx="6858000" cy="9144000"/>
  <p:defaultTextStyle>
    <a:defPPr>
      <a:defRPr lang="de-DE"/>
    </a:defPPr>
    <a:lvl1pPr marL="0" algn="l" defTabSz="457096" rtl="0" eaLnBrk="1" latinLnBrk="0" hangingPunct="1">
      <a:defRPr sz="1800" kern="1200">
        <a:solidFill>
          <a:schemeClr val="tx1"/>
        </a:solidFill>
        <a:latin typeface="+mn-lt"/>
        <a:ea typeface="+mn-ea"/>
        <a:cs typeface="+mn-cs"/>
      </a:defRPr>
    </a:lvl1pPr>
    <a:lvl2pPr marL="457096" algn="l" defTabSz="457096" rtl="0" eaLnBrk="1" latinLnBrk="0" hangingPunct="1">
      <a:defRPr sz="1800" kern="1200">
        <a:solidFill>
          <a:schemeClr val="tx1"/>
        </a:solidFill>
        <a:latin typeface="+mn-lt"/>
        <a:ea typeface="+mn-ea"/>
        <a:cs typeface="+mn-cs"/>
      </a:defRPr>
    </a:lvl2pPr>
    <a:lvl3pPr marL="914192" algn="l" defTabSz="457096" rtl="0" eaLnBrk="1" latinLnBrk="0" hangingPunct="1">
      <a:defRPr sz="1800" kern="1200">
        <a:solidFill>
          <a:schemeClr val="tx1"/>
        </a:solidFill>
        <a:latin typeface="+mn-lt"/>
        <a:ea typeface="+mn-ea"/>
        <a:cs typeface="+mn-cs"/>
      </a:defRPr>
    </a:lvl3pPr>
    <a:lvl4pPr marL="1371288" algn="l" defTabSz="457096" rtl="0" eaLnBrk="1" latinLnBrk="0" hangingPunct="1">
      <a:defRPr sz="1800" kern="1200">
        <a:solidFill>
          <a:schemeClr val="tx1"/>
        </a:solidFill>
        <a:latin typeface="+mn-lt"/>
        <a:ea typeface="+mn-ea"/>
        <a:cs typeface="+mn-cs"/>
      </a:defRPr>
    </a:lvl4pPr>
    <a:lvl5pPr marL="1828384" algn="l" defTabSz="457096" rtl="0" eaLnBrk="1" latinLnBrk="0" hangingPunct="1">
      <a:defRPr sz="1800" kern="1200">
        <a:solidFill>
          <a:schemeClr val="tx1"/>
        </a:solidFill>
        <a:latin typeface="+mn-lt"/>
        <a:ea typeface="+mn-ea"/>
        <a:cs typeface="+mn-cs"/>
      </a:defRPr>
    </a:lvl5pPr>
    <a:lvl6pPr marL="2285480" algn="l" defTabSz="457096" rtl="0" eaLnBrk="1" latinLnBrk="0" hangingPunct="1">
      <a:defRPr sz="1800" kern="1200">
        <a:solidFill>
          <a:schemeClr val="tx1"/>
        </a:solidFill>
        <a:latin typeface="+mn-lt"/>
        <a:ea typeface="+mn-ea"/>
        <a:cs typeface="+mn-cs"/>
      </a:defRPr>
    </a:lvl6pPr>
    <a:lvl7pPr marL="2742576" algn="l" defTabSz="457096" rtl="0" eaLnBrk="1" latinLnBrk="0" hangingPunct="1">
      <a:defRPr sz="1800" kern="1200">
        <a:solidFill>
          <a:schemeClr val="tx1"/>
        </a:solidFill>
        <a:latin typeface="+mn-lt"/>
        <a:ea typeface="+mn-ea"/>
        <a:cs typeface="+mn-cs"/>
      </a:defRPr>
    </a:lvl7pPr>
    <a:lvl8pPr marL="3199672" algn="l" defTabSz="457096" rtl="0" eaLnBrk="1" latinLnBrk="0" hangingPunct="1">
      <a:defRPr sz="1800" kern="1200">
        <a:solidFill>
          <a:schemeClr val="tx1"/>
        </a:solidFill>
        <a:latin typeface="+mn-lt"/>
        <a:ea typeface="+mn-ea"/>
        <a:cs typeface="+mn-cs"/>
      </a:defRPr>
    </a:lvl8pPr>
    <a:lvl9pPr marL="3656768" algn="l" defTabSz="45709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06">
          <p15:clr>
            <a:srgbClr val="A4A3A4"/>
          </p15:clr>
        </p15:guide>
        <p15:guide id="2" orient="horz" pos="1567">
          <p15:clr>
            <a:srgbClr val="A4A3A4"/>
          </p15:clr>
        </p15:guide>
        <p15:guide id="3" orient="horz" pos="234">
          <p15:clr>
            <a:srgbClr val="A4A3A4"/>
          </p15:clr>
        </p15:guide>
        <p15:guide id="4" orient="horz" pos="658">
          <p15:clr>
            <a:srgbClr val="A4A3A4"/>
          </p15:clr>
        </p15:guide>
        <p15:guide id="5" orient="horz" pos="201">
          <p15:clr>
            <a:srgbClr val="A4A3A4"/>
          </p15:clr>
        </p15:guide>
        <p15:guide id="6" orient="horz" pos="1206">
          <p15:clr>
            <a:srgbClr val="A4A3A4"/>
          </p15:clr>
        </p15:guide>
        <p15:guide id="7" pos="4314">
          <p15:clr>
            <a:srgbClr val="A4A3A4"/>
          </p15:clr>
        </p15:guide>
        <p15:guide id="8" pos="287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9933"/>
    <a:srgbClr val="006600"/>
    <a:srgbClr val="00CC00"/>
    <a:srgbClr val="009900"/>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83196" autoAdjust="0"/>
  </p:normalViewPr>
  <p:slideViewPr>
    <p:cSldViewPr snapToGrid="0" snapToObjects="1">
      <p:cViewPr varScale="1">
        <p:scale>
          <a:sx n="125" d="100"/>
          <a:sy n="125" d="100"/>
        </p:scale>
        <p:origin x="1206" y="102"/>
      </p:cViewPr>
      <p:guideLst>
        <p:guide orient="horz" pos="1106"/>
        <p:guide orient="horz" pos="1567"/>
        <p:guide orient="horz" pos="234"/>
        <p:guide orient="horz" pos="658"/>
        <p:guide orient="horz" pos="201"/>
        <p:guide orient="horz" pos="1206"/>
        <p:guide pos="4314"/>
        <p:guide pos="2877"/>
      </p:guideLst>
    </p:cSldViewPr>
  </p:slideViewPr>
  <p:notesTextViewPr>
    <p:cViewPr>
      <p:scale>
        <a:sx n="100" d="100"/>
        <a:sy n="100" d="100"/>
      </p:scale>
      <p:origin x="0" y="0"/>
    </p:cViewPr>
  </p:notesTextViewPr>
  <p:notesViewPr>
    <p:cSldViewPr snapToGrid="0" snapToObjects="1">
      <p:cViewPr varScale="1">
        <p:scale>
          <a:sx n="88" d="100"/>
          <a:sy n="88" d="100"/>
        </p:scale>
        <p:origin x="-387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98A522-022A-DE42-AE0F-3F297654DEB1}" type="datetime1">
              <a:rPr lang="de-DE" smtClean="0"/>
              <a:pPr/>
              <a:t>26.05.2023</a:t>
            </a:fld>
            <a:endParaRPr 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B39674F-4B0E-DA42-8186-0A7D4E7C2CE8}" type="slidenum">
              <a:rPr lang="de-DE" smtClean="0"/>
              <a:pPr/>
              <a:t>‹#›</a:t>
            </a:fld>
            <a:endParaRPr lang="de-DE"/>
          </a:p>
        </p:txBody>
      </p:sp>
    </p:spTree>
    <p:extLst>
      <p:ext uri="{BB962C8B-B14F-4D97-AF65-F5344CB8AC3E}">
        <p14:creationId xmlns:p14="http://schemas.microsoft.com/office/powerpoint/2010/main" val="40360995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69775B-D8D0-A847-ABC6-465B2BAD3F7E}" type="datetime1">
              <a:rPr lang="de-DE" smtClean="0"/>
              <a:pPr/>
              <a:t>26.05.2023</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2B266EF-51AE-2C40-8C95-8EB2C49369B2}" type="slidenum">
              <a:rPr lang="de-DE" smtClean="0"/>
              <a:pPr/>
              <a:t>‹#›</a:t>
            </a:fld>
            <a:endParaRPr lang="de-DE"/>
          </a:p>
        </p:txBody>
      </p:sp>
    </p:spTree>
    <p:extLst>
      <p:ext uri="{BB962C8B-B14F-4D97-AF65-F5344CB8AC3E}">
        <p14:creationId xmlns:p14="http://schemas.microsoft.com/office/powerpoint/2010/main" val="139046620"/>
      </p:ext>
    </p:extLst>
  </p:cSld>
  <p:clrMap bg1="lt1" tx1="dk1" bg2="lt2" tx2="dk2" accent1="accent1" accent2="accent2" accent3="accent3" accent4="accent4" accent5="accent5" accent6="accent6" hlink="hlink" folHlink="folHlink"/>
  <p:hf hdr="0" ftr="0" dt="0"/>
  <p:notesStyle>
    <a:lvl1pPr marL="0" algn="l" defTabSz="457096" rtl="0" eaLnBrk="1" latinLnBrk="0" hangingPunct="1">
      <a:defRPr sz="1200" kern="1200">
        <a:solidFill>
          <a:schemeClr val="tx1"/>
        </a:solidFill>
        <a:latin typeface="+mn-lt"/>
        <a:ea typeface="+mn-ea"/>
        <a:cs typeface="+mn-cs"/>
      </a:defRPr>
    </a:lvl1pPr>
    <a:lvl2pPr marL="457096" algn="l" defTabSz="457096" rtl="0" eaLnBrk="1" latinLnBrk="0" hangingPunct="1">
      <a:defRPr sz="1200" kern="1200">
        <a:solidFill>
          <a:schemeClr val="tx1"/>
        </a:solidFill>
        <a:latin typeface="+mn-lt"/>
        <a:ea typeface="+mn-ea"/>
        <a:cs typeface="+mn-cs"/>
      </a:defRPr>
    </a:lvl2pPr>
    <a:lvl3pPr marL="914192" algn="l" defTabSz="457096" rtl="0" eaLnBrk="1" latinLnBrk="0" hangingPunct="1">
      <a:defRPr sz="1200" kern="1200">
        <a:solidFill>
          <a:schemeClr val="tx1"/>
        </a:solidFill>
        <a:latin typeface="+mn-lt"/>
        <a:ea typeface="+mn-ea"/>
        <a:cs typeface="+mn-cs"/>
      </a:defRPr>
    </a:lvl3pPr>
    <a:lvl4pPr marL="1371288" algn="l" defTabSz="457096" rtl="0" eaLnBrk="1" latinLnBrk="0" hangingPunct="1">
      <a:defRPr sz="1200" kern="1200">
        <a:solidFill>
          <a:schemeClr val="tx1"/>
        </a:solidFill>
        <a:latin typeface="+mn-lt"/>
        <a:ea typeface="+mn-ea"/>
        <a:cs typeface="+mn-cs"/>
      </a:defRPr>
    </a:lvl4pPr>
    <a:lvl5pPr marL="1828384" algn="l" defTabSz="457096" rtl="0" eaLnBrk="1" latinLnBrk="0" hangingPunct="1">
      <a:defRPr sz="1200" kern="1200">
        <a:solidFill>
          <a:schemeClr val="tx1"/>
        </a:solidFill>
        <a:latin typeface="+mn-lt"/>
        <a:ea typeface="+mn-ea"/>
        <a:cs typeface="+mn-cs"/>
      </a:defRPr>
    </a:lvl5pPr>
    <a:lvl6pPr marL="2285480" algn="l" defTabSz="457096" rtl="0" eaLnBrk="1" latinLnBrk="0" hangingPunct="1">
      <a:defRPr sz="1200" kern="1200">
        <a:solidFill>
          <a:schemeClr val="tx1"/>
        </a:solidFill>
        <a:latin typeface="+mn-lt"/>
        <a:ea typeface="+mn-ea"/>
        <a:cs typeface="+mn-cs"/>
      </a:defRPr>
    </a:lvl6pPr>
    <a:lvl7pPr marL="2742576" algn="l" defTabSz="457096" rtl="0" eaLnBrk="1" latinLnBrk="0" hangingPunct="1">
      <a:defRPr sz="1200" kern="1200">
        <a:solidFill>
          <a:schemeClr val="tx1"/>
        </a:solidFill>
        <a:latin typeface="+mn-lt"/>
        <a:ea typeface="+mn-ea"/>
        <a:cs typeface="+mn-cs"/>
      </a:defRPr>
    </a:lvl7pPr>
    <a:lvl8pPr marL="3199672" algn="l" defTabSz="457096" rtl="0" eaLnBrk="1" latinLnBrk="0" hangingPunct="1">
      <a:defRPr sz="1200" kern="1200">
        <a:solidFill>
          <a:schemeClr val="tx1"/>
        </a:solidFill>
        <a:latin typeface="+mn-lt"/>
        <a:ea typeface="+mn-ea"/>
        <a:cs typeface="+mn-cs"/>
      </a:defRPr>
    </a:lvl8pPr>
    <a:lvl9pPr marL="3656768" algn="l" defTabSz="45709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096" rtl="0" eaLnBrk="1" fontAlgn="auto" latinLnBrk="0" hangingPunct="1">
              <a:lnSpc>
                <a:spcPct val="100000"/>
              </a:lnSpc>
              <a:spcBef>
                <a:spcPts val="0"/>
              </a:spcBef>
              <a:spcAft>
                <a:spcPts val="0"/>
              </a:spcAft>
              <a:buClrTx/>
              <a:buSzTx/>
              <a:buFontTx/>
              <a:buNone/>
              <a:tabLst/>
              <a:defRPr/>
            </a:pPr>
            <a:r>
              <a:rPr lang="en-GB" sz="1200" dirty="0"/>
              <a:t>Strategy to achieve this conflicting objective without disrupting daily activity.</a:t>
            </a:r>
          </a:p>
          <a:p>
            <a:r>
              <a:rPr lang="en-GB" dirty="0"/>
              <a:t>How do we balance these 2 conflicting objective, one which is low energy consumption but also maintaining thermal comfort without disrupting daily activity.</a:t>
            </a:r>
          </a:p>
          <a:p>
            <a:r>
              <a:rPr lang="en-GB" dirty="0"/>
              <a:t>What kind of strategy should we use.</a:t>
            </a:r>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3</a:t>
            </a:fld>
            <a:endParaRPr lang="de-DE"/>
          </a:p>
        </p:txBody>
      </p:sp>
    </p:spTree>
    <p:extLst>
      <p:ext uri="{BB962C8B-B14F-4D97-AF65-F5344CB8AC3E}">
        <p14:creationId xmlns:p14="http://schemas.microsoft.com/office/powerpoint/2010/main" val="3410471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Smart device such as smart plug, smart appliance, smart lightning, smart thermostat.</a:t>
            </a:r>
          </a:p>
          <a:p>
            <a:r>
              <a:rPr lang="en-GB" dirty="0"/>
              <a:t>Advance building infrastructure such as IOT</a:t>
            </a:r>
          </a:p>
          <a:p>
            <a:r>
              <a:rPr lang="en-GB" dirty="0"/>
              <a:t>Active method such as occupant lighting control, demand based ventilation. Require monitoring and automation system.</a:t>
            </a:r>
            <a:br>
              <a:rPr lang="en-GB" dirty="0"/>
            </a:br>
            <a:r>
              <a:rPr lang="en-GB" dirty="0"/>
              <a:t>Passive method such as building orientation, placement of window for natural lighting</a:t>
            </a:r>
          </a:p>
          <a:p>
            <a:endParaRPr lang="en-GB" dirty="0"/>
          </a:p>
          <a:p>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4</a:t>
            </a:fld>
            <a:endParaRPr lang="de-DE"/>
          </a:p>
        </p:txBody>
      </p:sp>
    </p:spTree>
    <p:extLst>
      <p:ext uri="{BB962C8B-B14F-4D97-AF65-F5344CB8AC3E}">
        <p14:creationId xmlns:p14="http://schemas.microsoft.com/office/powerpoint/2010/main" val="1300567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096" rtl="0" eaLnBrk="1" fontAlgn="auto" latinLnBrk="0" hangingPunct="1">
              <a:lnSpc>
                <a:spcPct val="100000"/>
              </a:lnSpc>
              <a:spcBef>
                <a:spcPts val="0"/>
              </a:spcBef>
              <a:spcAft>
                <a:spcPts val="0"/>
              </a:spcAft>
              <a:buClrTx/>
              <a:buSzTx/>
              <a:buFontTx/>
              <a:buNone/>
              <a:tabLst/>
              <a:defRPr/>
            </a:pPr>
            <a:r>
              <a:rPr lang="en-GB" sz="1200" dirty="0"/>
              <a:t>What kind of challenge I am trying to solve here?</a:t>
            </a:r>
          </a:p>
          <a:p>
            <a:pPr marL="0" marR="0" lvl="0" indent="0" algn="l" defTabSz="457096"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457096" rtl="0" eaLnBrk="1" fontAlgn="auto" latinLnBrk="0" hangingPunct="1">
              <a:lnSpc>
                <a:spcPct val="100000"/>
              </a:lnSpc>
              <a:spcBef>
                <a:spcPts val="0"/>
              </a:spcBef>
              <a:spcAft>
                <a:spcPts val="0"/>
              </a:spcAft>
              <a:buClrTx/>
              <a:buSzTx/>
              <a:buFontTx/>
              <a:buNone/>
              <a:tabLst/>
              <a:defRPr/>
            </a:pPr>
            <a:r>
              <a:rPr lang="en-GB" sz="1200" dirty="0"/>
              <a:t>Building energy management: Rapidly evolving technology with numerous technology developed every year. </a:t>
            </a:r>
          </a:p>
          <a:p>
            <a:pPr marL="0" marR="0" lvl="0" indent="0" algn="l" defTabSz="457096"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457096" rtl="0" eaLnBrk="1" fontAlgn="auto" latinLnBrk="0" hangingPunct="1">
              <a:lnSpc>
                <a:spcPct val="100000"/>
              </a:lnSpc>
              <a:spcBef>
                <a:spcPts val="0"/>
              </a:spcBef>
              <a:spcAft>
                <a:spcPts val="0"/>
              </a:spcAft>
              <a:buClrTx/>
              <a:buSzTx/>
              <a:buFontTx/>
              <a:buNone/>
              <a:tabLst/>
              <a:defRPr/>
            </a:pPr>
            <a:r>
              <a:rPr lang="en-GB" sz="1200" dirty="0"/>
              <a:t>Consumer might want to extend their EMS but this might require reengineering the whole energy management system, if traditional MPC were to be used.</a:t>
            </a:r>
          </a:p>
          <a:p>
            <a:pPr marL="0" marR="0" lvl="0" indent="0" algn="l" defTabSz="457096"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457096" rtl="0" eaLnBrk="1" fontAlgn="auto" latinLnBrk="0" hangingPunct="1">
              <a:lnSpc>
                <a:spcPct val="100000"/>
              </a:lnSpc>
              <a:spcBef>
                <a:spcPts val="0"/>
              </a:spcBef>
              <a:spcAft>
                <a:spcPts val="0"/>
              </a:spcAft>
              <a:buClrTx/>
              <a:buSzTx/>
              <a:buFontTx/>
              <a:buNone/>
              <a:tabLst/>
              <a:defRPr/>
            </a:pPr>
            <a:r>
              <a:rPr lang="en-GB" sz="1200" dirty="0"/>
              <a:t>Moreover, the consumer might be hesitant to install all the equipment or appliances at once due to limited knowledge or economical constraints.</a:t>
            </a:r>
          </a:p>
          <a:p>
            <a:pPr marL="0" marR="0" lvl="0" indent="0" algn="l" defTabSz="457096"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457096" rtl="0" eaLnBrk="1" fontAlgn="auto" latinLnBrk="0" hangingPunct="1">
              <a:lnSpc>
                <a:spcPct val="100000"/>
              </a:lnSpc>
              <a:spcBef>
                <a:spcPts val="0"/>
              </a:spcBef>
              <a:spcAft>
                <a:spcPts val="0"/>
              </a:spcAft>
              <a:buClrTx/>
              <a:buSzTx/>
              <a:buFontTx/>
              <a:buNone/>
              <a:tabLst/>
              <a:defRPr/>
            </a:pPr>
            <a:r>
              <a:rPr lang="en-GB" sz="1200" dirty="0"/>
              <a:t>Modular MPC helps the consumer by providing the necessary flexibility and scalability prospect to their building energy management system.</a:t>
            </a:r>
          </a:p>
          <a:p>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5</a:t>
            </a:fld>
            <a:endParaRPr lang="de-DE"/>
          </a:p>
        </p:txBody>
      </p:sp>
    </p:spTree>
    <p:extLst>
      <p:ext uri="{BB962C8B-B14F-4D97-AF65-F5344CB8AC3E}">
        <p14:creationId xmlns:p14="http://schemas.microsoft.com/office/powerpoint/2010/main" val="1879332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Designing a modular model predictive control for energy consumption management in residential house. This would mean that the MPC framework is scalable and allow for the integration of new or removal of old subsystem with adjustment made to MPC strategy(</a:t>
            </a:r>
            <a:r>
              <a:rPr lang="en-GB" dirty="0"/>
              <a:t>dynamic model, constraints and cost function</a:t>
            </a:r>
            <a:r>
              <a:rPr lang="en-US" dirty="0"/>
              <a:t>). Subsystems consider are limited to battery and electric vehicle. The disturbances taken into account are ambient temperature, solar irradiance, COP, heat demand, charging of EV and price of electricity. GUI and database are developed to enable parameter modification, data entry, visualization and storing of parameter.</a:t>
            </a:r>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6</a:t>
            </a:fld>
            <a:endParaRPr lang="de-DE"/>
          </a:p>
        </p:txBody>
      </p:sp>
    </p:spTree>
    <p:extLst>
      <p:ext uri="{BB962C8B-B14F-4D97-AF65-F5344CB8AC3E}">
        <p14:creationId xmlns:p14="http://schemas.microsoft.com/office/powerpoint/2010/main" val="3230051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096" rtl="0" eaLnBrk="1" fontAlgn="auto" latinLnBrk="0" hangingPunct="1">
              <a:lnSpc>
                <a:spcPct val="100000"/>
              </a:lnSpc>
              <a:spcBef>
                <a:spcPts val="0"/>
              </a:spcBef>
              <a:spcAft>
                <a:spcPts val="0"/>
              </a:spcAft>
              <a:buClrTx/>
              <a:buSzTx/>
              <a:buFontTx/>
              <a:buNone/>
              <a:tabLst/>
              <a:defRPr/>
            </a:pPr>
            <a:r>
              <a:rPr lang="en-US" dirty="0"/>
              <a:t>Other than MPC, there is also other strategy develop for building energy management</a:t>
            </a:r>
          </a:p>
          <a:p>
            <a:pPr marL="0" marR="0" lvl="0" indent="0" algn="l" defTabSz="457096"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096" rtl="0" eaLnBrk="1" fontAlgn="auto" latinLnBrk="0" hangingPunct="1">
              <a:lnSpc>
                <a:spcPct val="100000"/>
              </a:lnSpc>
              <a:spcBef>
                <a:spcPts val="0"/>
              </a:spcBef>
              <a:spcAft>
                <a:spcPts val="0"/>
              </a:spcAft>
              <a:buClrTx/>
              <a:buSzTx/>
              <a:buFontTx/>
              <a:buNone/>
              <a:tabLst/>
              <a:defRPr/>
            </a:pPr>
            <a:r>
              <a:rPr lang="en-US" dirty="0"/>
              <a:t>These traditional controllers (e.g. PID, fuzzy logic, and rule-based controllers) are widely used due to their simplicity and ease of implementation. </a:t>
            </a:r>
          </a:p>
          <a:p>
            <a:r>
              <a:rPr lang="en-GB" dirty="0"/>
              <a:t>However,</a:t>
            </a:r>
            <a:r>
              <a:rPr lang="en-US" dirty="0"/>
              <a:t> these traditional controllers have some limitation, such as cannot handle constraints, time-varying disturbances, and nonlinear dynamics (</a:t>
            </a:r>
            <a:r>
              <a:rPr lang="en-US" dirty="0" err="1"/>
              <a:t>Afram</a:t>
            </a:r>
            <a:r>
              <a:rPr lang="en-US" dirty="0"/>
              <a:t> &amp; </a:t>
            </a:r>
            <a:r>
              <a:rPr lang="en-US" dirty="0" err="1"/>
              <a:t>Janabi</a:t>
            </a:r>
            <a:r>
              <a:rPr lang="en-US" dirty="0"/>
              <a:t>, 2014).</a:t>
            </a:r>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7</a:t>
            </a:fld>
            <a:endParaRPr lang="de-DE"/>
          </a:p>
        </p:txBody>
      </p:sp>
    </p:spTree>
    <p:extLst>
      <p:ext uri="{BB962C8B-B14F-4D97-AF65-F5344CB8AC3E}">
        <p14:creationId xmlns:p14="http://schemas.microsoft.com/office/powerpoint/2010/main" val="3109017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several challenges when implementing energy management using MPC in real building. One of the most frequent discussed problems in the literature is obtaining the dynamic model of the building.</a:t>
            </a:r>
          </a:p>
          <a:p>
            <a:r>
              <a:rPr lang="en-GB" dirty="0"/>
              <a:t>-Although there are numerous papers discussing application of MPC in building energy management, there is limited literature available on modular MPC, which allows for future expansion without significant system modification</a:t>
            </a:r>
          </a:p>
          <a:p>
            <a:r>
              <a:rPr lang="en-GB" dirty="0"/>
              <a:t>-This master thesis aims to bridge that gap by proposing a methodology that addresses the need for a flexible and adaptable modular MPC framework.</a:t>
            </a:r>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8</a:t>
            </a:fld>
            <a:endParaRPr lang="de-DE"/>
          </a:p>
        </p:txBody>
      </p:sp>
    </p:spTree>
    <p:extLst>
      <p:ext uri="{BB962C8B-B14F-4D97-AF65-F5344CB8AC3E}">
        <p14:creationId xmlns:p14="http://schemas.microsoft.com/office/powerpoint/2010/main" val="492599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By optimizing the energy usage, discharging the stored energy when needed and charging it when there is an excess of power</a:t>
            </a:r>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11</a:t>
            </a:fld>
            <a:endParaRPr lang="de-DE"/>
          </a:p>
        </p:txBody>
      </p:sp>
    </p:spTree>
    <p:extLst>
      <p:ext uri="{BB962C8B-B14F-4D97-AF65-F5344CB8AC3E}">
        <p14:creationId xmlns:p14="http://schemas.microsoft.com/office/powerpoint/2010/main" val="3344160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delta symbol is a binary operator which takes value between </a:t>
            </a:r>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12</a:t>
            </a:fld>
            <a:endParaRPr lang="de-DE"/>
          </a:p>
        </p:txBody>
      </p:sp>
    </p:spTree>
    <p:extLst>
      <p:ext uri="{BB962C8B-B14F-4D97-AF65-F5344CB8AC3E}">
        <p14:creationId xmlns:p14="http://schemas.microsoft.com/office/powerpoint/2010/main" val="2026942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Model Predictive Control (MPC), we use the dynamic model of the plant to determine the optimal control sequence and predict the behavior of the system over a defined prediction horizon. This approach aims to optimize the performance of a dynamic system by solving an optimization problem. The objective is to find the optimal state trajectory (x) and corresponding control trajectory (u) that minimize the overall cost </a:t>
            </a:r>
            <a:r>
              <a:rPr lang="en-US" dirty="0" err="1"/>
              <a:t>function.while</a:t>
            </a:r>
            <a:r>
              <a:rPr lang="en-US" dirty="0"/>
              <a:t> satisfying specified constraints. </a:t>
            </a:r>
          </a:p>
          <a:p>
            <a:endParaRPr lang="en-US" dirty="0"/>
          </a:p>
          <a:p>
            <a:r>
              <a:rPr lang="en-US" dirty="0"/>
              <a:t>k=0,1,..,N-1 (over the prediction horizon)</a:t>
            </a:r>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14</a:t>
            </a:fld>
            <a:endParaRPr lang="de-DE"/>
          </a:p>
        </p:txBody>
      </p:sp>
    </p:spTree>
    <p:extLst>
      <p:ext uri="{BB962C8B-B14F-4D97-AF65-F5344CB8AC3E}">
        <p14:creationId xmlns:p14="http://schemas.microsoft.com/office/powerpoint/2010/main" val="353609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a:t>
            </a:r>
            <a:r>
              <a:rPr lang="en-GB" baseline="30000" dirty="0"/>
              <a:t>st</a:t>
            </a:r>
            <a:r>
              <a:rPr lang="en-GB" dirty="0"/>
              <a:t>) penalize power consume is bigger that power produce(solar panel). At this phase we require the power from the grid because PV cannot provide enough power to operate the heat pump. Therefore buying energy from the grid is govern by energy price. When price is expensive, the MPC is encourage to use the power from the battery or buy less from the grid. But when the price is cheap, MPC will buy electricity from the grid as much as it need and store the rest in battery. In other words, MPC will shift the purchase of electricity from expensive period to cheaper period.</a:t>
            </a:r>
          </a:p>
          <a:p>
            <a:endParaRPr lang="en-GB" dirty="0"/>
          </a:p>
          <a:p>
            <a:r>
              <a:rPr lang="en-GB" dirty="0"/>
              <a:t>2</a:t>
            </a:r>
            <a:r>
              <a:rPr lang="en-GB" baseline="30000" dirty="0"/>
              <a:t>nd</a:t>
            </a:r>
            <a:r>
              <a:rPr lang="en-GB" dirty="0"/>
              <a:t> term is when the power supplied is greater than power consumed. In this scenario, the MPC should consider using battery or EV to store excess energy. This stored energy can be beneficial when the demand is high.</a:t>
            </a:r>
          </a:p>
          <a:p>
            <a:endParaRPr lang="en-GB" dirty="0"/>
          </a:p>
          <a:p>
            <a:r>
              <a:rPr lang="en-GB" dirty="0"/>
              <a:t>3</a:t>
            </a:r>
            <a:r>
              <a:rPr lang="en-GB" baseline="30000" dirty="0"/>
              <a:t>rd</a:t>
            </a:r>
            <a:r>
              <a:rPr lang="en-GB" dirty="0"/>
              <a:t> term penalize the quadratic of net power regardless whether it is positive or negative.</a:t>
            </a:r>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16</a:t>
            </a:fld>
            <a:endParaRPr lang="de-DE"/>
          </a:p>
        </p:txBody>
      </p:sp>
    </p:spTree>
    <p:extLst>
      <p:ext uri="{BB962C8B-B14F-4D97-AF65-F5344CB8AC3E}">
        <p14:creationId xmlns:p14="http://schemas.microsoft.com/office/powerpoint/2010/main" val="8144725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They do not produce heat by burning fossil fuel but rather capture the surrounding heat and transfer those heat into the residential home</a:t>
            </a:r>
          </a:p>
          <a:p>
            <a:r>
              <a:rPr lang="en-GB" dirty="0"/>
              <a:t>-</a:t>
            </a:r>
            <a:r>
              <a:rPr lang="en-GB" dirty="0" err="1"/>
              <a:t>Q_hp</a:t>
            </a:r>
            <a:r>
              <a:rPr lang="en-GB" dirty="0"/>
              <a:t> = is the heat generated by the heat pump</a:t>
            </a:r>
          </a:p>
          <a:p>
            <a:r>
              <a:rPr lang="en-GB" dirty="0"/>
              <a:t>-</a:t>
            </a:r>
            <a:r>
              <a:rPr lang="en-GB" dirty="0" err="1"/>
              <a:t>P_hp</a:t>
            </a:r>
            <a:r>
              <a:rPr lang="en-GB" dirty="0"/>
              <a:t> = amount of power consumed to operate the heat pump</a:t>
            </a:r>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57</a:t>
            </a:fld>
            <a:endParaRPr lang="de-DE"/>
          </a:p>
        </p:txBody>
      </p:sp>
    </p:spTree>
    <p:extLst>
      <p:ext uri="{BB962C8B-B14F-4D97-AF65-F5344CB8AC3E}">
        <p14:creationId xmlns:p14="http://schemas.microsoft.com/office/powerpoint/2010/main" val="2720296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 authors use a constant value of COP value to simplified optimal control formulation and avoid nonlinearity. And also because the implemented controller have limited computational power. However these approach is not the best practice because COP value is greatly affected by external factor and this will lead to inaccuracy.</a:t>
            </a:r>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58</a:t>
            </a:fld>
            <a:endParaRPr lang="de-DE"/>
          </a:p>
        </p:txBody>
      </p:sp>
    </p:spTree>
    <p:extLst>
      <p:ext uri="{BB962C8B-B14F-4D97-AF65-F5344CB8AC3E}">
        <p14:creationId xmlns:p14="http://schemas.microsoft.com/office/powerpoint/2010/main" val="2212678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096" rtl="0" eaLnBrk="1" fontAlgn="auto" latinLnBrk="0" hangingPunct="1">
              <a:lnSpc>
                <a:spcPct val="100000"/>
              </a:lnSpc>
              <a:spcBef>
                <a:spcPts val="0"/>
              </a:spcBef>
              <a:spcAft>
                <a:spcPts val="0"/>
              </a:spcAft>
              <a:buClrTx/>
              <a:buSzTx/>
              <a:buFontTx/>
              <a:buNone/>
              <a:tabLst/>
              <a:defRPr/>
            </a:pPr>
            <a:r>
              <a:rPr lang="en-GB" dirty="0"/>
              <a:t>Lumping all nodes together would oversimplify the model and result in inaccurate behaviour.</a:t>
            </a:r>
          </a:p>
          <a:p>
            <a:endParaRPr lang="en-DE" dirty="0"/>
          </a:p>
        </p:txBody>
      </p:sp>
      <p:sp>
        <p:nvSpPr>
          <p:cNvPr id="4" name="Slide Number Placeholder 3"/>
          <p:cNvSpPr>
            <a:spLocks noGrp="1"/>
          </p:cNvSpPr>
          <p:nvPr>
            <p:ph type="sldNum" sz="quarter" idx="5"/>
          </p:nvPr>
        </p:nvSpPr>
        <p:spPr/>
        <p:txBody>
          <a:bodyPr/>
          <a:lstStyle/>
          <a:p>
            <a:fld id="{E2B266EF-51AE-2C40-8C95-8EB2C49369B2}" type="slidenum">
              <a:rPr lang="de-DE" smtClean="0"/>
              <a:pPr/>
              <a:t>61</a:t>
            </a:fld>
            <a:endParaRPr lang="de-DE"/>
          </a:p>
        </p:txBody>
      </p:sp>
    </p:spTree>
    <p:extLst>
      <p:ext uri="{BB962C8B-B14F-4D97-AF65-F5344CB8AC3E}">
        <p14:creationId xmlns:p14="http://schemas.microsoft.com/office/powerpoint/2010/main" val="2299357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7" name="Untertitel 2"/>
          <p:cNvSpPr>
            <a:spLocks noGrp="1"/>
          </p:cNvSpPr>
          <p:nvPr>
            <p:ph type="subTitle" idx="1"/>
          </p:nvPr>
        </p:nvSpPr>
        <p:spPr>
          <a:xfrm>
            <a:off x="1998828" y="1539166"/>
            <a:ext cx="6687972" cy="1314450"/>
          </a:xfrm>
          <a:prstGeom prst="rect">
            <a:avLst/>
          </a:prstGeom>
        </p:spPr>
        <p:txBody>
          <a:bodyPr lIns="91420" tIns="45709" rIns="91420" bIns="45709" anchor="t" anchorCtr="0">
            <a:normAutofit/>
          </a:bodyPr>
          <a:lstStyle>
            <a:lvl1pPr marL="0" indent="0" algn="l">
              <a:buNone/>
              <a:defRPr>
                <a:solidFill>
                  <a:schemeClr val="tx1">
                    <a:tint val="75000"/>
                  </a:schemeClr>
                </a:solidFill>
              </a:defRPr>
            </a:lvl1pPr>
            <a:lvl2pPr marL="457096" indent="0" algn="ctr">
              <a:buNone/>
              <a:defRPr>
                <a:solidFill>
                  <a:schemeClr val="tx1">
                    <a:tint val="75000"/>
                  </a:schemeClr>
                </a:solidFill>
              </a:defRPr>
            </a:lvl2pPr>
            <a:lvl3pPr marL="914192" indent="0" algn="ctr">
              <a:buNone/>
              <a:defRPr>
                <a:solidFill>
                  <a:schemeClr val="tx1">
                    <a:tint val="75000"/>
                  </a:schemeClr>
                </a:solidFill>
              </a:defRPr>
            </a:lvl3pPr>
            <a:lvl4pPr marL="1371288" indent="0" algn="ctr">
              <a:buNone/>
              <a:defRPr>
                <a:solidFill>
                  <a:schemeClr val="tx1">
                    <a:tint val="75000"/>
                  </a:schemeClr>
                </a:solidFill>
              </a:defRPr>
            </a:lvl4pPr>
            <a:lvl5pPr marL="1828384" indent="0" algn="ctr">
              <a:buNone/>
              <a:defRPr>
                <a:solidFill>
                  <a:schemeClr val="tx1">
                    <a:tint val="75000"/>
                  </a:schemeClr>
                </a:solidFill>
              </a:defRPr>
            </a:lvl5pPr>
            <a:lvl6pPr marL="2285480" indent="0" algn="ctr">
              <a:buNone/>
              <a:defRPr>
                <a:solidFill>
                  <a:schemeClr val="tx1">
                    <a:tint val="75000"/>
                  </a:schemeClr>
                </a:solidFill>
              </a:defRPr>
            </a:lvl6pPr>
            <a:lvl7pPr marL="2742576" indent="0" algn="ctr">
              <a:buNone/>
              <a:defRPr>
                <a:solidFill>
                  <a:schemeClr val="tx1">
                    <a:tint val="75000"/>
                  </a:schemeClr>
                </a:solidFill>
              </a:defRPr>
            </a:lvl7pPr>
            <a:lvl8pPr marL="3199672" indent="0" algn="ctr">
              <a:buNone/>
              <a:defRPr>
                <a:solidFill>
                  <a:schemeClr val="tx1">
                    <a:tint val="75000"/>
                  </a:schemeClr>
                </a:solidFill>
              </a:defRPr>
            </a:lvl8pPr>
            <a:lvl9pPr marL="3656768" indent="0" algn="ctr">
              <a:buNone/>
              <a:defRPr>
                <a:solidFill>
                  <a:schemeClr val="tx1">
                    <a:tint val="75000"/>
                  </a:schemeClr>
                </a:solidFill>
              </a:defRPr>
            </a:lvl9pPr>
          </a:lstStyle>
          <a:p>
            <a:r>
              <a:rPr lang="de-DE"/>
              <a:t>Formatvorlage des Untertitelmasters durch Klicken bearbeiten</a:t>
            </a:r>
            <a:endParaRPr lang="de-DE" dirty="0"/>
          </a:p>
        </p:txBody>
      </p:sp>
      <p:sp>
        <p:nvSpPr>
          <p:cNvPr id="8" name="Titel 1"/>
          <p:cNvSpPr>
            <a:spLocks noGrp="1"/>
          </p:cNvSpPr>
          <p:nvPr>
            <p:ph type="ctrTitle" hasCustomPrompt="1"/>
          </p:nvPr>
        </p:nvSpPr>
        <p:spPr>
          <a:xfrm>
            <a:off x="1998828" y="685959"/>
            <a:ext cx="6687972" cy="853210"/>
          </a:xfrm>
          <a:prstGeom prst="rect">
            <a:avLst/>
          </a:prstGeom>
        </p:spPr>
        <p:txBody>
          <a:bodyPr lIns="91420" tIns="45709" rIns="91420" bIns="45709">
            <a:normAutofit/>
          </a:bodyPr>
          <a:lstStyle>
            <a:lvl1pPr algn="l">
              <a:defRPr sz="4000" b="1">
                <a:solidFill>
                  <a:schemeClr val="tx2"/>
                </a:solidFill>
              </a:defRPr>
            </a:lvl1pPr>
          </a:lstStyle>
          <a:p>
            <a:r>
              <a:rPr lang="de-DE" dirty="0"/>
              <a:t>Präsentationstitel</a:t>
            </a:r>
          </a:p>
        </p:txBody>
      </p:sp>
      <p:sp>
        <p:nvSpPr>
          <p:cNvPr id="2" name="Rechteck 1"/>
          <p:cNvSpPr/>
          <p:nvPr userDrawn="1"/>
        </p:nvSpPr>
        <p:spPr>
          <a:xfrm>
            <a:off x="8039100" y="4625340"/>
            <a:ext cx="792480" cy="51816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6082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Inhaltsplatzhalter 2"/>
          <p:cNvSpPr>
            <a:spLocks noGrp="1"/>
          </p:cNvSpPr>
          <p:nvPr>
            <p:ph idx="1" hasCustomPrompt="1"/>
          </p:nvPr>
        </p:nvSpPr>
        <p:spPr>
          <a:xfrm>
            <a:off x="708026" y="993228"/>
            <a:ext cx="7727950" cy="3496222"/>
          </a:xfrm>
          <a:prstGeom prst="rect">
            <a:avLst/>
          </a:prstGeom>
        </p:spPr>
        <p:txBody>
          <a:bodyPr lIns="91420" tIns="45709" rIns="91420" bIns="45709"/>
          <a:lstStyle>
            <a:lvl1pPr>
              <a:spcBef>
                <a:spcPts val="0"/>
              </a:spcBef>
              <a:defRPr sz="1800" b="0"/>
            </a:lvl1pPr>
            <a:lvl2pPr marL="742781" indent="-285685">
              <a:spcBef>
                <a:spcPts val="0"/>
              </a:spcBef>
              <a:buFont typeface="Wingdings" panose="05000000000000000000" pitchFamily="2" charset="2"/>
              <a:buChar char="Ø"/>
              <a:defRPr sz="1800" b="0">
                <a:solidFill>
                  <a:schemeClr val="tx1"/>
                </a:solidFill>
              </a:defRPr>
            </a:lvl2pPr>
            <a:lvl3pPr marL="1142740" indent="-228548">
              <a:spcBef>
                <a:spcPts val="0"/>
              </a:spcBef>
              <a:buFont typeface="Arial" panose="020B0604020202020204" pitchFamily="34" charset="0"/>
              <a:buChar char="•"/>
              <a:defRPr sz="1800" b="0">
                <a:solidFill>
                  <a:schemeClr val="tx1"/>
                </a:solidFill>
              </a:defRPr>
            </a:lvl3pPr>
            <a:lvl4pPr marL="1599836" indent="-228548">
              <a:spcBef>
                <a:spcPts val="0"/>
              </a:spcBef>
              <a:buFont typeface="Arial" panose="020B0604020202020204" pitchFamily="34" charset="0"/>
              <a:buChar char="•"/>
              <a:defRPr sz="1800" b="0">
                <a:solidFill>
                  <a:schemeClr val="tx1"/>
                </a:solidFill>
              </a:defRPr>
            </a:lvl4pPr>
            <a:lvl5pPr marL="2056932" indent="-228548">
              <a:spcBef>
                <a:spcPts val="0"/>
              </a:spcBef>
              <a:buFont typeface="Arial" panose="020B0604020202020204" pitchFamily="34" charset="0"/>
              <a:buChar char="•"/>
              <a:defRPr sz="1800" b="0">
                <a:solidFill>
                  <a:schemeClr val="tx1"/>
                </a:solidFill>
              </a:defRPr>
            </a:lvl5pPr>
            <a:lvl6pPr marL="2285480" indent="0">
              <a:buNone/>
              <a:defRPr/>
            </a:lvl6pPr>
          </a:lstStyle>
          <a:p>
            <a:pPr lvl="0"/>
            <a:r>
              <a:rPr lang="de-DE" dirty="0"/>
              <a:t>Mastertextformat bearbeiten</a:t>
            </a:r>
          </a:p>
          <a:p>
            <a:pPr lvl="1"/>
            <a:r>
              <a:rPr lang="de-DE" dirty="0"/>
              <a:t>Zweite Ebene</a:t>
            </a:r>
          </a:p>
          <a:p>
            <a:pPr lvl="2"/>
            <a:r>
              <a:rPr lang="de-DE" dirty="0"/>
              <a:t>Dritte Ebene</a:t>
            </a:r>
          </a:p>
          <a:p>
            <a:pPr lvl="3"/>
            <a:r>
              <a:rPr lang="de-DE" dirty="0"/>
              <a:t>Vierte Ebene</a:t>
            </a:r>
          </a:p>
        </p:txBody>
      </p:sp>
      <p:sp>
        <p:nvSpPr>
          <p:cNvPr id="8" name="Titel 7"/>
          <p:cNvSpPr>
            <a:spLocks noGrp="1"/>
          </p:cNvSpPr>
          <p:nvPr>
            <p:ph type="title" hasCustomPrompt="1"/>
          </p:nvPr>
        </p:nvSpPr>
        <p:spPr>
          <a:xfrm>
            <a:off x="1859127" y="180977"/>
            <a:ext cx="5417973" cy="812252"/>
          </a:xfrm>
          <a:prstGeom prst="rect">
            <a:avLst/>
          </a:prstGeom>
        </p:spPr>
        <p:txBody>
          <a:bodyPr/>
          <a:lstStyle>
            <a:lvl1pPr marL="0" marR="0" indent="0" algn="l" defTabSz="457096" rtl="0" eaLnBrk="1" fontAlgn="auto" latinLnBrk="0" hangingPunct="1">
              <a:lnSpc>
                <a:spcPct val="100000"/>
              </a:lnSpc>
              <a:spcBef>
                <a:spcPct val="0"/>
              </a:spcBef>
              <a:spcAft>
                <a:spcPts val="0"/>
              </a:spcAft>
              <a:buClrTx/>
              <a:buSzTx/>
              <a:buFontTx/>
              <a:buNone/>
              <a:tabLst/>
              <a:defRPr sz="3200"/>
            </a:lvl1pPr>
          </a:lstStyle>
          <a:p>
            <a:r>
              <a:rPr lang="de-DE" sz="2400" dirty="0"/>
              <a:t>Folienüberschrift</a:t>
            </a:r>
            <a:endParaRPr lang="de-DE" dirty="0"/>
          </a:p>
        </p:txBody>
      </p:sp>
    </p:spTree>
    <p:extLst>
      <p:ext uri="{BB962C8B-B14F-4D97-AF65-F5344CB8AC3E}">
        <p14:creationId xmlns:p14="http://schemas.microsoft.com/office/powerpoint/2010/main" val="1412228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folie">
    <p:spTree>
      <p:nvGrpSpPr>
        <p:cNvPr id="1" name=""/>
        <p:cNvGrpSpPr/>
        <p:nvPr/>
      </p:nvGrpSpPr>
      <p:grpSpPr>
        <a:xfrm>
          <a:off x="0" y="0"/>
          <a:ext cx="0" cy="0"/>
          <a:chOff x="0" y="0"/>
          <a:chExt cx="0" cy="0"/>
        </a:xfrm>
      </p:grpSpPr>
      <p:sp>
        <p:nvSpPr>
          <p:cNvPr id="4" name="Inhaltsplatzhalter 2"/>
          <p:cNvSpPr>
            <a:spLocks noGrp="1"/>
          </p:cNvSpPr>
          <p:nvPr>
            <p:ph idx="1" hasCustomPrompt="1"/>
          </p:nvPr>
        </p:nvSpPr>
        <p:spPr>
          <a:xfrm>
            <a:off x="708026" y="993228"/>
            <a:ext cx="3681094" cy="3496222"/>
          </a:xfrm>
          <a:prstGeom prst="rect">
            <a:avLst/>
          </a:prstGeom>
        </p:spPr>
        <p:txBody>
          <a:bodyPr lIns="91420" tIns="45709" rIns="91420" bIns="45709"/>
          <a:lstStyle>
            <a:lvl1pPr>
              <a:spcBef>
                <a:spcPts val="0"/>
              </a:spcBef>
              <a:defRPr sz="1800" b="0"/>
            </a:lvl1pPr>
            <a:lvl2pPr marL="742781" indent="-285685">
              <a:spcBef>
                <a:spcPts val="0"/>
              </a:spcBef>
              <a:buFont typeface="Wingdings" panose="05000000000000000000" pitchFamily="2" charset="2"/>
              <a:buChar char="Ø"/>
              <a:defRPr sz="1800" b="0">
                <a:solidFill>
                  <a:schemeClr val="tx1"/>
                </a:solidFill>
              </a:defRPr>
            </a:lvl2pPr>
            <a:lvl3pPr marL="1142740" indent="-228548">
              <a:spcBef>
                <a:spcPts val="0"/>
              </a:spcBef>
              <a:buFont typeface="Arial" panose="020B0604020202020204" pitchFamily="34" charset="0"/>
              <a:buChar char="•"/>
              <a:defRPr sz="1800" b="0">
                <a:solidFill>
                  <a:schemeClr val="tx1"/>
                </a:solidFill>
              </a:defRPr>
            </a:lvl3pPr>
            <a:lvl4pPr marL="1599836" indent="-228548">
              <a:spcBef>
                <a:spcPts val="0"/>
              </a:spcBef>
              <a:buFont typeface="Arial" panose="020B0604020202020204" pitchFamily="34" charset="0"/>
              <a:buChar char="•"/>
              <a:defRPr sz="1800" b="0">
                <a:solidFill>
                  <a:schemeClr val="tx1"/>
                </a:solidFill>
              </a:defRPr>
            </a:lvl4pPr>
            <a:lvl5pPr marL="2056932" indent="-228548">
              <a:spcBef>
                <a:spcPts val="0"/>
              </a:spcBef>
              <a:buFont typeface="Arial" panose="020B0604020202020204" pitchFamily="34" charset="0"/>
              <a:buChar char="•"/>
              <a:defRPr sz="1800" b="0">
                <a:solidFill>
                  <a:schemeClr val="tx1"/>
                </a:solidFill>
              </a:defRPr>
            </a:lvl5pPr>
            <a:lvl6pPr marL="2285480" indent="0">
              <a:buNone/>
              <a:defRPr/>
            </a:lvl6pPr>
          </a:lstStyle>
          <a:p>
            <a:pPr lvl="0"/>
            <a:r>
              <a:rPr lang="de-DE" dirty="0"/>
              <a:t>Mastertextformat bearbeiten</a:t>
            </a:r>
          </a:p>
          <a:p>
            <a:pPr lvl="1"/>
            <a:r>
              <a:rPr lang="de-DE" dirty="0"/>
              <a:t>Zweite Ebene</a:t>
            </a:r>
          </a:p>
          <a:p>
            <a:pPr lvl="2"/>
            <a:r>
              <a:rPr lang="de-DE" dirty="0"/>
              <a:t>Dritte Ebene</a:t>
            </a:r>
          </a:p>
          <a:p>
            <a:pPr lvl="3"/>
            <a:r>
              <a:rPr lang="de-DE" dirty="0"/>
              <a:t>Vierte Ebene</a:t>
            </a:r>
          </a:p>
        </p:txBody>
      </p:sp>
      <p:sp>
        <p:nvSpPr>
          <p:cNvPr id="6" name="Inhaltsplatzhalter 2"/>
          <p:cNvSpPr>
            <a:spLocks noGrp="1"/>
          </p:cNvSpPr>
          <p:nvPr>
            <p:ph idx="10" hasCustomPrompt="1"/>
          </p:nvPr>
        </p:nvSpPr>
        <p:spPr>
          <a:xfrm>
            <a:off x="4754881" y="993228"/>
            <a:ext cx="3681094" cy="3496222"/>
          </a:xfrm>
          <a:prstGeom prst="rect">
            <a:avLst/>
          </a:prstGeom>
        </p:spPr>
        <p:txBody>
          <a:bodyPr lIns="91420" tIns="45709" rIns="91420" bIns="45709"/>
          <a:lstStyle>
            <a:lvl1pPr>
              <a:spcBef>
                <a:spcPts val="0"/>
              </a:spcBef>
              <a:defRPr sz="1800" b="0"/>
            </a:lvl1pPr>
            <a:lvl2pPr marL="742781" indent="-285685">
              <a:spcBef>
                <a:spcPts val="0"/>
              </a:spcBef>
              <a:buFont typeface="Wingdings" panose="05000000000000000000" pitchFamily="2" charset="2"/>
              <a:buChar char="Ø"/>
              <a:defRPr sz="1800" b="0">
                <a:solidFill>
                  <a:schemeClr val="tx1"/>
                </a:solidFill>
              </a:defRPr>
            </a:lvl2pPr>
            <a:lvl3pPr marL="1142740" indent="-228548">
              <a:spcBef>
                <a:spcPts val="0"/>
              </a:spcBef>
              <a:buFont typeface="Arial" panose="020B0604020202020204" pitchFamily="34" charset="0"/>
              <a:buChar char="•"/>
              <a:defRPr sz="1800" b="0">
                <a:solidFill>
                  <a:schemeClr val="tx1"/>
                </a:solidFill>
              </a:defRPr>
            </a:lvl3pPr>
            <a:lvl4pPr marL="1599836" indent="-228548">
              <a:spcBef>
                <a:spcPts val="0"/>
              </a:spcBef>
              <a:buFont typeface="Arial" panose="020B0604020202020204" pitchFamily="34" charset="0"/>
              <a:buChar char="•"/>
              <a:defRPr sz="1800" b="0">
                <a:solidFill>
                  <a:schemeClr val="tx1"/>
                </a:solidFill>
              </a:defRPr>
            </a:lvl4pPr>
            <a:lvl5pPr marL="2056932" indent="-228548">
              <a:spcBef>
                <a:spcPts val="0"/>
              </a:spcBef>
              <a:buFont typeface="Arial" panose="020B0604020202020204" pitchFamily="34" charset="0"/>
              <a:buChar char="•"/>
              <a:defRPr sz="1800" b="0">
                <a:solidFill>
                  <a:schemeClr val="tx1"/>
                </a:solidFill>
              </a:defRPr>
            </a:lvl5pPr>
            <a:lvl6pPr marL="2285480" indent="0">
              <a:buNone/>
              <a:defRPr/>
            </a:lvl6pPr>
          </a:lstStyle>
          <a:p>
            <a:pPr lvl="0"/>
            <a:r>
              <a:rPr lang="de-DE" dirty="0"/>
              <a:t>Mastertextformat bearbeiten</a:t>
            </a:r>
          </a:p>
          <a:p>
            <a:pPr lvl="1"/>
            <a:r>
              <a:rPr lang="de-DE" dirty="0"/>
              <a:t>Zweite Ebene</a:t>
            </a:r>
          </a:p>
          <a:p>
            <a:pPr lvl="2"/>
            <a:r>
              <a:rPr lang="de-DE" dirty="0"/>
              <a:t>Dritte Ebene</a:t>
            </a:r>
          </a:p>
          <a:p>
            <a:pPr lvl="3"/>
            <a:r>
              <a:rPr lang="de-DE" dirty="0"/>
              <a:t>Vierte Ebene</a:t>
            </a:r>
          </a:p>
        </p:txBody>
      </p:sp>
      <p:sp>
        <p:nvSpPr>
          <p:cNvPr id="7" name="Titel 7"/>
          <p:cNvSpPr>
            <a:spLocks noGrp="1"/>
          </p:cNvSpPr>
          <p:nvPr>
            <p:ph type="title" hasCustomPrompt="1"/>
          </p:nvPr>
        </p:nvSpPr>
        <p:spPr>
          <a:xfrm>
            <a:off x="1859127" y="180977"/>
            <a:ext cx="5417973" cy="812252"/>
          </a:xfrm>
          <a:prstGeom prst="rect">
            <a:avLst/>
          </a:prstGeom>
        </p:spPr>
        <p:txBody>
          <a:bodyPr/>
          <a:lstStyle>
            <a:lvl1pPr marL="0" marR="0" indent="0" algn="l" defTabSz="457096" rtl="0" eaLnBrk="1" fontAlgn="auto" latinLnBrk="0" hangingPunct="1">
              <a:lnSpc>
                <a:spcPct val="100000"/>
              </a:lnSpc>
              <a:spcBef>
                <a:spcPct val="0"/>
              </a:spcBef>
              <a:spcAft>
                <a:spcPts val="0"/>
              </a:spcAft>
              <a:buClrTx/>
              <a:buSzTx/>
              <a:buFontTx/>
              <a:buNone/>
              <a:tabLst/>
              <a:defRPr sz="3200"/>
            </a:lvl1pPr>
          </a:lstStyle>
          <a:p>
            <a:r>
              <a:rPr lang="de-DE" sz="2400" dirty="0"/>
              <a:t>Folienüberschrift</a:t>
            </a:r>
            <a:endParaRPr lang="de-DE" dirty="0"/>
          </a:p>
        </p:txBody>
      </p:sp>
    </p:spTree>
    <p:extLst>
      <p:ext uri="{BB962C8B-B14F-4D97-AF65-F5344CB8AC3E}">
        <p14:creationId xmlns:p14="http://schemas.microsoft.com/office/powerpoint/2010/main" val="4186462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Textplatzhalter 5"/>
          <p:cNvSpPr>
            <a:spLocks noGrp="1"/>
          </p:cNvSpPr>
          <p:nvPr>
            <p:ph type="body" sz="quarter" idx="13" hasCustomPrompt="1"/>
          </p:nvPr>
        </p:nvSpPr>
        <p:spPr>
          <a:xfrm>
            <a:off x="1979615" y="1199438"/>
            <a:ext cx="6707187" cy="439735"/>
          </a:xfrm>
          <a:prstGeom prst="rect">
            <a:avLst/>
          </a:prstGeom>
        </p:spPr>
        <p:txBody>
          <a:bodyPr lIns="91420" tIns="45709" rIns="91420" bIns="45709"/>
          <a:lstStyle>
            <a:lvl1pPr marL="0" indent="0">
              <a:buNone/>
              <a:defRPr sz="2000" baseline="0"/>
            </a:lvl1pPr>
          </a:lstStyle>
          <a:p>
            <a:pPr lvl="0"/>
            <a:r>
              <a:rPr lang="de-DE" dirty="0"/>
              <a:t>Abschnittsüberschrift</a:t>
            </a:r>
          </a:p>
        </p:txBody>
      </p:sp>
      <p:sp>
        <p:nvSpPr>
          <p:cNvPr id="7" name="Textplatzhalter 5"/>
          <p:cNvSpPr>
            <a:spLocks noGrp="1"/>
          </p:cNvSpPr>
          <p:nvPr>
            <p:ph type="body" sz="quarter" idx="14" hasCustomPrompt="1"/>
          </p:nvPr>
        </p:nvSpPr>
        <p:spPr>
          <a:xfrm>
            <a:off x="1979615" y="1700616"/>
            <a:ext cx="6707187" cy="2833283"/>
          </a:xfrm>
          <a:prstGeom prst="rect">
            <a:avLst/>
          </a:prstGeom>
        </p:spPr>
        <p:txBody>
          <a:bodyPr lIns="91420" tIns="45709" rIns="91420" bIns="45709">
            <a:normAutofit/>
          </a:bodyPr>
          <a:lstStyle>
            <a:lvl1pPr marL="0" indent="0">
              <a:buNone/>
              <a:defRPr sz="1800" b="0" i="0" baseline="0"/>
            </a:lvl1pPr>
          </a:lstStyle>
          <a:p>
            <a:pPr lvl="0"/>
            <a:r>
              <a:rPr lang="de-DE" dirty="0"/>
              <a:t>Fließtext </a:t>
            </a:r>
          </a:p>
        </p:txBody>
      </p:sp>
    </p:spTree>
    <p:extLst>
      <p:ext uri="{BB962C8B-B14F-4D97-AF65-F5344CB8AC3E}">
        <p14:creationId xmlns:p14="http://schemas.microsoft.com/office/powerpoint/2010/main" val="86597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1264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Bild 7"/>
          <p:cNvPicPr>
            <a:picLocks noChangeAspect="1"/>
          </p:cNvPicPr>
          <p:nvPr/>
        </p:nvPicPr>
        <p:blipFill>
          <a:blip r:embed="rId7"/>
          <a:stretch>
            <a:fillRect/>
          </a:stretch>
        </p:blipFill>
        <p:spPr>
          <a:xfrm>
            <a:off x="7391400" y="190592"/>
            <a:ext cx="1752600" cy="495300"/>
          </a:xfrm>
          <a:prstGeom prst="rect">
            <a:avLst/>
          </a:prstGeom>
        </p:spPr>
      </p:pic>
      <p:pic>
        <p:nvPicPr>
          <p:cNvPr id="7" name="Bild 6"/>
          <p:cNvPicPr>
            <a:picLocks noChangeAspect="1"/>
          </p:cNvPicPr>
          <p:nvPr/>
        </p:nvPicPr>
        <p:blipFill>
          <a:blip r:embed="rId8"/>
          <a:stretch>
            <a:fillRect/>
          </a:stretch>
        </p:blipFill>
        <p:spPr>
          <a:xfrm>
            <a:off x="0" y="190592"/>
            <a:ext cx="1714500" cy="495300"/>
          </a:xfrm>
          <a:prstGeom prst="rect">
            <a:avLst/>
          </a:prstGeom>
        </p:spPr>
      </p:pic>
      <p:sp>
        <p:nvSpPr>
          <p:cNvPr id="2051" name="AutoShape 3"/>
          <p:cNvSpPr>
            <a:spLocks noChangeAspect="1" noChangeArrowheads="1" noTextEdit="1"/>
          </p:cNvSpPr>
          <p:nvPr/>
        </p:nvSpPr>
        <p:spPr bwMode="auto">
          <a:xfrm>
            <a:off x="2065565" y="2466975"/>
            <a:ext cx="1752600" cy="495300"/>
          </a:xfrm>
          <a:prstGeom prst="rect">
            <a:avLst/>
          </a:prstGeom>
          <a:noFill/>
          <a:ln w="9525">
            <a:noFill/>
            <a:miter lim="800000"/>
            <a:headEnd/>
            <a:tailEnd/>
          </a:ln>
        </p:spPr>
        <p:txBody>
          <a:bodyPr vert="horz" wrap="square" lIns="77916" tIns="38958" rIns="77916" bIns="38958" numCol="1" anchor="t" anchorCtr="0" compatLnSpc="1">
            <a:prstTxWarp prst="textNoShape">
              <a:avLst/>
            </a:prstTxWarp>
          </a:bodyPr>
          <a:lstStyle/>
          <a:p>
            <a:endParaRPr lang="de-DE"/>
          </a:p>
        </p:txBody>
      </p:sp>
      <p:sp>
        <p:nvSpPr>
          <p:cNvPr id="2053" name="Freeform 5"/>
          <p:cNvSpPr>
            <a:spLocks/>
          </p:cNvSpPr>
          <p:nvPr/>
        </p:nvSpPr>
        <p:spPr bwMode="auto">
          <a:xfrm rot="10800000">
            <a:off x="0" y="4511279"/>
            <a:ext cx="3505370" cy="511969"/>
          </a:xfrm>
          <a:custGeom>
            <a:avLst/>
            <a:gdLst/>
            <a:ahLst/>
            <a:cxnLst>
              <a:cxn ang="0">
                <a:pos x="65" y="0"/>
              </a:cxn>
              <a:cxn ang="0">
                <a:pos x="65" y="0"/>
              </a:cxn>
              <a:cxn ang="0">
                <a:pos x="0" y="64"/>
              </a:cxn>
              <a:cxn ang="0">
                <a:pos x="0" y="449"/>
              </a:cxn>
              <a:cxn ang="0">
                <a:pos x="65" y="515"/>
              </a:cxn>
              <a:cxn ang="0">
                <a:pos x="1836" y="515"/>
              </a:cxn>
              <a:cxn ang="0">
                <a:pos x="1836" y="0"/>
              </a:cxn>
              <a:cxn ang="0">
                <a:pos x="65" y="0"/>
              </a:cxn>
            </a:cxnLst>
            <a:rect l="0" t="0" r="r" b="b"/>
            <a:pathLst>
              <a:path w="1836" h="515">
                <a:moveTo>
                  <a:pt x="65" y="0"/>
                </a:moveTo>
                <a:lnTo>
                  <a:pt x="65" y="0"/>
                </a:lnTo>
                <a:cubicBezTo>
                  <a:pt x="65" y="0"/>
                  <a:pt x="0" y="0"/>
                  <a:pt x="0" y="64"/>
                </a:cubicBezTo>
                <a:lnTo>
                  <a:pt x="0" y="449"/>
                </a:lnTo>
                <a:cubicBezTo>
                  <a:pt x="0" y="449"/>
                  <a:pt x="0" y="515"/>
                  <a:pt x="65" y="515"/>
                </a:cubicBezTo>
                <a:lnTo>
                  <a:pt x="1836" y="515"/>
                </a:lnTo>
                <a:lnTo>
                  <a:pt x="1836" y="0"/>
                </a:lnTo>
                <a:lnTo>
                  <a:pt x="65" y="0"/>
                </a:lnTo>
                <a:close/>
              </a:path>
            </a:pathLst>
          </a:custGeom>
          <a:solidFill>
            <a:srgbClr val="E6EFF4"/>
          </a:solidFill>
          <a:ln w="0">
            <a:solidFill>
              <a:schemeClr val="accent6">
                <a:lumMod val="20000"/>
                <a:lumOff val="80000"/>
              </a:schemeClr>
            </a:solidFill>
            <a:prstDash val="solid"/>
            <a:round/>
            <a:headEnd/>
            <a:tailEnd/>
          </a:ln>
        </p:spPr>
        <p:txBody>
          <a:bodyPr vert="horz" wrap="square" lIns="77916" tIns="38958" rIns="77916" bIns="38958" numCol="1" anchor="t" anchorCtr="0" compatLnSpc="1">
            <a:prstTxWarp prst="textNoShape">
              <a:avLst/>
            </a:prstTxWarp>
          </a:bodyPr>
          <a:lstStyle/>
          <a:p>
            <a:endParaRPr lang="de-DE"/>
          </a:p>
        </p:txBody>
      </p:sp>
      <p:sp>
        <p:nvSpPr>
          <p:cNvPr id="19" name="Datumsplatzhalter 3"/>
          <p:cNvSpPr txBox="1">
            <a:spLocks/>
          </p:cNvSpPr>
          <p:nvPr/>
        </p:nvSpPr>
        <p:spPr>
          <a:xfrm>
            <a:off x="3962485" y="4767264"/>
            <a:ext cx="2133600" cy="273844"/>
          </a:xfrm>
          <a:prstGeom prst="rect">
            <a:avLst/>
          </a:prstGeom>
        </p:spPr>
        <p:txBody>
          <a:bodyPr vert="horz" lIns="91420" tIns="45709" rIns="91420" bIns="45709" rtlCol="0" anchor="ctr"/>
          <a:lstStyle>
            <a:lvl1pPr algn="l">
              <a:defRPr sz="1400">
                <a:solidFill>
                  <a:schemeClr val="tx2"/>
                </a:solidFill>
              </a:defRPr>
            </a:lvl1pPr>
          </a:lstStyle>
          <a:p>
            <a:pPr marL="0" marR="0" lvl="0" indent="0" algn="l" defTabSz="457096" rtl="0" eaLnBrk="1" fontAlgn="auto" latinLnBrk="0" hangingPunct="1">
              <a:lnSpc>
                <a:spcPct val="100000"/>
              </a:lnSpc>
              <a:spcBef>
                <a:spcPts val="0"/>
              </a:spcBef>
              <a:spcAft>
                <a:spcPts val="0"/>
              </a:spcAft>
              <a:buClrTx/>
              <a:buSzTx/>
              <a:buFontTx/>
              <a:buNone/>
              <a:tabLst/>
              <a:defRPr/>
            </a:pPr>
            <a:fld id="{9D56E8F8-4A2E-934D-B7A3-5A53DFF92968}" type="datetime1">
              <a:rPr kumimoji="0" lang="de-DE" sz="1200" b="0" i="0" u="none" strike="noStrike" kern="1200" cap="none" spc="0" normalizeH="0" baseline="0" noProof="0" smtClean="0">
                <a:ln>
                  <a:noFill/>
                </a:ln>
                <a:solidFill>
                  <a:schemeClr val="tx2"/>
                </a:solidFill>
                <a:effectLst/>
                <a:uLnTx/>
                <a:uFillTx/>
                <a:latin typeface="+mn-lt"/>
                <a:ea typeface="+mn-ea"/>
                <a:cs typeface="+mn-cs"/>
              </a:rPr>
              <a:pPr marL="0" marR="0" lvl="0" indent="0" algn="l" defTabSz="457096" rtl="0" eaLnBrk="1" fontAlgn="auto" latinLnBrk="0" hangingPunct="1">
                <a:lnSpc>
                  <a:spcPct val="100000"/>
                </a:lnSpc>
                <a:spcBef>
                  <a:spcPts val="0"/>
                </a:spcBef>
                <a:spcAft>
                  <a:spcPts val="0"/>
                </a:spcAft>
                <a:buClrTx/>
                <a:buSzTx/>
                <a:buFontTx/>
                <a:buNone/>
                <a:tabLst/>
                <a:defRPr/>
              </a:pPr>
              <a:t>26.05.2023</a:t>
            </a:fld>
            <a:endParaRPr kumimoji="0" lang="de-DE" sz="1200" b="0" i="0" u="none" strike="noStrike" kern="1200" cap="none" spc="0" normalizeH="0" baseline="0" noProof="0" dirty="0">
              <a:ln>
                <a:noFill/>
              </a:ln>
              <a:solidFill>
                <a:schemeClr val="tx2"/>
              </a:solidFill>
              <a:effectLst/>
              <a:uLnTx/>
              <a:uFillTx/>
              <a:latin typeface="+mn-lt"/>
              <a:ea typeface="+mn-ea"/>
              <a:cs typeface="+mn-cs"/>
            </a:endParaRPr>
          </a:p>
        </p:txBody>
      </p:sp>
      <p:sp>
        <p:nvSpPr>
          <p:cNvPr id="14" name="Datumsplatzhalter 3"/>
          <p:cNvSpPr txBox="1">
            <a:spLocks/>
          </p:cNvSpPr>
          <p:nvPr/>
        </p:nvSpPr>
        <p:spPr>
          <a:xfrm>
            <a:off x="6553200" y="4767264"/>
            <a:ext cx="2133600" cy="273844"/>
          </a:xfrm>
          <a:prstGeom prst="rect">
            <a:avLst/>
          </a:prstGeom>
        </p:spPr>
        <p:txBody>
          <a:bodyPr vert="horz" lIns="91420" tIns="45709" rIns="91420" bIns="45709" rtlCol="0" anchor="ctr"/>
          <a:lstStyle>
            <a:lvl1pPr algn="l">
              <a:defRPr sz="1400">
                <a:solidFill>
                  <a:schemeClr val="tx2"/>
                </a:solidFill>
              </a:defRPr>
            </a:lvl1pPr>
          </a:lstStyle>
          <a:p>
            <a:pPr marL="0" marR="0" lvl="0" indent="0" algn="r" defTabSz="457096" rtl="0" eaLnBrk="1" fontAlgn="auto" latinLnBrk="0" hangingPunct="1">
              <a:lnSpc>
                <a:spcPct val="100000"/>
              </a:lnSpc>
              <a:spcBef>
                <a:spcPts val="0"/>
              </a:spcBef>
              <a:spcAft>
                <a:spcPts val="0"/>
              </a:spcAft>
              <a:buClrTx/>
              <a:buSzTx/>
              <a:buFontTx/>
              <a:buNone/>
              <a:tabLst/>
              <a:defRPr/>
            </a:pPr>
            <a:fld id="{EE19A35C-7691-4E93-A320-DD574E8CABB9}" type="slidenum">
              <a:rPr kumimoji="0" lang="de-DE" sz="1200" b="0" i="0" u="none" strike="noStrike" kern="1200" cap="none" spc="0" normalizeH="0" baseline="0" noProof="0" smtClean="0">
                <a:ln>
                  <a:noFill/>
                </a:ln>
                <a:solidFill>
                  <a:schemeClr val="tx2"/>
                </a:solidFill>
                <a:effectLst/>
                <a:uLnTx/>
                <a:uFillTx/>
                <a:latin typeface="+mn-lt"/>
                <a:ea typeface="+mn-ea"/>
                <a:cs typeface="+mn-cs"/>
              </a:rPr>
              <a:pPr marL="0" marR="0" lvl="0" indent="0" algn="r" defTabSz="457096" rtl="0" eaLnBrk="1" fontAlgn="auto" latinLnBrk="0" hangingPunct="1">
                <a:lnSpc>
                  <a:spcPct val="100000"/>
                </a:lnSpc>
                <a:spcBef>
                  <a:spcPts val="0"/>
                </a:spcBef>
                <a:spcAft>
                  <a:spcPts val="0"/>
                </a:spcAft>
                <a:buClrTx/>
                <a:buSzTx/>
                <a:buFontTx/>
                <a:buNone/>
                <a:tabLst/>
                <a:defRPr/>
              </a:pPr>
              <a:t>‹#›</a:t>
            </a:fld>
            <a:endParaRPr kumimoji="0" lang="de-DE" sz="1200" b="0" i="0" u="none" strike="noStrike" kern="1200" cap="none" spc="0" normalizeH="0" baseline="0" noProof="0" dirty="0">
              <a:ln>
                <a:noFill/>
              </a:ln>
              <a:solidFill>
                <a:schemeClr val="tx2"/>
              </a:solidFill>
              <a:effectLst/>
              <a:uLnTx/>
              <a:uFillTx/>
              <a:latin typeface="+mn-lt"/>
              <a:ea typeface="+mn-ea"/>
              <a:cs typeface="+mn-cs"/>
            </a:endParaRPr>
          </a:p>
        </p:txBody>
      </p:sp>
      <p:pic>
        <p:nvPicPr>
          <p:cNvPr id="3" name="Grafik 2"/>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7053" y="4592698"/>
            <a:ext cx="3438004" cy="349131"/>
          </a:xfrm>
          <a:prstGeom prst="rect">
            <a:avLst/>
          </a:prstGeom>
        </p:spPr>
      </p:pic>
    </p:spTree>
    <p:extLst>
      <p:ext uri="{BB962C8B-B14F-4D97-AF65-F5344CB8AC3E}">
        <p14:creationId xmlns:p14="http://schemas.microsoft.com/office/powerpoint/2010/main" val="3166692575"/>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63" r:id="rId3"/>
    <p:sldLayoutId id="2147483659" r:id="rId4"/>
    <p:sldLayoutId id="2147483660" r:id="rId5"/>
  </p:sldLayoutIdLst>
  <p:hf sldNum="0" hdr="0"/>
  <p:txStyles>
    <p:titleStyle>
      <a:lvl1pPr algn="l" defTabSz="457096" rtl="0" eaLnBrk="1" latinLnBrk="0" hangingPunct="1">
        <a:spcBef>
          <a:spcPct val="0"/>
        </a:spcBef>
        <a:buNone/>
        <a:defRPr sz="3200" b="1" kern="1200">
          <a:solidFill>
            <a:schemeClr val="tx2"/>
          </a:solidFill>
          <a:latin typeface="+mj-lt"/>
          <a:ea typeface="+mj-ea"/>
          <a:cs typeface="+mj-cs"/>
        </a:defRPr>
      </a:lvl1pPr>
    </p:titleStyle>
    <p:bodyStyle>
      <a:lvl1pPr marL="233947" indent="-233947" algn="l" defTabSz="457096" rtl="0" eaLnBrk="1" latinLnBrk="0" hangingPunct="1">
        <a:spcBef>
          <a:spcPts val="1200"/>
        </a:spcBef>
        <a:buClrTx/>
        <a:buSzPct val="100000"/>
        <a:buFont typeface="Wingdings" charset="2"/>
        <a:buChar char="§"/>
        <a:defRPr lang="de-DE" sz="2400" b="1" i="0" kern="1200" baseline="0" dirty="0" smtClean="0">
          <a:solidFill>
            <a:schemeClr val="tx1"/>
          </a:solidFill>
          <a:latin typeface="+mn-lt"/>
          <a:ea typeface="+mn-ea"/>
          <a:cs typeface="+mn-cs"/>
        </a:defRPr>
      </a:lvl1pPr>
      <a:lvl2pPr marL="742781" indent="-285685" algn="l" defTabSz="457096" rtl="0" eaLnBrk="1" latinLnBrk="0" hangingPunct="1">
        <a:spcBef>
          <a:spcPct val="20000"/>
        </a:spcBef>
        <a:buFont typeface="Wingdings" charset="2"/>
        <a:buChar char="§"/>
        <a:defRPr lang="de-DE" sz="2000" b="1" i="0" kern="1200" baseline="0" dirty="0" smtClean="0">
          <a:solidFill>
            <a:schemeClr val="accent4">
              <a:lumMod val="75000"/>
            </a:schemeClr>
          </a:solidFill>
          <a:latin typeface="+mn-lt"/>
          <a:ea typeface="+mn-ea"/>
          <a:cs typeface="+mn-cs"/>
        </a:defRPr>
      </a:lvl2pPr>
      <a:lvl3pPr marL="1142740" indent="-228548" algn="l" defTabSz="457096" rtl="0" eaLnBrk="1" latinLnBrk="0" hangingPunct="1">
        <a:spcBef>
          <a:spcPct val="20000"/>
        </a:spcBef>
        <a:buFont typeface="Wingdings" charset="2"/>
        <a:buChar char="§"/>
        <a:defRPr lang="de-DE" sz="2000" b="1" i="0" kern="1200" baseline="0" dirty="0" smtClean="0">
          <a:solidFill>
            <a:schemeClr val="accent4">
              <a:lumMod val="75000"/>
            </a:schemeClr>
          </a:solidFill>
          <a:latin typeface="+mn-lt"/>
          <a:ea typeface="+mn-ea"/>
          <a:cs typeface="+mn-cs"/>
        </a:defRPr>
      </a:lvl3pPr>
      <a:lvl4pPr marL="1599836" indent="-228548" algn="l" defTabSz="457096" rtl="0" eaLnBrk="1" latinLnBrk="0" hangingPunct="1">
        <a:spcBef>
          <a:spcPct val="20000"/>
        </a:spcBef>
        <a:buFont typeface="Wingdings" charset="2"/>
        <a:buChar char="§"/>
        <a:defRPr lang="de-DE" sz="2000" b="0" i="0" kern="1200" baseline="0" dirty="0" smtClean="0">
          <a:solidFill>
            <a:schemeClr val="accent4">
              <a:lumMod val="75000"/>
            </a:schemeClr>
          </a:solidFill>
          <a:latin typeface="+mn-lt"/>
          <a:ea typeface="+mn-ea"/>
          <a:cs typeface="+mn-cs"/>
        </a:defRPr>
      </a:lvl4pPr>
      <a:lvl5pPr marL="2056932" indent="-228548" algn="l" defTabSz="457096" rtl="0" eaLnBrk="1" latinLnBrk="0" hangingPunct="1">
        <a:spcBef>
          <a:spcPct val="20000"/>
        </a:spcBef>
        <a:buFont typeface="Wingdings" charset="2"/>
        <a:buChar char="§"/>
        <a:defRPr lang="de-DE" sz="2000" kern="1200" baseline="0" dirty="0">
          <a:solidFill>
            <a:schemeClr val="accent4">
              <a:lumMod val="75000"/>
            </a:schemeClr>
          </a:solidFill>
          <a:latin typeface="+mn-lt"/>
          <a:ea typeface="+mn-ea"/>
          <a:cs typeface="+mn-cs"/>
        </a:defRPr>
      </a:lvl5pPr>
      <a:lvl6pPr marL="2514028" indent="-228548" algn="l" defTabSz="457096" rtl="0" eaLnBrk="1" latinLnBrk="0" hangingPunct="1">
        <a:spcBef>
          <a:spcPct val="20000"/>
        </a:spcBef>
        <a:buFont typeface="Arial"/>
        <a:buChar char="•"/>
        <a:defRPr sz="2000" kern="1200">
          <a:solidFill>
            <a:schemeClr val="tx1"/>
          </a:solidFill>
          <a:latin typeface="+mn-lt"/>
          <a:ea typeface="+mn-ea"/>
          <a:cs typeface="+mn-cs"/>
        </a:defRPr>
      </a:lvl6pPr>
      <a:lvl7pPr marL="2971124" indent="-228548" algn="l" defTabSz="457096" rtl="0" eaLnBrk="1" latinLnBrk="0" hangingPunct="1">
        <a:spcBef>
          <a:spcPct val="20000"/>
        </a:spcBef>
        <a:buFont typeface="Arial"/>
        <a:buChar char="•"/>
        <a:defRPr sz="2000" kern="1200">
          <a:solidFill>
            <a:schemeClr val="tx1"/>
          </a:solidFill>
          <a:latin typeface="+mn-lt"/>
          <a:ea typeface="+mn-ea"/>
          <a:cs typeface="+mn-cs"/>
        </a:defRPr>
      </a:lvl7pPr>
      <a:lvl8pPr marL="3428220" indent="-228548" algn="l" defTabSz="457096" rtl="0" eaLnBrk="1" latinLnBrk="0" hangingPunct="1">
        <a:spcBef>
          <a:spcPct val="20000"/>
        </a:spcBef>
        <a:buFont typeface="Arial"/>
        <a:buChar char="•"/>
        <a:defRPr sz="2000" kern="1200">
          <a:solidFill>
            <a:schemeClr val="tx1"/>
          </a:solidFill>
          <a:latin typeface="+mn-lt"/>
          <a:ea typeface="+mn-ea"/>
          <a:cs typeface="+mn-cs"/>
        </a:defRPr>
      </a:lvl8pPr>
      <a:lvl9pPr marL="3885316" indent="-228548" algn="l" defTabSz="4570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096" rtl="0" eaLnBrk="1" latinLnBrk="0" hangingPunct="1">
        <a:defRPr sz="1800" kern="1200">
          <a:solidFill>
            <a:schemeClr val="tx1"/>
          </a:solidFill>
          <a:latin typeface="+mn-lt"/>
          <a:ea typeface="+mn-ea"/>
          <a:cs typeface="+mn-cs"/>
        </a:defRPr>
      </a:lvl1pPr>
      <a:lvl2pPr marL="457096" algn="l" defTabSz="457096" rtl="0" eaLnBrk="1" latinLnBrk="0" hangingPunct="1">
        <a:defRPr sz="1800" kern="1200">
          <a:solidFill>
            <a:schemeClr val="tx1"/>
          </a:solidFill>
          <a:latin typeface="+mn-lt"/>
          <a:ea typeface="+mn-ea"/>
          <a:cs typeface="+mn-cs"/>
        </a:defRPr>
      </a:lvl2pPr>
      <a:lvl3pPr marL="914192" algn="l" defTabSz="457096" rtl="0" eaLnBrk="1" latinLnBrk="0" hangingPunct="1">
        <a:defRPr sz="1800" kern="1200">
          <a:solidFill>
            <a:schemeClr val="tx1"/>
          </a:solidFill>
          <a:latin typeface="+mn-lt"/>
          <a:ea typeface="+mn-ea"/>
          <a:cs typeface="+mn-cs"/>
        </a:defRPr>
      </a:lvl3pPr>
      <a:lvl4pPr marL="1371288" algn="l" defTabSz="457096" rtl="0" eaLnBrk="1" latinLnBrk="0" hangingPunct="1">
        <a:defRPr sz="1800" kern="1200">
          <a:solidFill>
            <a:schemeClr val="tx1"/>
          </a:solidFill>
          <a:latin typeface="+mn-lt"/>
          <a:ea typeface="+mn-ea"/>
          <a:cs typeface="+mn-cs"/>
        </a:defRPr>
      </a:lvl4pPr>
      <a:lvl5pPr marL="1828384" algn="l" defTabSz="457096" rtl="0" eaLnBrk="1" latinLnBrk="0" hangingPunct="1">
        <a:defRPr sz="1800" kern="1200">
          <a:solidFill>
            <a:schemeClr val="tx1"/>
          </a:solidFill>
          <a:latin typeface="+mn-lt"/>
          <a:ea typeface="+mn-ea"/>
          <a:cs typeface="+mn-cs"/>
        </a:defRPr>
      </a:lvl5pPr>
      <a:lvl6pPr marL="2285480" algn="l" defTabSz="457096" rtl="0" eaLnBrk="1" latinLnBrk="0" hangingPunct="1">
        <a:defRPr sz="1800" kern="1200">
          <a:solidFill>
            <a:schemeClr val="tx1"/>
          </a:solidFill>
          <a:latin typeface="+mn-lt"/>
          <a:ea typeface="+mn-ea"/>
          <a:cs typeface="+mn-cs"/>
        </a:defRPr>
      </a:lvl6pPr>
      <a:lvl7pPr marL="2742576" algn="l" defTabSz="457096" rtl="0" eaLnBrk="1" latinLnBrk="0" hangingPunct="1">
        <a:defRPr sz="1800" kern="1200">
          <a:solidFill>
            <a:schemeClr val="tx1"/>
          </a:solidFill>
          <a:latin typeface="+mn-lt"/>
          <a:ea typeface="+mn-ea"/>
          <a:cs typeface="+mn-cs"/>
        </a:defRPr>
      </a:lvl7pPr>
      <a:lvl8pPr marL="3199672" algn="l" defTabSz="457096" rtl="0" eaLnBrk="1" latinLnBrk="0" hangingPunct="1">
        <a:defRPr sz="1800" kern="1200">
          <a:solidFill>
            <a:schemeClr val="tx1"/>
          </a:solidFill>
          <a:latin typeface="+mn-lt"/>
          <a:ea typeface="+mn-ea"/>
          <a:cs typeface="+mn-cs"/>
        </a:defRPr>
      </a:lvl8pPr>
      <a:lvl9pPr marL="3656768" algn="l" defTabSz="4570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slide" Target="slide63.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63.xml"/><Relationship Id="rId5" Type="http://schemas.openxmlformats.org/officeDocument/2006/relationships/image" Target="../media/image8.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1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15.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12"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s>
</file>

<file path=ppt/slides/_rels/slide1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slide" Target="slide31.xml"/><Relationship Id="rId4" Type="http://schemas.openxmlformats.org/officeDocument/2006/relationships/image" Target="../media/image62.png"/></Relationships>
</file>

<file path=ppt/slides/_rels/slide17.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18.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19.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20.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9.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20.png"/><Relationship Id="rId7" Type="http://schemas.openxmlformats.org/officeDocument/2006/relationships/image" Target="../media/image160.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140.PNG"/><Relationship Id="rId4" Type="http://schemas.openxmlformats.org/officeDocument/2006/relationships/image" Target="../media/image1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2.jp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200.png"/><Relationship Id="rId1" Type="http://schemas.openxmlformats.org/officeDocument/2006/relationships/slideLayout" Target="../slideLayouts/slideLayout2.xml"/><Relationship Id="rId4" Type="http://schemas.openxmlformats.org/officeDocument/2006/relationships/image" Target="../media/image210.png"/></Relationships>
</file>

<file path=ppt/slides/_rels/slide60.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230.png"/><Relationship Id="rId7" Type="http://schemas.openxmlformats.org/officeDocument/2006/relationships/image" Target="../media/image270.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24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1704158" y="2571750"/>
            <a:ext cx="3204018" cy="1314450"/>
          </a:xfrm>
        </p:spPr>
        <p:txBody>
          <a:bodyPr>
            <a:normAutofit fontScale="92500" lnSpcReduction="10000"/>
          </a:bodyPr>
          <a:lstStyle/>
          <a:p>
            <a:r>
              <a:rPr lang="en-US" dirty="0"/>
              <a:t>Nafiz Farhan Bin Zainurin</a:t>
            </a:r>
          </a:p>
          <a:p>
            <a:r>
              <a:rPr lang="en-US" dirty="0"/>
              <a:t>M.Sc. </a:t>
            </a:r>
            <a:r>
              <a:rPr lang="en-US" dirty="0" err="1"/>
              <a:t>Wenyan</a:t>
            </a:r>
            <a:r>
              <a:rPr lang="en-US" dirty="0"/>
              <a:t> Ye</a:t>
            </a:r>
          </a:p>
          <a:p>
            <a:r>
              <a:rPr lang="en-US" dirty="0"/>
              <a:t>Prof. Dr. Ping Zhang</a:t>
            </a:r>
          </a:p>
        </p:txBody>
      </p:sp>
      <p:sp>
        <p:nvSpPr>
          <p:cNvPr id="3" name="Titel 2"/>
          <p:cNvSpPr>
            <a:spLocks noGrp="1"/>
          </p:cNvSpPr>
          <p:nvPr>
            <p:ph type="ctrTitle"/>
          </p:nvPr>
        </p:nvSpPr>
        <p:spPr>
          <a:xfrm>
            <a:off x="1228014" y="981793"/>
            <a:ext cx="6687972" cy="1314449"/>
          </a:xfrm>
        </p:spPr>
        <p:txBody>
          <a:bodyPr>
            <a:normAutofit fontScale="90000"/>
          </a:bodyPr>
          <a:lstStyle/>
          <a:p>
            <a:r>
              <a:rPr lang="en-GB" sz="4000" dirty="0"/>
              <a:t>Design of modular predictive controller for building automation</a:t>
            </a:r>
            <a:endParaRPr lang="en-US" dirty="0"/>
          </a:p>
        </p:txBody>
      </p:sp>
      <p:sp>
        <p:nvSpPr>
          <p:cNvPr id="4" name="Rectangle 3">
            <a:extLst>
              <a:ext uri="{FF2B5EF4-FFF2-40B4-BE49-F238E27FC236}">
                <a16:creationId xmlns:a16="http://schemas.microsoft.com/office/drawing/2014/main" id="{969B2477-CD18-182C-58D0-082FCD42B598}"/>
              </a:ext>
            </a:extLst>
          </p:cNvPr>
          <p:cNvSpPr/>
          <p:nvPr/>
        </p:nvSpPr>
        <p:spPr>
          <a:xfrm>
            <a:off x="2712399" y="136153"/>
            <a:ext cx="2993063" cy="707886"/>
          </a:xfrm>
          <a:prstGeom prst="rect">
            <a:avLst/>
          </a:prstGeom>
          <a:noFill/>
        </p:spPr>
        <p:txBody>
          <a:bodyPr wrap="non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Master thesis</a:t>
            </a:r>
          </a:p>
        </p:txBody>
      </p:sp>
    </p:spTree>
    <p:extLst>
      <p:ext uri="{BB962C8B-B14F-4D97-AF65-F5344CB8AC3E}">
        <p14:creationId xmlns:p14="http://schemas.microsoft.com/office/powerpoint/2010/main" val="3220170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dirty="0"/>
              <a:t>Content</a:t>
            </a:r>
          </a:p>
        </p:txBody>
      </p:sp>
      <p:sp>
        <p:nvSpPr>
          <p:cNvPr id="4" name="Inhaltsplatzhalter 1">
            <a:extLst>
              <a:ext uri="{FF2B5EF4-FFF2-40B4-BE49-F238E27FC236}">
                <a16:creationId xmlns:a16="http://schemas.microsoft.com/office/drawing/2014/main" id="{EAE3150F-1217-8F8C-A714-9F39312CB05C}"/>
              </a:ext>
            </a:extLst>
          </p:cNvPr>
          <p:cNvSpPr>
            <a:spLocks noGrp="1"/>
          </p:cNvSpPr>
          <p:nvPr>
            <p:ph idx="1"/>
          </p:nvPr>
        </p:nvSpPr>
        <p:spPr>
          <a:xfrm>
            <a:off x="708025" y="993227"/>
            <a:ext cx="5531409" cy="3161914"/>
          </a:xfrm>
        </p:spPr>
        <p:txBody>
          <a:bodyPr/>
          <a:lstStyle/>
          <a:p>
            <a:r>
              <a:rPr lang="en-US" dirty="0"/>
              <a:t>Motivation</a:t>
            </a:r>
          </a:p>
          <a:p>
            <a:r>
              <a:rPr lang="en-US" dirty="0"/>
              <a:t>Objective</a:t>
            </a:r>
          </a:p>
          <a:p>
            <a:r>
              <a:rPr lang="en-US" dirty="0"/>
              <a:t>Literature Review</a:t>
            </a:r>
          </a:p>
          <a:p>
            <a:r>
              <a:rPr lang="en-US" dirty="0"/>
              <a:t>System Model</a:t>
            </a:r>
          </a:p>
          <a:p>
            <a:r>
              <a:rPr lang="en-US" dirty="0"/>
              <a:t>Design of Modular Model Predictive Controller</a:t>
            </a:r>
          </a:p>
          <a:p>
            <a:r>
              <a:rPr lang="en-US" dirty="0"/>
              <a:t>Software development and Implementation</a:t>
            </a:r>
          </a:p>
          <a:p>
            <a:r>
              <a:rPr lang="en-US" dirty="0"/>
              <a:t>Case Study</a:t>
            </a:r>
          </a:p>
          <a:p>
            <a:r>
              <a:rPr lang="en-US" dirty="0"/>
              <a:t>Conclusion</a:t>
            </a:r>
          </a:p>
          <a:p>
            <a:r>
              <a:rPr lang="en-US" dirty="0"/>
              <a:t>Future Work</a:t>
            </a:r>
          </a:p>
          <a:p>
            <a:r>
              <a:rPr lang="en-US" dirty="0"/>
              <a:t>Appendix</a:t>
            </a:r>
          </a:p>
          <a:p>
            <a:r>
              <a:rPr lang="en-US" dirty="0"/>
              <a:t>Q&amp;A Session</a:t>
            </a:r>
          </a:p>
        </p:txBody>
      </p:sp>
    </p:spTree>
    <p:extLst>
      <p:ext uri="{BB962C8B-B14F-4D97-AF65-F5344CB8AC3E}">
        <p14:creationId xmlns:p14="http://schemas.microsoft.com/office/powerpoint/2010/main" val="2139392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C79C77-9BBD-20C2-97BB-9AE7900E5038}"/>
              </a:ext>
            </a:extLst>
          </p:cNvPr>
          <p:cNvSpPr>
            <a:spLocks noGrp="1"/>
          </p:cNvSpPr>
          <p:nvPr>
            <p:ph type="title"/>
          </p:nvPr>
        </p:nvSpPr>
        <p:spPr/>
        <p:txBody>
          <a:bodyPr/>
          <a:lstStyle/>
          <a:p>
            <a:r>
              <a:rPr lang="en-GB" dirty="0"/>
              <a:t>Background</a:t>
            </a:r>
            <a:endParaRPr lang="en-DE" dirty="0"/>
          </a:p>
        </p:txBody>
      </p:sp>
      <p:sp>
        <p:nvSpPr>
          <p:cNvPr id="4" name="TextBox 3">
            <a:extLst>
              <a:ext uri="{FF2B5EF4-FFF2-40B4-BE49-F238E27FC236}">
                <a16:creationId xmlns:a16="http://schemas.microsoft.com/office/drawing/2014/main" id="{595B6065-1DF3-00F9-EBD2-D7CFCDC48C84}"/>
              </a:ext>
            </a:extLst>
          </p:cNvPr>
          <p:cNvSpPr txBox="1"/>
          <p:nvPr/>
        </p:nvSpPr>
        <p:spPr>
          <a:xfrm>
            <a:off x="463923" y="834180"/>
            <a:ext cx="2136354" cy="369332"/>
          </a:xfrm>
          <a:prstGeom prst="rect">
            <a:avLst/>
          </a:prstGeom>
          <a:noFill/>
        </p:spPr>
        <p:txBody>
          <a:bodyPr wrap="none" rtlCol="0">
            <a:spAutoFit/>
          </a:bodyPr>
          <a:lstStyle/>
          <a:p>
            <a:r>
              <a:rPr lang="en-GB" dirty="0">
                <a:effectLst>
                  <a:outerShdw blurRad="38100" dist="38100" dir="2700000" algn="tl">
                    <a:srgbClr val="000000">
                      <a:alpha val="43137"/>
                    </a:srgbClr>
                  </a:outerShdw>
                </a:effectLst>
              </a:rPr>
              <a:t>Energy Management</a:t>
            </a:r>
            <a:endParaRPr lang="en-DE"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B4584E87-4847-DA80-FC89-840132A67903}"/>
              </a:ext>
            </a:extLst>
          </p:cNvPr>
          <p:cNvSpPr txBox="1"/>
          <p:nvPr/>
        </p:nvSpPr>
        <p:spPr>
          <a:xfrm>
            <a:off x="233351" y="1310011"/>
            <a:ext cx="8975912" cy="1815882"/>
          </a:xfrm>
          <a:prstGeom prst="rect">
            <a:avLst/>
          </a:prstGeom>
          <a:noFill/>
        </p:spPr>
        <p:txBody>
          <a:bodyPr wrap="square" rtlCol="0">
            <a:spAutoFit/>
          </a:bodyPr>
          <a:lstStyle/>
          <a:p>
            <a:pPr marL="285750" indent="-285750">
              <a:buFont typeface="Arial" panose="020B0604020202020204" pitchFamily="34" charset="0"/>
              <a:buChar char="•"/>
            </a:pPr>
            <a:r>
              <a:rPr lang="en-GB" sz="1600" dirty="0"/>
              <a:t>Global energy crisis: Building sector contributes 40% of global energy consumption (Perez, 2008).</a:t>
            </a:r>
          </a:p>
          <a:p>
            <a:pPr marL="285750" indent="-285750">
              <a:buFont typeface="Arial" panose="020B0604020202020204" pitchFamily="34" charset="0"/>
              <a:buChar char="•"/>
            </a:pPr>
            <a:r>
              <a:rPr lang="en-GB" sz="1600" dirty="0"/>
              <a:t>Residential buildings: High energy consumption for heating, lighting, cooling and appliances.</a:t>
            </a:r>
          </a:p>
          <a:p>
            <a:pPr marL="285750" indent="-285750">
              <a:buFont typeface="Arial" panose="020B0604020202020204" pitchFamily="34" charset="0"/>
              <a:buChar char="•"/>
            </a:pPr>
            <a:r>
              <a:rPr lang="en-GB" sz="1600" dirty="0"/>
              <a:t>Work from home post-pandemic: Increase energy demand.</a:t>
            </a:r>
          </a:p>
          <a:p>
            <a:pPr marL="285750" indent="-285750">
              <a:buFont typeface="Arial" panose="020B0604020202020204" pitchFamily="34" charset="0"/>
              <a:buChar char="•"/>
            </a:pPr>
            <a:r>
              <a:rPr lang="en-GB" sz="1600" dirty="0"/>
              <a:t>Rising energy price due to war: worsening the situation.</a:t>
            </a:r>
          </a:p>
          <a:p>
            <a:pPr marL="285750" indent="-285750">
              <a:buFont typeface="Arial" panose="020B0604020202020204" pitchFamily="34" charset="0"/>
              <a:buChar char="•"/>
            </a:pPr>
            <a:r>
              <a:rPr lang="en-GB" sz="1600" dirty="0"/>
              <a:t>Crucial to have an effective energy management.</a:t>
            </a:r>
          </a:p>
          <a:p>
            <a:pPr marL="285750" indent="-285750">
              <a:buFont typeface="Arial" panose="020B0604020202020204" pitchFamily="34" charset="0"/>
              <a:buChar char="•"/>
            </a:pPr>
            <a:r>
              <a:rPr lang="en-GB" sz="1600" dirty="0"/>
              <a:t>Balancing between low energy consumption while maintaining thermal comfort </a:t>
            </a:r>
          </a:p>
          <a:p>
            <a:pPr marL="285750" indent="-285750">
              <a:buFont typeface="Arial" panose="020B0604020202020204" pitchFamily="34" charset="0"/>
              <a:buChar char="•"/>
            </a:pPr>
            <a:r>
              <a:rPr lang="en-GB" sz="1600" dirty="0"/>
              <a:t>Strategy to achieve this conflicting objective.</a:t>
            </a:r>
          </a:p>
        </p:txBody>
      </p:sp>
      <p:pic>
        <p:nvPicPr>
          <p:cNvPr id="5" name="Picture 4" descr="A green world map with buildings and wind turbines&#10;&#10;Description automatically generated with low confidence">
            <a:extLst>
              <a:ext uri="{FF2B5EF4-FFF2-40B4-BE49-F238E27FC236}">
                <a16:creationId xmlns:a16="http://schemas.microsoft.com/office/drawing/2014/main" id="{606EC751-2029-F6D9-D0EB-DACE779DEA62}"/>
              </a:ext>
            </a:extLst>
          </p:cNvPr>
          <p:cNvPicPr>
            <a:picLocks noChangeAspect="1"/>
          </p:cNvPicPr>
          <p:nvPr/>
        </p:nvPicPr>
        <p:blipFill>
          <a:blip r:embed="rId3"/>
          <a:stretch>
            <a:fillRect/>
          </a:stretch>
        </p:blipFill>
        <p:spPr>
          <a:xfrm>
            <a:off x="5990665" y="3478613"/>
            <a:ext cx="2212041" cy="1228912"/>
          </a:xfrm>
          <a:prstGeom prst="rect">
            <a:avLst/>
          </a:prstGeom>
        </p:spPr>
      </p:pic>
      <p:sp>
        <p:nvSpPr>
          <p:cNvPr id="8" name="TextBox 7">
            <a:extLst>
              <a:ext uri="{FF2B5EF4-FFF2-40B4-BE49-F238E27FC236}">
                <a16:creationId xmlns:a16="http://schemas.microsoft.com/office/drawing/2014/main" id="{6EC2A15F-83AD-EA7B-0F8A-B9E8AD923408}"/>
              </a:ext>
            </a:extLst>
          </p:cNvPr>
          <p:cNvSpPr txBox="1"/>
          <p:nvPr/>
        </p:nvSpPr>
        <p:spPr>
          <a:xfrm>
            <a:off x="6381243" y="4767907"/>
            <a:ext cx="1430884" cy="253916"/>
          </a:xfrm>
          <a:prstGeom prst="rect">
            <a:avLst/>
          </a:prstGeom>
          <a:noFill/>
        </p:spPr>
        <p:txBody>
          <a:bodyPr wrap="square" rtlCol="0">
            <a:spAutoFit/>
          </a:bodyPr>
          <a:lstStyle/>
          <a:p>
            <a:r>
              <a:rPr lang="en-GB" sz="1000" dirty="0">
                <a:solidFill>
                  <a:schemeClr val="bg2">
                    <a:lumMod val="75000"/>
                  </a:schemeClr>
                </a:solidFill>
              </a:rPr>
              <a:t>www.facilitiesnet.com</a:t>
            </a:r>
            <a:endParaRPr lang="en-DE" sz="1000" dirty="0">
              <a:solidFill>
                <a:schemeClr val="bg2">
                  <a:lumMod val="75000"/>
                </a:schemeClr>
              </a:solidFill>
            </a:endParaRPr>
          </a:p>
        </p:txBody>
      </p:sp>
    </p:spTree>
    <p:extLst>
      <p:ext uri="{BB962C8B-B14F-4D97-AF65-F5344CB8AC3E}">
        <p14:creationId xmlns:p14="http://schemas.microsoft.com/office/powerpoint/2010/main" val="2139750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615142-60F9-C010-6C69-43AAB94552D5}"/>
              </a:ext>
            </a:extLst>
          </p:cNvPr>
          <p:cNvSpPr>
            <a:spLocks noGrp="1"/>
          </p:cNvSpPr>
          <p:nvPr>
            <p:ph idx="1"/>
          </p:nvPr>
        </p:nvSpPr>
        <p:spPr>
          <a:xfrm>
            <a:off x="284444" y="1269820"/>
            <a:ext cx="7727950" cy="1802020"/>
          </a:xfrm>
        </p:spPr>
        <p:txBody>
          <a:bodyPr/>
          <a:lstStyle/>
          <a:p>
            <a:pPr marL="285750" indent="-285750">
              <a:buFont typeface="Arial" panose="020B0604020202020204" pitchFamily="34" charset="0"/>
              <a:buChar char="•"/>
            </a:pPr>
            <a:r>
              <a:rPr lang="en-GB" sz="1600" dirty="0"/>
              <a:t>Building energy management strategy: Thermostat, PID control, passive/active method, smart device/IOT and advance building infrastructure.</a:t>
            </a:r>
          </a:p>
          <a:p>
            <a:pPr marL="285750" indent="-285750">
              <a:buFont typeface="Arial" panose="020B0604020202020204" pitchFamily="34" charset="0"/>
              <a:buChar char="•"/>
            </a:pPr>
            <a:r>
              <a:rPr lang="en-GB" sz="1600" dirty="0"/>
              <a:t>Model Predictive Control: Popular strategy with multiple advantages:</a:t>
            </a:r>
          </a:p>
          <a:p>
            <a:pPr marL="794584" lvl="1" indent="-285750">
              <a:buFont typeface="Arial" panose="020B0604020202020204" pitchFamily="34" charset="0"/>
              <a:buChar char="•"/>
            </a:pPr>
            <a:r>
              <a:rPr lang="en-GB" sz="1600" dirty="0"/>
              <a:t>Incorporates multiple conflicting objective.</a:t>
            </a:r>
          </a:p>
          <a:p>
            <a:pPr marL="794584" lvl="1" indent="-285750">
              <a:buFont typeface="Arial" panose="020B0604020202020204" pitchFamily="34" charset="0"/>
              <a:buChar char="•"/>
            </a:pPr>
            <a:r>
              <a:rPr lang="en-GB" sz="1600" dirty="0"/>
              <a:t>Handles nonlinear system</a:t>
            </a:r>
          </a:p>
          <a:p>
            <a:pPr marL="794584" lvl="1" indent="-285750">
              <a:buFont typeface="Arial" panose="020B0604020202020204" pitchFamily="34" charset="0"/>
              <a:buChar char="•"/>
            </a:pPr>
            <a:r>
              <a:rPr lang="en-GB" sz="1600" dirty="0"/>
              <a:t>Incorporate predictive disturbance (weather and occupancy pattern).</a:t>
            </a:r>
          </a:p>
          <a:p>
            <a:pPr marL="794584" lvl="1" indent="-285750">
              <a:buFont typeface="Arial" panose="020B0604020202020204" pitchFamily="34" charset="0"/>
              <a:buChar char="•"/>
            </a:pPr>
            <a:r>
              <a:rPr lang="en-GB" sz="1600" dirty="0"/>
              <a:t>Handle constraints and physical limitation.</a:t>
            </a:r>
          </a:p>
          <a:p>
            <a:endParaRPr lang="en-DE" sz="1600" dirty="0"/>
          </a:p>
        </p:txBody>
      </p:sp>
      <p:sp>
        <p:nvSpPr>
          <p:cNvPr id="3" name="Title 2">
            <a:extLst>
              <a:ext uri="{FF2B5EF4-FFF2-40B4-BE49-F238E27FC236}">
                <a16:creationId xmlns:a16="http://schemas.microsoft.com/office/drawing/2014/main" id="{090A24F0-5356-285B-7BDD-2EC75920068B}"/>
              </a:ext>
            </a:extLst>
          </p:cNvPr>
          <p:cNvSpPr>
            <a:spLocks noGrp="1"/>
          </p:cNvSpPr>
          <p:nvPr>
            <p:ph type="title"/>
          </p:nvPr>
        </p:nvSpPr>
        <p:spPr/>
        <p:txBody>
          <a:bodyPr/>
          <a:lstStyle/>
          <a:p>
            <a:r>
              <a:rPr lang="en-GB" dirty="0"/>
              <a:t>Motivation</a:t>
            </a:r>
            <a:endParaRPr lang="en-DE" dirty="0"/>
          </a:p>
        </p:txBody>
      </p:sp>
      <p:pic>
        <p:nvPicPr>
          <p:cNvPr id="5" name="Picture 4" descr="A house with solar panels and a car&#10;&#10;Description automatically generated with low confidence">
            <a:extLst>
              <a:ext uri="{FF2B5EF4-FFF2-40B4-BE49-F238E27FC236}">
                <a16:creationId xmlns:a16="http://schemas.microsoft.com/office/drawing/2014/main" id="{89E3BF8F-5AC4-029D-DBA8-CF4D289B1639}"/>
              </a:ext>
            </a:extLst>
          </p:cNvPr>
          <p:cNvPicPr>
            <a:picLocks noChangeAspect="1"/>
          </p:cNvPicPr>
          <p:nvPr/>
        </p:nvPicPr>
        <p:blipFill>
          <a:blip r:embed="rId3"/>
          <a:stretch>
            <a:fillRect/>
          </a:stretch>
        </p:blipFill>
        <p:spPr>
          <a:xfrm>
            <a:off x="5765238" y="3035267"/>
            <a:ext cx="2853764" cy="1605242"/>
          </a:xfrm>
          <a:prstGeom prst="rect">
            <a:avLst/>
          </a:prstGeom>
        </p:spPr>
      </p:pic>
      <p:sp>
        <p:nvSpPr>
          <p:cNvPr id="6" name="TextBox 5">
            <a:extLst>
              <a:ext uri="{FF2B5EF4-FFF2-40B4-BE49-F238E27FC236}">
                <a16:creationId xmlns:a16="http://schemas.microsoft.com/office/drawing/2014/main" id="{746457D6-F5F9-0464-3A4E-16FCBE2F35AF}"/>
              </a:ext>
            </a:extLst>
          </p:cNvPr>
          <p:cNvSpPr txBox="1"/>
          <p:nvPr/>
        </p:nvSpPr>
        <p:spPr>
          <a:xfrm>
            <a:off x="5765069" y="3873680"/>
            <a:ext cx="284052" cy="200055"/>
          </a:xfrm>
          <a:prstGeom prst="rect">
            <a:avLst/>
          </a:prstGeom>
          <a:noFill/>
        </p:spPr>
        <p:txBody>
          <a:bodyPr wrap="none" rtlCol="0">
            <a:spAutoFit/>
          </a:bodyPr>
          <a:lstStyle/>
          <a:p>
            <a:r>
              <a:rPr lang="en-GB" sz="700" dirty="0">
                <a:solidFill>
                  <a:schemeClr val="bg1"/>
                </a:solidFill>
                <a:hlinkClick r:id="rId4" action="ppaction://hlinksldjump">
                  <a:extLst>
                    <a:ext uri="{A12FA001-AC4F-418D-AE19-62706E023703}">
                      <ahyp:hlinkClr xmlns:ahyp="http://schemas.microsoft.com/office/drawing/2018/hyperlinkcolor" val="tx"/>
                    </a:ext>
                  </a:extLst>
                </a:hlinkClick>
              </a:rPr>
              <a:t>[3]</a:t>
            </a:r>
            <a:endParaRPr lang="en-DE" sz="700" dirty="0">
              <a:solidFill>
                <a:schemeClr val="bg1"/>
              </a:solidFill>
            </a:endParaRPr>
          </a:p>
        </p:txBody>
      </p:sp>
      <p:sp>
        <p:nvSpPr>
          <p:cNvPr id="8" name="TextBox 7">
            <a:extLst>
              <a:ext uri="{FF2B5EF4-FFF2-40B4-BE49-F238E27FC236}">
                <a16:creationId xmlns:a16="http://schemas.microsoft.com/office/drawing/2014/main" id="{976EF7A2-0729-C336-AA32-F09917B5FEE2}"/>
              </a:ext>
            </a:extLst>
          </p:cNvPr>
          <p:cNvSpPr txBox="1"/>
          <p:nvPr/>
        </p:nvSpPr>
        <p:spPr>
          <a:xfrm>
            <a:off x="463923" y="834180"/>
            <a:ext cx="3000373" cy="369332"/>
          </a:xfrm>
          <a:prstGeom prst="rect">
            <a:avLst/>
          </a:prstGeom>
          <a:noFill/>
        </p:spPr>
        <p:txBody>
          <a:bodyPr wrap="none" rtlCol="0">
            <a:spAutoFit/>
          </a:bodyPr>
          <a:lstStyle/>
          <a:p>
            <a:r>
              <a:rPr lang="en-GB" dirty="0">
                <a:effectLst>
                  <a:outerShdw blurRad="38100" dist="38100" dir="2700000" algn="tl">
                    <a:srgbClr val="000000">
                      <a:alpha val="43137"/>
                    </a:srgbClr>
                  </a:outerShdw>
                </a:effectLst>
              </a:rPr>
              <a:t>Building Energy Management </a:t>
            </a:r>
            <a:endParaRPr lang="en-DE"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C17FD227-5457-2FE4-A8EC-799C593BC9C2}"/>
              </a:ext>
            </a:extLst>
          </p:cNvPr>
          <p:cNvSpPr txBox="1"/>
          <p:nvPr/>
        </p:nvSpPr>
        <p:spPr>
          <a:xfrm>
            <a:off x="6742318" y="4603936"/>
            <a:ext cx="899605" cy="246221"/>
          </a:xfrm>
          <a:prstGeom prst="rect">
            <a:avLst/>
          </a:prstGeom>
          <a:noFill/>
        </p:spPr>
        <p:txBody>
          <a:bodyPr wrap="none" rtlCol="0">
            <a:spAutoFit/>
          </a:bodyPr>
          <a:lstStyle/>
          <a:p>
            <a:r>
              <a:rPr lang="en-GB" sz="1000" dirty="0">
                <a:solidFill>
                  <a:schemeClr val="bg2">
                    <a:lumMod val="75000"/>
                  </a:schemeClr>
                </a:solidFill>
              </a:rPr>
              <a:t>www.haus.de</a:t>
            </a:r>
            <a:endParaRPr lang="en-DE" sz="1000" dirty="0">
              <a:solidFill>
                <a:schemeClr val="bg2">
                  <a:lumMod val="75000"/>
                </a:schemeClr>
              </a:solidFill>
            </a:endParaRPr>
          </a:p>
        </p:txBody>
      </p:sp>
    </p:spTree>
    <p:extLst>
      <p:ext uri="{BB962C8B-B14F-4D97-AF65-F5344CB8AC3E}">
        <p14:creationId xmlns:p14="http://schemas.microsoft.com/office/powerpoint/2010/main" val="3141395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76F136-7A9F-94E7-3D06-0EF8DFB616F7}"/>
              </a:ext>
            </a:extLst>
          </p:cNvPr>
          <p:cNvSpPr>
            <a:spLocks noGrp="1"/>
          </p:cNvSpPr>
          <p:nvPr>
            <p:ph idx="1"/>
          </p:nvPr>
        </p:nvSpPr>
        <p:spPr>
          <a:xfrm>
            <a:off x="520995" y="1234583"/>
            <a:ext cx="7727950" cy="2072701"/>
          </a:xfrm>
        </p:spPr>
        <p:txBody>
          <a:bodyPr/>
          <a:lstStyle/>
          <a:p>
            <a:pPr marL="285750" indent="-285750">
              <a:buFont typeface="Arial" panose="020B0604020202020204" pitchFamily="34" charset="0"/>
              <a:buChar char="•"/>
            </a:pPr>
            <a:r>
              <a:rPr lang="en-GB" sz="1600" dirty="0"/>
              <a:t>Building energy management: Rapidly evolving technology. </a:t>
            </a:r>
          </a:p>
          <a:p>
            <a:pPr marL="285750" indent="-285750">
              <a:buFont typeface="Arial" panose="020B0604020202020204" pitchFamily="34" charset="0"/>
              <a:buChar char="•"/>
            </a:pPr>
            <a:r>
              <a:rPr lang="en-US" sz="1600" dirty="0"/>
              <a:t>Traditional MPC limitations: Requires reengineering entire system for expansion</a:t>
            </a:r>
          </a:p>
          <a:p>
            <a:pPr marL="285750" indent="-285750">
              <a:buFont typeface="Arial" panose="020B0604020202020204" pitchFamily="34" charset="0"/>
              <a:buChar char="•"/>
            </a:pPr>
            <a:r>
              <a:rPr lang="en-US" sz="1600" dirty="0"/>
              <a:t>Consumer concerns: Limited knowledge, economic constraints</a:t>
            </a:r>
          </a:p>
          <a:p>
            <a:pPr>
              <a:buFont typeface="Arial" panose="020B0604020202020204" pitchFamily="34" charset="0"/>
              <a:buChar char="•"/>
            </a:pPr>
            <a:r>
              <a:rPr lang="en-US" sz="1600" dirty="0"/>
              <a:t>Modular MPC benefits: Provides flexibility and scalability for energy management system</a:t>
            </a:r>
            <a:endParaRPr lang="en-DE" sz="1600" dirty="0"/>
          </a:p>
        </p:txBody>
      </p:sp>
      <p:sp>
        <p:nvSpPr>
          <p:cNvPr id="3" name="Title 2">
            <a:extLst>
              <a:ext uri="{FF2B5EF4-FFF2-40B4-BE49-F238E27FC236}">
                <a16:creationId xmlns:a16="http://schemas.microsoft.com/office/drawing/2014/main" id="{DDCE0F8C-50E2-30E7-07E6-40908C052CDE}"/>
              </a:ext>
            </a:extLst>
          </p:cNvPr>
          <p:cNvSpPr>
            <a:spLocks noGrp="1"/>
          </p:cNvSpPr>
          <p:nvPr>
            <p:ph type="title"/>
          </p:nvPr>
        </p:nvSpPr>
        <p:spPr/>
        <p:txBody>
          <a:bodyPr/>
          <a:lstStyle/>
          <a:p>
            <a:r>
              <a:rPr lang="en-GB" dirty="0"/>
              <a:t>Motivation</a:t>
            </a:r>
            <a:endParaRPr lang="en-DE" dirty="0"/>
          </a:p>
        </p:txBody>
      </p:sp>
      <p:pic>
        <p:nvPicPr>
          <p:cNvPr id="5" name="Picture 4" descr="A white person with red question marks above his head&#10;&#10;Description automatically generated with medium confidence">
            <a:extLst>
              <a:ext uri="{FF2B5EF4-FFF2-40B4-BE49-F238E27FC236}">
                <a16:creationId xmlns:a16="http://schemas.microsoft.com/office/drawing/2014/main" id="{3992EDBB-6F1D-261A-6FFB-E7F66AECA238}"/>
              </a:ext>
            </a:extLst>
          </p:cNvPr>
          <p:cNvPicPr>
            <a:picLocks noChangeAspect="1"/>
          </p:cNvPicPr>
          <p:nvPr/>
        </p:nvPicPr>
        <p:blipFill>
          <a:blip r:embed="rId3"/>
          <a:stretch>
            <a:fillRect/>
          </a:stretch>
        </p:blipFill>
        <p:spPr>
          <a:xfrm>
            <a:off x="4374432" y="3338355"/>
            <a:ext cx="974911" cy="974911"/>
          </a:xfrm>
          <a:prstGeom prst="rect">
            <a:avLst/>
          </a:prstGeom>
        </p:spPr>
      </p:pic>
      <p:pic>
        <p:nvPicPr>
          <p:cNvPr id="9" name="Picture 8" descr="A cartoon of a person carrying a wood plank&#10;&#10;Description automatically generated with low confidence">
            <a:extLst>
              <a:ext uri="{FF2B5EF4-FFF2-40B4-BE49-F238E27FC236}">
                <a16:creationId xmlns:a16="http://schemas.microsoft.com/office/drawing/2014/main" id="{25790C75-47FB-0640-1823-83D8AD82C27D}"/>
              </a:ext>
            </a:extLst>
          </p:cNvPr>
          <p:cNvPicPr>
            <a:picLocks noChangeAspect="1"/>
          </p:cNvPicPr>
          <p:nvPr/>
        </p:nvPicPr>
        <p:blipFill>
          <a:blip r:embed="rId4"/>
          <a:stretch>
            <a:fillRect/>
          </a:stretch>
        </p:blipFill>
        <p:spPr>
          <a:xfrm>
            <a:off x="2510658" y="3290619"/>
            <a:ext cx="854925" cy="1096722"/>
          </a:xfrm>
          <a:prstGeom prst="rect">
            <a:avLst/>
          </a:prstGeom>
        </p:spPr>
      </p:pic>
      <p:pic>
        <p:nvPicPr>
          <p:cNvPr id="11" name="Picture 10" descr="A picture containing handwriting, clothing, person, whiteboard&#10;&#10;Description automatically generated">
            <a:extLst>
              <a:ext uri="{FF2B5EF4-FFF2-40B4-BE49-F238E27FC236}">
                <a16:creationId xmlns:a16="http://schemas.microsoft.com/office/drawing/2014/main" id="{548BDB4F-2027-0C16-D52D-0E2EDB78D29B}"/>
              </a:ext>
            </a:extLst>
          </p:cNvPr>
          <p:cNvPicPr>
            <a:picLocks noChangeAspect="1"/>
          </p:cNvPicPr>
          <p:nvPr/>
        </p:nvPicPr>
        <p:blipFill>
          <a:blip r:embed="rId5"/>
          <a:stretch>
            <a:fillRect/>
          </a:stretch>
        </p:blipFill>
        <p:spPr>
          <a:xfrm>
            <a:off x="6146163" y="3160619"/>
            <a:ext cx="1960756" cy="1695524"/>
          </a:xfrm>
          <a:prstGeom prst="rect">
            <a:avLst/>
          </a:prstGeom>
        </p:spPr>
      </p:pic>
      <p:sp>
        <p:nvSpPr>
          <p:cNvPr id="12" name="TextBox 11">
            <a:extLst>
              <a:ext uri="{FF2B5EF4-FFF2-40B4-BE49-F238E27FC236}">
                <a16:creationId xmlns:a16="http://schemas.microsoft.com/office/drawing/2014/main" id="{DDA2B7C4-786A-D556-7CE9-3697ABC661FB}"/>
              </a:ext>
            </a:extLst>
          </p:cNvPr>
          <p:cNvSpPr txBox="1"/>
          <p:nvPr/>
        </p:nvSpPr>
        <p:spPr>
          <a:xfrm>
            <a:off x="3388085" y="3738952"/>
            <a:ext cx="284052" cy="200055"/>
          </a:xfrm>
          <a:prstGeom prst="rect">
            <a:avLst/>
          </a:prstGeom>
          <a:noFill/>
        </p:spPr>
        <p:txBody>
          <a:bodyPr wrap="none" rtlCol="0">
            <a:spAutoFit/>
          </a:bodyPr>
          <a:lstStyle/>
          <a:p>
            <a:r>
              <a:rPr lang="en-GB" sz="700" dirty="0">
                <a:solidFill>
                  <a:srgbClr val="FFFFCC"/>
                </a:solidFill>
                <a:hlinkClick r:id="rId6" action="ppaction://hlinksldjump">
                  <a:extLst>
                    <a:ext uri="{A12FA001-AC4F-418D-AE19-62706E023703}">
                      <ahyp:hlinkClr xmlns:ahyp="http://schemas.microsoft.com/office/drawing/2018/hyperlinkcolor" val="tx"/>
                    </a:ext>
                  </a:extLst>
                </a:hlinkClick>
              </a:rPr>
              <a:t>[4]</a:t>
            </a:r>
            <a:endParaRPr lang="en-DE" sz="700" dirty="0">
              <a:solidFill>
                <a:srgbClr val="FFFFCC"/>
              </a:solidFill>
            </a:endParaRPr>
          </a:p>
        </p:txBody>
      </p:sp>
      <p:sp>
        <p:nvSpPr>
          <p:cNvPr id="15" name="TextBox 14">
            <a:extLst>
              <a:ext uri="{FF2B5EF4-FFF2-40B4-BE49-F238E27FC236}">
                <a16:creationId xmlns:a16="http://schemas.microsoft.com/office/drawing/2014/main" id="{97193FA4-726B-F2E2-33FB-8CB98DF8E2E1}"/>
              </a:ext>
            </a:extLst>
          </p:cNvPr>
          <p:cNvSpPr txBox="1"/>
          <p:nvPr/>
        </p:nvSpPr>
        <p:spPr>
          <a:xfrm>
            <a:off x="5260164" y="3633862"/>
            <a:ext cx="284052" cy="200055"/>
          </a:xfrm>
          <a:prstGeom prst="rect">
            <a:avLst/>
          </a:prstGeom>
          <a:noFill/>
        </p:spPr>
        <p:txBody>
          <a:bodyPr wrap="none" rtlCol="0">
            <a:spAutoFit/>
          </a:bodyPr>
          <a:lstStyle/>
          <a:p>
            <a:r>
              <a:rPr lang="en-GB" sz="700" dirty="0">
                <a:solidFill>
                  <a:srgbClr val="FFFFCC"/>
                </a:solidFill>
                <a:hlinkClick r:id="rId6" action="ppaction://hlinksldjump">
                  <a:extLst>
                    <a:ext uri="{A12FA001-AC4F-418D-AE19-62706E023703}">
                      <ahyp:hlinkClr xmlns:ahyp="http://schemas.microsoft.com/office/drawing/2018/hyperlinkcolor" val="tx"/>
                    </a:ext>
                  </a:extLst>
                </a:hlinkClick>
              </a:rPr>
              <a:t>[5]</a:t>
            </a:r>
            <a:endParaRPr lang="en-DE" sz="700" dirty="0">
              <a:solidFill>
                <a:srgbClr val="FFFFCC"/>
              </a:solidFill>
            </a:endParaRPr>
          </a:p>
        </p:txBody>
      </p:sp>
      <p:sp>
        <p:nvSpPr>
          <p:cNvPr id="16" name="TextBox 15">
            <a:extLst>
              <a:ext uri="{FF2B5EF4-FFF2-40B4-BE49-F238E27FC236}">
                <a16:creationId xmlns:a16="http://schemas.microsoft.com/office/drawing/2014/main" id="{2F232928-FE92-9FF0-B776-16461D640CAE}"/>
              </a:ext>
            </a:extLst>
          </p:cNvPr>
          <p:cNvSpPr txBox="1"/>
          <p:nvPr/>
        </p:nvSpPr>
        <p:spPr>
          <a:xfrm>
            <a:off x="8106919" y="3638926"/>
            <a:ext cx="284052" cy="200055"/>
          </a:xfrm>
          <a:prstGeom prst="rect">
            <a:avLst/>
          </a:prstGeom>
          <a:noFill/>
        </p:spPr>
        <p:txBody>
          <a:bodyPr wrap="none" rtlCol="0">
            <a:spAutoFit/>
          </a:bodyPr>
          <a:lstStyle/>
          <a:p>
            <a:r>
              <a:rPr lang="en-GB" sz="700" dirty="0">
                <a:solidFill>
                  <a:srgbClr val="FFFFCC"/>
                </a:solidFill>
                <a:hlinkClick r:id="rId6" action="ppaction://hlinksldjump">
                  <a:extLst>
                    <a:ext uri="{A12FA001-AC4F-418D-AE19-62706E023703}">
                      <ahyp:hlinkClr xmlns:ahyp="http://schemas.microsoft.com/office/drawing/2018/hyperlinkcolor" val="tx"/>
                    </a:ext>
                  </a:extLst>
                </a:hlinkClick>
              </a:rPr>
              <a:t>[6]</a:t>
            </a:r>
            <a:endParaRPr lang="en-DE" sz="700" dirty="0">
              <a:solidFill>
                <a:srgbClr val="FFFFCC"/>
              </a:solidFill>
            </a:endParaRPr>
          </a:p>
        </p:txBody>
      </p:sp>
      <p:sp>
        <p:nvSpPr>
          <p:cNvPr id="17" name="TextBox 16">
            <a:extLst>
              <a:ext uri="{FF2B5EF4-FFF2-40B4-BE49-F238E27FC236}">
                <a16:creationId xmlns:a16="http://schemas.microsoft.com/office/drawing/2014/main" id="{4AEEC146-03FB-5262-2357-BF49B5214522}"/>
              </a:ext>
            </a:extLst>
          </p:cNvPr>
          <p:cNvSpPr txBox="1"/>
          <p:nvPr/>
        </p:nvSpPr>
        <p:spPr>
          <a:xfrm>
            <a:off x="520995" y="834180"/>
            <a:ext cx="1106072" cy="369332"/>
          </a:xfrm>
          <a:prstGeom prst="rect">
            <a:avLst/>
          </a:prstGeom>
          <a:noFill/>
        </p:spPr>
        <p:txBody>
          <a:bodyPr wrap="none" rtlCol="0">
            <a:spAutoFit/>
          </a:bodyPr>
          <a:lstStyle/>
          <a:p>
            <a:r>
              <a:rPr lang="en-GB" dirty="0">
                <a:effectLst>
                  <a:outerShdw blurRad="38100" dist="38100" dir="2700000" algn="tl">
                    <a:srgbClr val="000000">
                      <a:alpha val="43137"/>
                    </a:srgbClr>
                  </a:outerShdw>
                </a:effectLst>
              </a:rPr>
              <a:t>Challenge</a:t>
            </a:r>
            <a:endParaRPr lang="en-DE" dirty="0">
              <a:effectLst>
                <a:outerShdw blurRad="38100" dist="38100" dir="2700000" algn="tl">
                  <a:srgbClr val="000000">
                    <a:alpha val="43137"/>
                  </a:srgbClr>
                </a:outerShdw>
              </a:effectLst>
            </a:endParaRPr>
          </a:p>
        </p:txBody>
      </p:sp>
      <p:sp>
        <p:nvSpPr>
          <p:cNvPr id="18" name="TextBox 17">
            <a:extLst>
              <a:ext uri="{FF2B5EF4-FFF2-40B4-BE49-F238E27FC236}">
                <a16:creationId xmlns:a16="http://schemas.microsoft.com/office/drawing/2014/main" id="{BEB7011B-5C2D-4947-B17F-CBAF85268811}"/>
              </a:ext>
            </a:extLst>
          </p:cNvPr>
          <p:cNvSpPr txBox="1"/>
          <p:nvPr/>
        </p:nvSpPr>
        <p:spPr>
          <a:xfrm>
            <a:off x="2214204" y="4316812"/>
            <a:ext cx="1447832" cy="246221"/>
          </a:xfrm>
          <a:prstGeom prst="rect">
            <a:avLst/>
          </a:prstGeom>
          <a:noFill/>
        </p:spPr>
        <p:txBody>
          <a:bodyPr wrap="none" rtlCol="0">
            <a:spAutoFit/>
          </a:bodyPr>
          <a:lstStyle/>
          <a:p>
            <a:r>
              <a:rPr lang="en-GB" sz="1000" dirty="0">
                <a:solidFill>
                  <a:schemeClr val="bg2">
                    <a:lumMod val="75000"/>
                  </a:schemeClr>
                </a:solidFill>
              </a:rPr>
              <a:t>www.clipart-library.com</a:t>
            </a:r>
            <a:endParaRPr lang="en-DE" sz="1000" dirty="0">
              <a:solidFill>
                <a:schemeClr val="bg2">
                  <a:lumMod val="75000"/>
                </a:schemeClr>
              </a:solidFill>
            </a:endParaRPr>
          </a:p>
        </p:txBody>
      </p:sp>
      <p:sp>
        <p:nvSpPr>
          <p:cNvPr id="19" name="TextBox 18">
            <a:extLst>
              <a:ext uri="{FF2B5EF4-FFF2-40B4-BE49-F238E27FC236}">
                <a16:creationId xmlns:a16="http://schemas.microsoft.com/office/drawing/2014/main" id="{5F65098D-AFFA-13EB-71F2-ECCACF423CC5}"/>
              </a:ext>
            </a:extLst>
          </p:cNvPr>
          <p:cNvSpPr txBox="1"/>
          <p:nvPr/>
        </p:nvSpPr>
        <p:spPr>
          <a:xfrm>
            <a:off x="4140961" y="4306719"/>
            <a:ext cx="1229824" cy="246221"/>
          </a:xfrm>
          <a:prstGeom prst="rect">
            <a:avLst/>
          </a:prstGeom>
          <a:noFill/>
        </p:spPr>
        <p:txBody>
          <a:bodyPr wrap="none" rtlCol="0">
            <a:spAutoFit/>
          </a:bodyPr>
          <a:lstStyle/>
          <a:p>
            <a:r>
              <a:rPr lang="en-GB" sz="1000" dirty="0">
                <a:solidFill>
                  <a:schemeClr val="bg2">
                    <a:lumMod val="75000"/>
                  </a:schemeClr>
                </a:solidFill>
              </a:rPr>
              <a:t>deposit-photos.com</a:t>
            </a:r>
            <a:endParaRPr lang="en-DE" sz="1000" dirty="0">
              <a:solidFill>
                <a:schemeClr val="bg2">
                  <a:lumMod val="75000"/>
                </a:schemeClr>
              </a:solidFill>
            </a:endParaRPr>
          </a:p>
        </p:txBody>
      </p:sp>
      <p:sp>
        <p:nvSpPr>
          <p:cNvPr id="21" name="TextBox 20">
            <a:extLst>
              <a:ext uri="{FF2B5EF4-FFF2-40B4-BE49-F238E27FC236}">
                <a16:creationId xmlns:a16="http://schemas.microsoft.com/office/drawing/2014/main" id="{16609BB9-2A56-5351-24DD-41B446BF8583}"/>
              </a:ext>
            </a:extLst>
          </p:cNvPr>
          <p:cNvSpPr txBox="1"/>
          <p:nvPr/>
        </p:nvSpPr>
        <p:spPr>
          <a:xfrm>
            <a:off x="6670203" y="4856143"/>
            <a:ext cx="1213794" cy="246221"/>
          </a:xfrm>
          <a:prstGeom prst="rect">
            <a:avLst/>
          </a:prstGeom>
          <a:noFill/>
        </p:spPr>
        <p:txBody>
          <a:bodyPr wrap="none" rtlCol="0">
            <a:spAutoFit/>
          </a:bodyPr>
          <a:lstStyle/>
          <a:p>
            <a:r>
              <a:rPr lang="en-GB" sz="1000" dirty="0">
                <a:solidFill>
                  <a:schemeClr val="bg2">
                    <a:lumMod val="75000"/>
                  </a:schemeClr>
                </a:solidFill>
              </a:rPr>
              <a:t>blog.eonetwork.org</a:t>
            </a:r>
            <a:endParaRPr lang="en-DE" sz="1000" dirty="0">
              <a:solidFill>
                <a:schemeClr val="bg2">
                  <a:lumMod val="75000"/>
                </a:schemeClr>
              </a:solidFill>
            </a:endParaRPr>
          </a:p>
        </p:txBody>
      </p:sp>
    </p:spTree>
    <p:extLst>
      <p:ext uri="{BB962C8B-B14F-4D97-AF65-F5344CB8AC3E}">
        <p14:creationId xmlns:p14="http://schemas.microsoft.com/office/powerpoint/2010/main" val="3589653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DD4B01-B69E-3FB1-4E88-4532E3116D81}"/>
              </a:ext>
            </a:extLst>
          </p:cNvPr>
          <p:cNvSpPr>
            <a:spLocks noGrp="1"/>
          </p:cNvSpPr>
          <p:nvPr>
            <p:ph idx="1"/>
          </p:nvPr>
        </p:nvSpPr>
        <p:spPr>
          <a:xfrm>
            <a:off x="351678" y="925993"/>
            <a:ext cx="8160309" cy="3496222"/>
          </a:xfrm>
        </p:spPr>
        <p:txBody>
          <a:bodyPr/>
          <a:lstStyle/>
          <a:p>
            <a:r>
              <a:rPr lang="en-GB" dirty="0"/>
              <a:t>Design modular MPC for energy management in residential house.</a:t>
            </a:r>
          </a:p>
          <a:p>
            <a:r>
              <a:rPr lang="en-GB" dirty="0"/>
              <a:t>Implement scalable MPC framework for subsystem integration/removal with MPC strategy adjustment.</a:t>
            </a:r>
          </a:p>
          <a:p>
            <a:r>
              <a:rPr lang="en-GB" dirty="0"/>
              <a:t>Consider subsystems: battery and electric vehicle.</a:t>
            </a:r>
          </a:p>
          <a:p>
            <a:r>
              <a:rPr lang="en-GB" dirty="0"/>
              <a:t>Consider disturbances: ambient temperature, solar irradiance, COP, heat demand, charging of EV and price of electricity.</a:t>
            </a:r>
          </a:p>
          <a:p>
            <a:r>
              <a:rPr lang="en-GB" dirty="0"/>
              <a:t>GUI and database are developed to enable parameter modification, data entry, visualization and storing of parameter.</a:t>
            </a:r>
          </a:p>
        </p:txBody>
      </p:sp>
      <p:sp>
        <p:nvSpPr>
          <p:cNvPr id="3" name="Title 2">
            <a:extLst>
              <a:ext uri="{FF2B5EF4-FFF2-40B4-BE49-F238E27FC236}">
                <a16:creationId xmlns:a16="http://schemas.microsoft.com/office/drawing/2014/main" id="{65EFD4A9-33BB-4D70-96B4-B9D1D40E71F4}"/>
              </a:ext>
            </a:extLst>
          </p:cNvPr>
          <p:cNvSpPr>
            <a:spLocks noGrp="1"/>
          </p:cNvSpPr>
          <p:nvPr>
            <p:ph type="title"/>
          </p:nvPr>
        </p:nvSpPr>
        <p:spPr/>
        <p:txBody>
          <a:bodyPr/>
          <a:lstStyle/>
          <a:p>
            <a:r>
              <a:rPr lang="en-GB" dirty="0"/>
              <a:t>Objective</a:t>
            </a:r>
            <a:endParaRPr lang="en-DE" dirty="0"/>
          </a:p>
        </p:txBody>
      </p:sp>
    </p:spTree>
    <p:extLst>
      <p:ext uri="{BB962C8B-B14F-4D97-AF65-F5344CB8AC3E}">
        <p14:creationId xmlns:p14="http://schemas.microsoft.com/office/powerpoint/2010/main" val="2308829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8C7EC0-3BE1-94E5-E783-ECF2A5F98281}"/>
              </a:ext>
            </a:extLst>
          </p:cNvPr>
          <p:cNvSpPr>
            <a:spLocks noGrp="1"/>
          </p:cNvSpPr>
          <p:nvPr>
            <p:ph idx="1"/>
          </p:nvPr>
        </p:nvSpPr>
        <p:spPr>
          <a:xfrm>
            <a:off x="708025" y="993228"/>
            <a:ext cx="7904815" cy="3496222"/>
          </a:xfrm>
        </p:spPr>
        <p:txBody>
          <a:bodyPr/>
          <a:lstStyle/>
          <a:p>
            <a:r>
              <a:rPr lang="en-GB" dirty="0"/>
              <a:t>There are multiple strategies developed for building energy management(BEM), </a:t>
            </a:r>
          </a:p>
          <a:p>
            <a:pPr lvl="1"/>
            <a:r>
              <a:rPr lang="en-GB" dirty="0"/>
              <a:t>PID control (</a:t>
            </a:r>
            <a:r>
              <a:rPr lang="en-GB" dirty="0" err="1"/>
              <a:t>Fiducioso</a:t>
            </a:r>
            <a:r>
              <a:rPr lang="en-GB" dirty="0"/>
              <a:t>, 2019) </a:t>
            </a:r>
          </a:p>
          <a:p>
            <a:pPr lvl="1"/>
            <a:r>
              <a:rPr lang="en-GB" dirty="0"/>
              <a:t>Artificial Neural Network (ANN) (Afram,2017)</a:t>
            </a:r>
          </a:p>
          <a:p>
            <a:pPr lvl="1"/>
            <a:r>
              <a:rPr lang="en-GB" dirty="0"/>
              <a:t>Fuzzy logic (Shepherd, 2003; </a:t>
            </a:r>
            <a:r>
              <a:rPr lang="en-GB" dirty="0" err="1"/>
              <a:t>Soetedjo</a:t>
            </a:r>
            <a:r>
              <a:rPr lang="en-GB" dirty="0"/>
              <a:t>, 2018), </a:t>
            </a:r>
          </a:p>
          <a:p>
            <a:pPr lvl="1"/>
            <a:r>
              <a:rPr lang="en-GB" dirty="0"/>
              <a:t>Internet-of-Things (Ashraf, 2018)</a:t>
            </a:r>
          </a:p>
          <a:p>
            <a:r>
              <a:rPr lang="en-US" dirty="0"/>
              <a:t>Widely used traditional controllers: PID, fuzzy logic, rule-based controllers</a:t>
            </a:r>
          </a:p>
          <a:p>
            <a:r>
              <a:rPr lang="en-US" dirty="0"/>
              <a:t>Advantages: Simplicity and ease of implementation</a:t>
            </a:r>
          </a:p>
          <a:p>
            <a:r>
              <a:rPr lang="en-US" dirty="0"/>
              <a:t>Limitation: cannot handle constraints, time-varying disturbances and nonlinear dynamics (</a:t>
            </a:r>
            <a:r>
              <a:rPr lang="en-US" dirty="0" err="1"/>
              <a:t>Afram</a:t>
            </a:r>
            <a:r>
              <a:rPr lang="en-US" dirty="0"/>
              <a:t> &amp; </a:t>
            </a:r>
            <a:r>
              <a:rPr lang="en-US" dirty="0" err="1"/>
              <a:t>Janabi</a:t>
            </a:r>
            <a:r>
              <a:rPr lang="en-US" dirty="0"/>
              <a:t>, 2014).</a:t>
            </a:r>
          </a:p>
        </p:txBody>
      </p:sp>
      <p:sp>
        <p:nvSpPr>
          <p:cNvPr id="3" name="Title 2">
            <a:extLst>
              <a:ext uri="{FF2B5EF4-FFF2-40B4-BE49-F238E27FC236}">
                <a16:creationId xmlns:a16="http://schemas.microsoft.com/office/drawing/2014/main" id="{C05EE49F-1F0A-1612-7EFD-ECBB54A1E45F}"/>
              </a:ext>
            </a:extLst>
          </p:cNvPr>
          <p:cNvSpPr>
            <a:spLocks noGrp="1"/>
          </p:cNvSpPr>
          <p:nvPr>
            <p:ph type="title"/>
          </p:nvPr>
        </p:nvSpPr>
        <p:spPr/>
        <p:txBody>
          <a:bodyPr/>
          <a:lstStyle/>
          <a:p>
            <a:r>
              <a:rPr lang="en-GB" dirty="0"/>
              <a:t>Literature Review</a:t>
            </a:r>
            <a:endParaRPr lang="en-DE" dirty="0"/>
          </a:p>
        </p:txBody>
      </p:sp>
    </p:spTree>
    <p:extLst>
      <p:ext uri="{BB962C8B-B14F-4D97-AF65-F5344CB8AC3E}">
        <p14:creationId xmlns:p14="http://schemas.microsoft.com/office/powerpoint/2010/main" val="4134712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0ABEF7-398F-8880-D83D-754BDEA0F597}"/>
              </a:ext>
            </a:extLst>
          </p:cNvPr>
          <p:cNvSpPr>
            <a:spLocks noGrp="1"/>
          </p:cNvSpPr>
          <p:nvPr>
            <p:ph idx="1"/>
          </p:nvPr>
        </p:nvSpPr>
        <p:spPr>
          <a:xfrm>
            <a:off x="708026" y="993228"/>
            <a:ext cx="7727950" cy="2872801"/>
          </a:xfrm>
        </p:spPr>
        <p:txBody>
          <a:bodyPr/>
          <a:lstStyle/>
          <a:p>
            <a:r>
              <a:rPr lang="en-GB" dirty="0"/>
              <a:t>Advancement in computing, processing power and building automation: enable successful implementation of MPC in BEM (</a:t>
            </a:r>
            <a:r>
              <a:rPr lang="en-GB" dirty="0" err="1"/>
              <a:t>Serale</a:t>
            </a:r>
            <a:r>
              <a:rPr lang="en-GB" dirty="0"/>
              <a:t> et al.,2018).</a:t>
            </a:r>
          </a:p>
          <a:p>
            <a:r>
              <a:rPr lang="en-GB" dirty="0"/>
              <a:t>Key challenge: Obtaining accurate yet computationally feasible building dynamic model </a:t>
            </a:r>
            <a:r>
              <a:rPr lang="en-GB" sz="1800" b="0" i="0" u="none" strike="noStrike" baseline="0" dirty="0">
                <a:latin typeface="CMR12"/>
              </a:rPr>
              <a:t>(Cigler et al., 2013).</a:t>
            </a:r>
          </a:p>
          <a:p>
            <a:r>
              <a:rPr lang="en-GB" dirty="0">
                <a:latin typeface="CMR12"/>
              </a:rPr>
              <a:t>Solution:</a:t>
            </a:r>
          </a:p>
          <a:p>
            <a:pPr lvl="1"/>
            <a:r>
              <a:rPr lang="en-GB" dirty="0">
                <a:latin typeface="CMR12"/>
              </a:rPr>
              <a:t>Resistance-capacitance network modelling </a:t>
            </a:r>
            <a:r>
              <a:rPr lang="en-GB" b="0" i="0" u="none" strike="noStrike" baseline="0" dirty="0">
                <a:latin typeface="CMR12"/>
              </a:rPr>
              <a:t>(</a:t>
            </a:r>
            <a:r>
              <a:rPr lang="en-GB" b="0" i="0" u="none" strike="noStrike" baseline="0" dirty="0" err="1">
                <a:latin typeface="CMR12"/>
              </a:rPr>
              <a:t>Mirakhorli</a:t>
            </a:r>
            <a:r>
              <a:rPr lang="en-GB" b="0" i="0" u="none" strike="noStrike" baseline="0" dirty="0">
                <a:latin typeface="CMR12"/>
              </a:rPr>
              <a:t> and Dong, 2016), </a:t>
            </a:r>
          </a:p>
          <a:p>
            <a:pPr lvl="1"/>
            <a:r>
              <a:rPr lang="en-GB" b="0" i="0" u="none" strike="noStrike" baseline="0" dirty="0">
                <a:latin typeface="CMR12"/>
              </a:rPr>
              <a:t>Black box method like ANN-based MPC for approximating nonlinearity accurately (</a:t>
            </a:r>
            <a:r>
              <a:rPr lang="en-GB" b="0" i="0" u="none" strike="noStrike" baseline="0" dirty="0" err="1">
                <a:latin typeface="CMR12"/>
              </a:rPr>
              <a:t>Afram</a:t>
            </a:r>
            <a:r>
              <a:rPr lang="en-GB" b="0" i="0" u="none" strike="noStrike" baseline="0" dirty="0">
                <a:latin typeface="CMR12"/>
              </a:rPr>
              <a:t> et al., 2017).</a:t>
            </a:r>
          </a:p>
          <a:p>
            <a:r>
              <a:rPr lang="en-GB" dirty="0">
                <a:latin typeface="CMR12"/>
              </a:rPr>
              <a:t>Modular MPC enables future expansion without system reengineering.</a:t>
            </a:r>
          </a:p>
          <a:p>
            <a:r>
              <a:rPr lang="en-GB" dirty="0">
                <a:latin typeface="CMR12"/>
              </a:rPr>
              <a:t>This master thesis proposes a flexible and adaptable modular MPC framework.</a:t>
            </a:r>
            <a:endParaRPr lang="en-DE" dirty="0"/>
          </a:p>
        </p:txBody>
      </p:sp>
      <p:sp>
        <p:nvSpPr>
          <p:cNvPr id="3" name="Title 2">
            <a:extLst>
              <a:ext uri="{FF2B5EF4-FFF2-40B4-BE49-F238E27FC236}">
                <a16:creationId xmlns:a16="http://schemas.microsoft.com/office/drawing/2014/main" id="{F5F1C59A-2A6B-C524-3D8B-2C9A3463BB25}"/>
              </a:ext>
            </a:extLst>
          </p:cNvPr>
          <p:cNvSpPr>
            <a:spLocks noGrp="1"/>
          </p:cNvSpPr>
          <p:nvPr>
            <p:ph type="title"/>
          </p:nvPr>
        </p:nvSpPr>
        <p:spPr/>
        <p:txBody>
          <a:bodyPr/>
          <a:lstStyle/>
          <a:p>
            <a:r>
              <a:rPr lang="en-GB" dirty="0"/>
              <a:t>Literature Review</a:t>
            </a:r>
            <a:endParaRPr lang="en-DE" dirty="0"/>
          </a:p>
        </p:txBody>
      </p:sp>
    </p:spTree>
    <p:extLst>
      <p:ext uri="{BB962C8B-B14F-4D97-AF65-F5344CB8AC3E}">
        <p14:creationId xmlns:p14="http://schemas.microsoft.com/office/powerpoint/2010/main" val="1539537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D752B3-38EB-8B60-50ED-5E8C32970C4E}"/>
              </a:ext>
            </a:extLst>
          </p:cNvPr>
          <p:cNvSpPr>
            <a:spLocks noGrp="1"/>
          </p:cNvSpPr>
          <p:nvPr>
            <p:ph type="title"/>
          </p:nvPr>
        </p:nvSpPr>
        <p:spPr/>
        <p:txBody>
          <a:bodyPr/>
          <a:lstStyle/>
          <a:p>
            <a:r>
              <a:rPr lang="en-GB" dirty="0"/>
              <a:t>General Overview of Plant</a:t>
            </a:r>
            <a:endParaRPr lang="en-DE" dirty="0"/>
          </a:p>
        </p:txBody>
      </p:sp>
      <p:pic>
        <p:nvPicPr>
          <p:cNvPr id="4" name="Picture 3" descr="Diagram&#10;&#10;Description automatically generated">
            <a:extLst>
              <a:ext uri="{FF2B5EF4-FFF2-40B4-BE49-F238E27FC236}">
                <a16:creationId xmlns:a16="http://schemas.microsoft.com/office/drawing/2014/main" id="{1BB02594-EB77-4828-AC32-4DC8F5D52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5196" y="1480909"/>
            <a:ext cx="6355498" cy="2852388"/>
          </a:xfrm>
          <a:prstGeom prst="rect">
            <a:avLst/>
          </a:prstGeom>
        </p:spPr>
      </p:pic>
    </p:spTree>
    <p:extLst>
      <p:ext uri="{BB962C8B-B14F-4D97-AF65-F5344CB8AC3E}">
        <p14:creationId xmlns:p14="http://schemas.microsoft.com/office/powerpoint/2010/main" val="3620347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69DA18-2887-7B0E-C2E1-BDAFBC3F36F5}"/>
              </a:ext>
            </a:extLst>
          </p:cNvPr>
          <p:cNvSpPr>
            <a:spLocks noGrp="1"/>
          </p:cNvSpPr>
          <p:nvPr>
            <p:ph type="title"/>
          </p:nvPr>
        </p:nvSpPr>
        <p:spPr/>
        <p:txBody>
          <a:bodyPr/>
          <a:lstStyle/>
          <a:p>
            <a:r>
              <a:rPr lang="en-GB" dirty="0"/>
              <a:t>General Overview of Plant</a:t>
            </a:r>
            <a:endParaRPr lang="en-DE" dirty="0"/>
          </a:p>
        </p:txBody>
      </p:sp>
      <p:pic>
        <p:nvPicPr>
          <p:cNvPr id="149" name="Picture 148" descr="A diagram of a person&#10;&#10;Description automatically generated with low confidence">
            <a:extLst>
              <a:ext uri="{FF2B5EF4-FFF2-40B4-BE49-F238E27FC236}">
                <a16:creationId xmlns:a16="http://schemas.microsoft.com/office/drawing/2014/main" id="{EACD689E-3562-4B74-6E1F-E79FA1E6A8FA}"/>
              </a:ext>
            </a:extLst>
          </p:cNvPr>
          <p:cNvPicPr>
            <a:picLocks noChangeAspect="1"/>
          </p:cNvPicPr>
          <p:nvPr/>
        </p:nvPicPr>
        <p:blipFill>
          <a:blip r:embed="rId2"/>
          <a:stretch>
            <a:fillRect/>
          </a:stretch>
        </p:blipFill>
        <p:spPr>
          <a:xfrm>
            <a:off x="796213" y="777502"/>
            <a:ext cx="7440111" cy="3588495"/>
          </a:xfrm>
          <a:prstGeom prst="rect">
            <a:avLst/>
          </a:prstGeom>
        </p:spPr>
      </p:pic>
    </p:spTree>
    <p:extLst>
      <p:ext uri="{BB962C8B-B14F-4D97-AF65-F5344CB8AC3E}">
        <p14:creationId xmlns:p14="http://schemas.microsoft.com/office/powerpoint/2010/main" val="3724308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DC67C8-0952-8AF6-984D-810F264BCEF2}"/>
              </a:ext>
            </a:extLst>
          </p:cNvPr>
          <p:cNvSpPr>
            <a:spLocks noGrp="1"/>
          </p:cNvSpPr>
          <p:nvPr>
            <p:ph idx="1"/>
          </p:nvPr>
        </p:nvSpPr>
        <p:spPr/>
        <p:txBody>
          <a:bodyPr/>
          <a:lstStyle/>
          <a:p>
            <a:r>
              <a:rPr lang="en-GB" dirty="0"/>
              <a:t>Energy Storage System(ESS) is a necessary component in energy management system.</a:t>
            </a:r>
          </a:p>
          <a:p>
            <a:r>
              <a:rPr lang="en-GB" dirty="0"/>
              <a:t>This system store excess energy during period  of low demand or high renewable energy production.</a:t>
            </a:r>
          </a:p>
          <a:p>
            <a:r>
              <a:rPr lang="en-GB" dirty="0"/>
              <a:t>The stored energy is then utilized during high demand or limited renewable energy availability.</a:t>
            </a:r>
          </a:p>
          <a:p>
            <a:r>
              <a:rPr lang="en-GB" dirty="0"/>
              <a:t>They optimize energy usage and reduce dependency of power from the grid, thus economically beneficial to the consumer. </a:t>
            </a:r>
          </a:p>
        </p:txBody>
      </p:sp>
      <p:sp>
        <p:nvSpPr>
          <p:cNvPr id="3" name="Title 2">
            <a:extLst>
              <a:ext uri="{FF2B5EF4-FFF2-40B4-BE49-F238E27FC236}">
                <a16:creationId xmlns:a16="http://schemas.microsoft.com/office/drawing/2014/main" id="{88C3BE50-FB18-FA10-CF0B-04A4D26C2C39}"/>
              </a:ext>
            </a:extLst>
          </p:cNvPr>
          <p:cNvSpPr>
            <a:spLocks noGrp="1"/>
          </p:cNvSpPr>
          <p:nvPr>
            <p:ph type="title"/>
          </p:nvPr>
        </p:nvSpPr>
        <p:spPr/>
        <p:txBody>
          <a:bodyPr/>
          <a:lstStyle/>
          <a:p>
            <a:r>
              <a:rPr lang="en-GB" dirty="0"/>
              <a:t>Energy Storage System</a:t>
            </a:r>
            <a:endParaRPr lang="en-DE" dirty="0"/>
          </a:p>
        </p:txBody>
      </p:sp>
    </p:spTree>
    <p:extLst>
      <p:ext uri="{BB962C8B-B14F-4D97-AF65-F5344CB8AC3E}">
        <p14:creationId xmlns:p14="http://schemas.microsoft.com/office/powerpoint/2010/main" val="1134917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7BD50E-D5BA-E99A-C7EC-7AE36E3F5350}"/>
              </a:ext>
            </a:extLst>
          </p:cNvPr>
          <p:cNvSpPr>
            <a:spLocks noGrp="1"/>
          </p:cNvSpPr>
          <p:nvPr>
            <p:ph type="title"/>
          </p:nvPr>
        </p:nvSpPr>
        <p:spPr/>
        <p:txBody>
          <a:bodyPr/>
          <a:lstStyle/>
          <a:p>
            <a:r>
              <a:rPr lang="en-GB" dirty="0"/>
              <a:t>Energy Storage System</a:t>
            </a:r>
            <a:endParaRPr lang="en-DE" dirty="0"/>
          </a:p>
        </p:txBody>
      </p:sp>
      <p:grpSp>
        <p:nvGrpSpPr>
          <p:cNvPr id="28" name="Group 27">
            <a:extLst>
              <a:ext uri="{FF2B5EF4-FFF2-40B4-BE49-F238E27FC236}">
                <a16:creationId xmlns:a16="http://schemas.microsoft.com/office/drawing/2014/main" id="{6F24765A-73A5-7CAF-6A36-15AE1C18D868}"/>
              </a:ext>
            </a:extLst>
          </p:cNvPr>
          <p:cNvGrpSpPr/>
          <p:nvPr/>
        </p:nvGrpSpPr>
        <p:grpSpPr>
          <a:xfrm>
            <a:off x="537882" y="1203512"/>
            <a:ext cx="2447365" cy="705970"/>
            <a:chOff x="537882" y="1203512"/>
            <a:chExt cx="2447365" cy="705970"/>
          </a:xfrm>
        </p:grpSpPr>
        <p:sp>
          <p:nvSpPr>
            <p:cNvPr id="13" name="Rectangle 12">
              <a:extLst>
                <a:ext uri="{FF2B5EF4-FFF2-40B4-BE49-F238E27FC236}">
                  <a16:creationId xmlns:a16="http://schemas.microsoft.com/office/drawing/2014/main" id="{39529807-A70D-BF2B-4052-DB42745C9F23}"/>
                </a:ext>
              </a:extLst>
            </p:cNvPr>
            <p:cNvSpPr/>
            <p:nvPr/>
          </p:nvSpPr>
          <p:spPr>
            <a:xfrm>
              <a:off x="537882" y="1203512"/>
              <a:ext cx="2447365" cy="705970"/>
            </a:xfrm>
            <a:prstGeom prst="rect">
              <a:avLst/>
            </a:prstGeom>
            <a:solidFill>
              <a:srgbClr val="FFFF00"/>
            </a:solidFill>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A5D6030-4726-22FF-D2EF-702CF7D5C98C}"/>
                    </a:ext>
                  </a:extLst>
                </p:cNvPr>
                <p:cNvSpPr txBox="1"/>
                <p:nvPr/>
              </p:nvSpPr>
              <p:spPr>
                <a:xfrm>
                  <a:off x="677987" y="1378951"/>
                  <a:ext cx="2187843" cy="351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DE" sz="1200" i="1" smtClean="0">
                                <a:latin typeface="Cambria Math" panose="02040503050406030204" pitchFamily="18" charset="0"/>
                              </a:rPr>
                            </m:ctrlPr>
                          </m:fPr>
                          <m:num>
                            <m:r>
                              <a:rPr lang="en-GB" sz="1200" b="0" i="1" smtClean="0">
                                <a:latin typeface="Cambria Math" panose="02040503050406030204" pitchFamily="18" charset="0"/>
                              </a:rPr>
                              <m:t>𝑑</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𝑠𝑡𝑜</m:t>
                                </m:r>
                              </m:sub>
                            </m:sSub>
                            <m:r>
                              <a:rPr lang="en-GB" sz="1200" b="0" i="1" smtClean="0">
                                <a:latin typeface="Cambria Math" panose="02040503050406030204" pitchFamily="18" charset="0"/>
                              </a:rPr>
                              <m:t>)</m:t>
                            </m:r>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𝑠𝑡𝑜</m:t>
                            </m:r>
                          </m:sub>
                        </m:sSub>
                        <m:r>
                          <a:rPr lang="en-GB" sz="1200" b="0" i="1" smtClean="0">
                            <a:latin typeface="Cambria Math" panose="02040503050406030204" pitchFamily="18" charset="0"/>
                          </a:rPr>
                          <m:t>+</m:t>
                        </m:r>
                        <m:sSub>
                          <m:sSubPr>
                            <m:ctrlPr>
                              <a:rPr lang="en-GB" sz="1200" b="0" i="1" smtClean="0">
                                <a:solidFill>
                                  <a:srgbClr val="FF0000"/>
                                </a:solidFill>
                                <a:latin typeface="Cambria Math" panose="02040503050406030204" pitchFamily="18" charset="0"/>
                              </a:rPr>
                            </m:ctrlPr>
                          </m:sSubPr>
                          <m:e>
                            <m:r>
                              <a:rPr lang="en-GB" sz="1200" b="0" i="1" smtClean="0">
                                <a:solidFill>
                                  <a:srgbClr val="FF0000"/>
                                </a:solidFill>
                                <a:latin typeface="Cambria Math" panose="02040503050406030204" pitchFamily="18" charset="0"/>
                                <a:ea typeface="Cambria Math" panose="02040503050406030204" pitchFamily="18" charset="0"/>
                              </a:rPr>
                              <m:t>𝜂</m:t>
                            </m:r>
                          </m:e>
                          <m:sub>
                            <m:r>
                              <a:rPr lang="en-GB" sz="1200" b="0" i="1" smtClean="0">
                                <a:solidFill>
                                  <a:srgbClr val="FF0000"/>
                                </a:solidFill>
                                <a:latin typeface="Cambria Math" panose="02040503050406030204" pitchFamily="18" charset="0"/>
                              </a:rPr>
                              <m:t>𝑠𝑡𝑜</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𝑠</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𝑠𝑡𝑜</m:t>
                            </m:r>
                          </m:sub>
                        </m:sSub>
                      </m:oMath>
                    </m:oMathPara>
                  </a14:m>
                  <a:endParaRPr lang="en-DE" sz="1200" dirty="0"/>
                </a:p>
              </p:txBody>
            </p:sp>
          </mc:Choice>
          <mc:Fallback xmlns="">
            <p:sp>
              <p:nvSpPr>
                <p:cNvPr id="5" name="TextBox 4">
                  <a:extLst>
                    <a:ext uri="{FF2B5EF4-FFF2-40B4-BE49-F238E27FC236}">
                      <a16:creationId xmlns:a16="http://schemas.microsoft.com/office/drawing/2014/main" id="{BA5D6030-4726-22FF-D2EF-702CF7D5C98C}"/>
                    </a:ext>
                  </a:extLst>
                </p:cNvPr>
                <p:cNvSpPr txBox="1">
                  <a:spLocks noRot="1" noChangeAspect="1" noMove="1" noResize="1" noEditPoints="1" noAdjustHandles="1" noChangeArrowheads="1" noChangeShapeType="1" noTextEdit="1"/>
                </p:cNvSpPr>
                <p:nvPr/>
              </p:nvSpPr>
              <p:spPr>
                <a:xfrm>
                  <a:off x="677987" y="1378951"/>
                  <a:ext cx="2187843" cy="351699"/>
                </a:xfrm>
                <a:prstGeom prst="rect">
                  <a:avLst/>
                </a:prstGeom>
                <a:blipFill>
                  <a:blip r:embed="rId3"/>
                  <a:stretch>
                    <a:fillRect l="-1114" t="-5172" r="-279" b="-15517"/>
                  </a:stretch>
                </a:blipFill>
              </p:spPr>
              <p:txBody>
                <a:bodyPr/>
                <a:lstStyle/>
                <a:p>
                  <a:r>
                    <a:rPr lang="en-DE">
                      <a:noFill/>
                    </a:rPr>
                    <a:t> </a:t>
                  </a:r>
                </a:p>
              </p:txBody>
            </p:sp>
          </mc:Fallback>
        </mc:AlternateContent>
      </p:grpSp>
      <p:sp>
        <p:nvSpPr>
          <p:cNvPr id="2" name="TextBox 1">
            <a:extLst>
              <a:ext uri="{FF2B5EF4-FFF2-40B4-BE49-F238E27FC236}">
                <a16:creationId xmlns:a16="http://schemas.microsoft.com/office/drawing/2014/main" id="{293C5853-D468-1EE2-A989-F4B13B4502A2}"/>
              </a:ext>
            </a:extLst>
          </p:cNvPr>
          <p:cNvSpPr txBox="1"/>
          <p:nvPr/>
        </p:nvSpPr>
        <p:spPr>
          <a:xfrm>
            <a:off x="140755" y="757879"/>
            <a:ext cx="4216860" cy="369332"/>
          </a:xfrm>
          <a:prstGeom prst="rect">
            <a:avLst/>
          </a:prstGeom>
          <a:noFill/>
        </p:spPr>
        <p:txBody>
          <a:bodyPr wrap="none" rtlCol="0">
            <a:spAutoFit/>
          </a:bodyPr>
          <a:lstStyle/>
          <a:p>
            <a:r>
              <a:rPr lang="en-GB" dirty="0">
                <a:effectLst>
                  <a:outerShdw blurRad="38100" dist="38100" dir="2700000" algn="tl">
                    <a:srgbClr val="000000">
                      <a:alpha val="43137"/>
                    </a:srgbClr>
                  </a:outerShdw>
                </a:effectLst>
              </a:rPr>
              <a:t>Dynamic of the energy storage system(ESS)</a:t>
            </a:r>
            <a:endParaRPr lang="en-DE" dirty="0">
              <a:effectLst>
                <a:outerShdw blurRad="38100" dist="38100" dir="2700000" algn="tl">
                  <a:srgbClr val="000000">
                    <a:alpha val="43137"/>
                  </a:srgbClr>
                </a:outerShdw>
              </a:effectLst>
            </a:endParaRPr>
          </a:p>
        </p:txBody>
      </p:sp>
      <p:grpSp>
        <p:nvGrpSpPr>
          <p:cNvPr id="18" name="Group 17">
            <a:extLst>
              <a:ext uri="{FF2B5EF4-FFF2-40B4-BE49-F238E27FC236}">
                <a16:creationId xmlns:a16="http://schemas.microsoft.com/office/drawing/2014/main" id="{B388D13C-D9DF-3AFF-CE9E-8DCCE43FE577}"/>
              </a:ext>
            </a:extLst>
          </p:cNvPr>
          <p:cNvGrpSpPr/>
          <p:nvPr/>
        </p:nvGrpSpPr>
        <p:grpSpPr>
          <a:xfrm>
            <a:off x="3632979" y="1126300"/>
            <a:ext cx="2039170" cy="880783"/>
            <a:chOff x="3139888" y="1095935"/>
            <a:chExt cx="2039170" cy="880783"/>
          </a:xfrm>
        </p:grpSpPr>
        <p:sp>
          <p:nvSpPr>
            <p:cNvPr id="17" name="Rectangle 16">
              <a:extLst>
                <a:ext uri="{FF2B5EF4-FFF2-40B4-BE49-F238E27FC236}">
                  <a16:creationId xmlns:a16="http://schemas.microsoft.com/office/drawing/2014/main" id="{2C7EC189-E650-DABA-8FFE-887A032006C2}"/>
                </a:ext>
              </a:extLst>
            </p:cNvPr>
            <p:cNvSpPr/>
            <p:nvPr/>
          </p:nvSpPr>
          <p:spPr>
            <a:xfrm>
              <a:off x="3139888" y="1095935"/>
              <a:ext cx="2039170" cy="8807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D8A4805-FE3C-FC34-6E2E-5EA0CB31CB66}"/>
                    </a:ext>
                  </a:extLst>
                </p:cNvPr>
                <p:cNvSpPr txBox="1"/>
                <p:nvPr/>
              </p:nvSpPr>
              <p:spPr>
                <a:xfrm>
                  <a:off x="3196234" y="1258247"/>
                  <a:ext cx="1800236" cy="6267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100" i="1" smtClean="0">
                                <a:solidFill>
                                  <a:srgbClr val="FF0000"/>
                                </a:solidFill>
                                <a:latin typeface="Cambria Math" panose="02040503050406030204" pitchFamily="18" charset="0"/>
                              </a:rPr>
                            </m:ctrlPr>
                          </m:sSubPr>
                          <m:e>
                            <m:r>
                              <a:rPr lang="en-DE" sz="1100" i="1" smtClean="0">
                                <a:solidFill>
                                  <a:srgbClr val="FF0000"/>
                                </a:solidFill>
                                <a:latin typeface="Cambria Math" panose="02040503050406030204" pitchFamily="18" charset="0"/>
                                <a:ea typeface="Cambria Math" panose="02040503050406030204" pitchFamily="18" charset="0"/>
                              </a:rPr>
                              <m:t>𝜂</m:t>
                            </m:r>
                          </m:e>
                          <m:sub>
                            <m:r>
                              <a:rPr lang="en-GB" sz="1100" b="0" i="1" smtClean="0">
                                <a:solidFill>
                                  <a:srgbClr val="FF0000"/>
                                </a:solidFill>
                                <a:latin typeface="Cambria Math" panose="02040503050406030204" pitchFamily="18" charset="0"/>
                              </a:rPr>
                              <m:t>𝑠𝑡𝑜</m:t>
                            </m:r>
                          </m:sub>
                        </m:sSub>
                        <m:r>
                          <a:rPr lang="en-GB" sz="1100" b="0" i="1" smtClean="0">
                            <a:latin typeface="Cambria Math" panose="02040503050406030204" pitchFamily="18" charset="0"/>
                          </a:rPr>
                          <m:t>=</m:t>
                        </m:r>
                        <m:d>
                          <m:dPr>
                            <m:begChr m:val="{"/>
                            <m:endChr m:val=""/>
                            <m:ctrlPr>
                              <a:rPr lang="en-GB" sz="1100" b="0" i="1" smtClean="0">
                                <a:latin typeface="Cambria Math" panose="02040503050406030204" pitchFamily="18" charset="0"/>
                              </a:rPr>
                            </m:ctrlPr>
                          </m:dPr>
                          <m:e>
                            <m:m>
                              <m:mPr>
                                <m:mcs>
                                  <m:mc>
                                    <m:mcPr>
                                      <m:count m:val="1"/>
                                      <m:mcJc m:val="center"/>
                                    </m:mcPr>
                                  </m:mc>
                                </m:mcs>
                                <m:ctrlPr>
                                  <a:rPr lang="en-GB" sz="1100" b="0" i="1" smtClean="0">
                                    <a:latin typeface="Cambria Math" panose="02040503050406030204" pitchFamily="18" charset="0"/>
                                  </a:rPr>
                                </m:ctrlPr>
                              </m:mPr>
                              <m:mr>
                                <m:e>
                                  <m:sSub>
                                    <m:sSubPr>
                                      <m:ctrlPr>
                                        <a:rPr lang="en-GB" sz="1100" b="0" i="1" smtClean="0">
                                          <a:latin typeface="Cambria Math" panose="02040503050406030204" pitchFamily="18" charset="0"/>
                                        </a:rPr>
                                      </m:ctrlPr>
                                    </m:sSubPr>
                                    <m:e>
                                      <m:r>
                                        <a:rPr lang="en-GB" sz="1100" b="0" i="1" smtClean="0">
                                          <a:latin typeface="Cambria Math" panose="02040503050406030204" pitchFamily="18" charset="0"/>
                                          <a:ea typeface="Cambria Math" panose="02040503050406030204" pitchFamily="18" charset="0"/>
                                        </a:rPr>
                                        <m:t>𝜂</m:t>
                                      </m:r>
                                    </m:e>
                                    <m:sub>
                                      <m:r>
                                        <a:rPr lang="en-GB" sz="1100" b="0" i="1" smtClean="0">
                                          <a:latin typeface="Cambria Math" panose="02040503050406030204" pitchFamily="18" charset="0"/>
                                        </a:rPr>
                                        <m:t>𝑐h</m:t>
                                      </m:r>
                                    </m:sub>
                                  </m:sSub>
                                  <m:r>
                                    <m:rPr>
                                      <m:brk m:alnAt="7"/>
                                    </m:rPr>
                                    <a:rPr lang="en-GB" sz="1100" b="0" i="1" smtClean="0">
                                      <a:latin typeface="Cambria Math" panose="02040503050406030204" pitchFamily="18" charset="0"/>
                                    </a:rPr>
                                    <m:t>,</m:t>
                                  </m:r>
                                  <m:r>
                                    <a:rPr lang="en-GB" sz="1100" b="0" i="1" smtClean="0">
                                      <a:latin typeface="Cambria Math" panose="02040503050406030204" pitchFamily="18" charset="0"/>
                                    </a:rPr>
                                    <m:t>     </m:t>
                                  </m:r>
                                  <m:r>
                                    <a:rPr lang="en-GB" sz="1100" b="0" i="1" smtClean="0">
                                      <a:latin typeface="Cambria Math" panose="02040503050406030204" pitchFamily="18" charset="0"/>
                                    </a:rPr>
                                    <m:t>𝑖𝑓</m:t>
                                  </m:r>
                                  <m:r>
                                    <a:rPr lang="en-GB" sz="1100" b="0" i="1" smtClean="0">
                                      <a:latin typeface="Cambria Math" panose="02040503050406030204" pitchFamily="18" charset="0"/>
                                    </a:rPr>
                                    <m:t> </m:t>
                                  </m:r>
                                  <m:sSub>
                                    <m:sSubPr>
                                      <m:ctrlPr>
                                        <a:rPr lang="en-GB" sz="1100" b="0" i="1" smtClean="0">
                                          <a:latin typeface="Cambria Math" panose="02040503050406030204" pitchFamily="18" charset="0"/>
                                        </a:rPr>
                                      </m:ctrlPr>
                                    </m:sSubPr>
                                    <m:e>
                                      <m:r>
                                        <a:rPr lang="en-GB" sz="1100" b="0" i="1" smtClean="0">
                                          <a:latin typeface="Cambria Math" panose="02040503050406030204" pitchFamily="18" charset="0"/>
                                        </a:rPr>
                                        <m:t>𝑃</m:t>
                                      </m:r>
                                    </m:e>
                                    <m:sub>
                                      <m:r>
                                        <a:rPr lang="en-GB" sz="1100" b="0" i="1" smtClean="0">
                                          <a:latin typeface="Cambria Math" panose="02040503050406030204" pitchFamily="18" charset="0"/>
                                        </a:rPr>
                                        <m:t>𝑠𝑡𝑜</m:t>
                                      </m:r>
                                    </m:sub>
                                  </m:sSub>
                                  <m:r>
                                    <m:rPr>
                                      <m:brk m:alnAt="7"/>
                                    </m:rPr>
                                    <a:rPr lang="en-GB" sz="1100" b="0" i="1" smtClean="0">
                                      <a:latin typeface="Cambria Math" panose="02040503050406030204" pitchFamily="18" charset="0"/>
                                    </a:rPr>
                                    <m:t>&gt;</m:t>
                                  </m:r>
                                  <m:r>
                                    <a:rPr lang="en-GB" sz="1100" b="0" i="1" smtClean="0">
                                      <a:latin typeface="Cambria Math" panose="02040503050406030204" pitchFamily="18" charset="0"/>
                                    </a:rPr>
                                    <m:t>0</m:t>
                                  </m:r>
                                </m:e>
                              </m:mr>
                              <m:mr>
                                <m:e>
                                  <m:f>
                                    <m:fPr>
                                      <m:ctrlPr>
                                        <a:rPr lang="en-GB" sz="1100" b="0" i="1" smtClean="0">
                                          <a:latin typeface="Cambria Math" panose="02040503050406030204" pitchFamily="18" charset="0"/>
                                        </a:rPr>
                                      </m:ctrlPr>
                                    </m:fPr>
                                    <m:num>
                                      <m:r>
                                        <a:rPr lang="en-GB" sz="1100" b="0" i="1" smtClean="0">
                                          <a:latin typeface="Cambria Math" panose="02040503050406030204" pitchFamily="18" charset="0"/>
                                        </a:rPr>
                                        <m:t>1</m:t>
                                      </m:r>
                                    </m:num>
                                    <m:den>
                                      <m:sSub>
                                        <m:sSubPr>
                                          <m:ctrlPr>
                                            <a:rPr lang="en-GB" sz="1100" b="0" i="1" smtClean="0">
                                              <a:latin typeface="Cambria Math" panose="02040503050406030204" pitchFamily="18" charset="0"/>
                                            </a:rPr>
                                          </m:ctrlPr>
                                        </m:sSubPr>
                                        <m:e>
                                          <m:r>
                                            <a:rPr lang="en-GB" sz="1100" b="0" i="1" smtClean="0">
                                              <a:latin typeface="Cambria Math" panose="02040503050406030204" pitchFamily="18" charset="0"/>
                                              <a:ea typeface="Cambria Math" panose="02040503050406030204" pitchFamily="18" charset="0"/>
                                            </a:rPr>
                                            <m:t>𝜂</m:t>
                                          </m:r>
                                        </m:e>
                                        <m:sub>
                                          <m:r>
                                            <a:rPr lang="en-GB" sz="1100" b="0" i="1" smtClean="0">
                                              <a:latin typeface="Cambria Math" panose="02040503050406030204" pitchFamily="18" charset="0"/>
                                            </a:rPr>
                                            <m:t>𝑑𝑖𝑠</m:t>
                                          </m:r>
                                        </m:sub>
                                      </m:sSub>
                                    </m:den>
                                  </m:f>
                                  <m:r>
                                    <a:rPr lang="en-GB" sz="1100" b="0" i="1" smtClean="0">
                                      <a:latin typeface="Cambria Math" panose="02040503050406030204" pitchFamily="18" charset="0"/>
                                    </a:rPr>
                                    <m:t>,   </m:t>
                                  </m:r>
                                  <m:r>
                                    <a:rPr lang="en-GB" sz="1100" b="0" i="1" smtClean="0">
                                      <a:latin typeface="Cambria Math" panose="02040503050406030204" pitchFamily="18" charset="0"/>
                                    </a:rPr>
                                    <m:t>𝑖𝑓</m:t>
                                  </m:r>
                                  <m:r>
                                    <a:rPr lang="en-GB" sz="1100" b="0" i="1" smtClean="0">
                                      <a:latin typeface="Cambria Math" panose="02040503050406030204" pitchFamily="18" charset="0"/>
                                    </a:rPr>
                                    <m:t> </m:t>
                                  </m:r>
                                  <m:sSub>
                                    <m:sSubPr>
                                      <m:ctrlPr>
                                        <a:rPr lang="en-GB" sz="1100" b="0" i="1" smtClean="0">
                                          <a:latin typeface="Cambria Math" panose="02040503050406030204" pitchFamily="18" charset="0"/>
                                        </a:rPr>
                                      </m:ctrlPr>
                                    </m:sSubPr>
                                    <m:e>
                                      <m:r>
                                        <a:rPr lang="en-GB" sz="1100" b="0" i="1" smtClean="0">
                                          <a:latin typeface="Cambria Math" panose="02040503050406030204" pitchFamily="18" charset="0"/>
                                        </a:rPr>
                                        <m:t>𝑃</m:t>
                                      </m:r>
                                    </m:e>
                                    <m:sub>
                                      <m:r>
                                        <a:rPr lang="en-GB" sz="1100" b="0" i="1" smtClean="0">
                                          <a:latin typeface="Cambria Math" panose="02040503050406030204" pitchFamily="18" charset="0"/>
                                        </a:rPr>
                                        <m:t>𝑠𝑡𝑜</m:t>
                                      </m:r>
                                    </m:sub>
                                  </m:sSub>
                                  <m:r>
                                    <a:rPr lang="en-GB" sz="1100" b="0" i="1" smtClean="0">
                                      <a:latin typeface="Cambria Math" panose="02040503050406030204" pitchFamily="18" charset="0"/>
                                    </a:rPr>
                                    <m:t>&lt;0</m:t>
                                  </m:r>
                                </m:e>
                              </m:mr>
                            </m:m>
                          </m:e>
                        </m:d>
                      </m:oMath>
                    </m:oMathPara>
                  </a14:m>
                  <a:endParaRPr lang="en-DE" sz="1100" dirty="0"/>
                </a:p>
              </p:txBody>
            </p:sp>
          </mc:Choice>
          <mc:Fallback xmlns="">
            <p:sp>
              <p:nvSpPr>
                <p:cNvPr id="11" name="TextBox 10">
                  <a:extLst>
                    <a:ext uri="{FF2B5EF4-FFF2-40B4-BE49-F238E27FC236}">
                      <a16:creationId xmlns:a16="http://schemas.microsoft.com/office/drawing/2014/main" id="{6D8A4805-FE3C-FC34-6E2E-5EA0CB31CB66}"/>
                    </a:ext>
                  </a:extLst>
                </p:cNvPr>
                <p:cNvSpPr txBox="1">
                  <a:spLocks noRot="1" noChangeAspect="1" noMove="1" noResize="1" noEditPoints="1" noAdjustHandles="1" noChangeArrowheads="1" noChangeShapeType="1" noTextEdit="1"/>
                </p:cNvSpPr>
                <p:nvPr/>
              </p:nvSpPr>
              <p:spPr>
                <a:xfrm>
                  <a:off x="3196234" y="1258247"/>
                  <a:ext cx="1800236" cy="626775"/>
                </a:xfrm>
                <a:prstGeom prst="rect">
                  <a:avLst/>
                </a:prstGeom>
                <a:blipFill>
                  <a:blip r:embed="rId4"/>
                  <a:stretch>
                    <a:fillRect/>
                  </a:stretch>
                </a:blipFill>
              </p:spPr>
              <p:txBody>
                <a:bodyPr/>
                <a:lstStyle/>
                <a:p>
                  <a:r>
                    <a:rPr lang="en-DE">
                      <a:noFill/>
                    </a:rPr>
                    <a:t> </a:t>
                  </a:r>
                </a:p>
              </p:txBody>
            </p:sp>
          </mc:Fallback>
        </mc:AlternateContent>
      </p:grpSp>
      <p:grpSp>
        <p:nvGrpSpPr>
          <p:cNvPr id="34" name="Group 33">
            <a:extLst>
              <a:ext uri="{FF2B5EF4-FFF2-40B4-BE49-F238E27FC236}">
                <a16:creationId xmlns:a16="http://schemas.microsoft.com/office/drawing/2014/main" id="{6FC3E051-4D08-F8F2-E132-5C42B60DEBD7}"/>
              </a:ext>
            </a:extLst>
          </p:cNvPr>
          <p:cNvGrpSpPr/>
          <p:nvPr/>
        </p:nvGrpSpPr>
        <p:grpSpPr>
          <a:xfrm>
            <a:off x="5862002" y="824993"/>
            <a:ext cx="3279510" cy="1506070"/>
            <a:chOff x="5655889" y="921124"/>
            <a:chExt cx="3279510" cy="1506070"/>
          </a:xfrm>
        </p:grpSpPr>
        <p:sp>
          <p:nvSpPr>
            <p:cNvPr id="12" name="Rectangle 11">
              <a:extLst>
                <a:ext uri="{FF2B5EF4-FFF2-40B4-BE49-F238E27FC236}">
                  <a16:creationId xmlns:a16="http://schemas.microsoft.com/office/drawing/2014/main" id="{80152D04-99B2-B57F-BBA0-EA9C528D2B3F}"/>
                </a:ext>
              </a:extLst>
            </p:cNvPr>
            <p:cNvSpPr/>
            <p:nvPr/>
          </p:nvSpPr>
          <p:spPr>
            <a:xfrm>
              <a:off x="5655889" y="921124"/>
              <a:ext cx="3213229" cy="15060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74F9ACF-FDCA-915F-C4CA-CB6F8E77A340}"/>
                    </a:ext>
                  </a:extLst>
                </p:cNvPr>
                <p:cNvSpPr txBox="1"/>
                <p:nvPr/>
              </p:nvSpPr>
              <p:spPr>
                <a:xfrm>
                  <a:off x="5746916" y="1048106"/>
                  <a:ext cx="2655794"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𝑠𝑡𝑜</m:t>
                            </m:r>
                          </m:sub>
                        </m:sSub>
                        <m:r>
                          <a:rPr lang="en-GB" sz="1200" b="0" i="1" smtClean="0">
                            <a:latin typeface="Cambria Math" panose="02040503050406030204" pitchFamily="18" charset="0"/>
                          </a:rPr>
                          <m:t>=</m:t>
                        </m:r>
                        <m:r>
                          <a:rPr lang="en-GB" sz="1200" b="0" i="1" smtClean="0">
                            <a:latin typeface="Cambria Math" panose="02040503050406030204" pitchFamily="18" charset="0"/>
                          </a:rPr>
                          <m:t>𝑃𝑜𝑤𝑒𝑟</m:t>
                        </m:r>
                        <m:r>
                          <a:rPr lang="en-GB" sz="1200" b="0" i="1" smtClean="0">
                            <a:latin typeface="Cambria Math" panose="02040503050406030204" pitchFamily="18" charset="0"/>
                          </a:rPr>
                          <m:t> </m:t>
                        </m:r>
                        <m:r>
                          <a:rPr lang="en-GB" sz="1200" b="0" i="1" smtClean="0">
                            <a:latin typeface="Cambria Math" panose="02040503050406030204" pitchFamily="18" charset="0"/>
                          </a:rPr>
                          <m:t>𝑎𝑝𝑝𝑙𝑖𝑒𝑑</m:t>
                        </m:r>
                        <m:r>
                          <a:rPr lang="en-GB" sz="1200" b="0" i="1" smtClean="0">
                            <a:latin typeface="Cambria Math" panose="02040503050406030204" pitchFamily="18" charset="0"/>
                          </a:rPr>
                          <m:t> </m:t>
                        </m:r>
                        <m:r>
                          <a:rPr lang="en-GB" sz="1200" b="0" i="1" smtClean="0">
                            <a:latin typeface="Cambria Math" panose="02040503050406030204" pitchFamily="18" charset="0"/>
                          </a:rPr>
                          <m:t>𝑡𝑜</m:t>
                        </m:r>
                        <m:r>
                          <a:rPr lang="en-GB" sz="1200" b="0" i="1" smtClean="0">
                            <a:latin typeface="Cambria Math" panose="02040503050406030204" pitchFamily="18" charset="0"/>
                          </a:rPr>
                          <m:t> </m:t>
                        </m:r>
                        <m:r>
                          <a:rPr lang="en-GB" sz="1200" b="0" i="1" smtClean="0">
                            <a:latin typeface="Cambria Math" panose="02040503050406030204" pitchFamily="18" charset="0"/>
                          </a:rPr>
                          <m:t>𝑡h𝑒</m:t>
                        </m:r>
                        <m:r>
                          <a:rPr lang="en-GB" sz="1200" b="0" i="1" smtClean="0">
                            <a:latin typeface="Cambria Math" panose="02040503050406030204" pitchFamily="18" charset="0"/>
                          </a:rPr>
                          <m:t> </m:t>
                        </m:r>
                        <m:r>
                          <a:rPr lang="en-GB" sz="1200" b="0" i="1" smtClean="0">
                            <a:latin typeface="Cambria Math" panose="02040503050406030204" pitchFamily="18" charset="0"/>
                          </a:rPr>
                          <m:t>𝐸𝑆𝑆</m:t>
                        </m:r>
                      </m:oMath>
                    </m:oMathPara>
                  </a14:m>
                  <a:endParaRPr lang="en-DE" sz="1200" dirty="0"/>
                </a:p>
              </p:txBody>
            </p:sp>
          </mc:Choice>
          <mc:Fallback xmlns="">
            <p:sp>
              <p:nvSpPr>
                <p:cNvPr id="6" name="TextBox 5">
                  <a:extLst>
                    <a:ext uri="{FF2B5EF4-FFF2-40B4-BE49-F238E27FC236}">
                      <a16:creationId xmlns:a16="http://schemas.microsoft.com/office/drawing/2014/main" id="{174F9ACF-FDCA-915F-C4CA-CB6F8E77A340}"/>
                    </a:ext>
                  </a:extLst>
                </p:cNvPr>
                <p:cNvSpPr txBox="1">
                  <a:spLocks noRot="1" noChangeAspect="1" noMove="1" noResize="1" noEditPoints="1" noAdjustHandles="1" noChangeArrowheads="1" noChangeShapeType="1" noTextEdit="1"/>
                </p:cNvSpPr>
                <p:nvPr/>
              </p:nvSpPr>
              <p:spPr>
                <a:xfrm>
                  <a:off x="5746916" y="1048106"/>
                  <a:ext cx="2655794" cy="276999"/>
                </a:xfrm>
                <a:prstGeom prst="rect">
                  <a:avLst/>
                </a:prstGeom>
                <a:blipFill>
                  <a:blip r:embed="rId5"/>
                  <a:stretch>
                    <a:fillRect b="-4348"/>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D147C93-9B34-A1C2-3BFE-925B06423C85}"/>
                    </a:ext>
                  </a:extLst>
                </p:cNvPr>
                <p:cNvSpPr txBox="1"/>
                <p:nvPr/>
              </p:nvSpPr>
              <p:spPr>
                <a:xfrm>
                  <a:off x="5656039" y="1423582"/>
                  <a:ext cx="327936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𝜂</m:t>
                            </m:r>
                          </m:e>
                          <m:sub>
                            <m:r>
                              <a:rPr lang="en-GB" sz="1200" b="0" i="1" smtClean="0">
                                <a:latin typeface="Cambria Math" panose="02040503050406030204" pitchFamily="18" charset="0"/>
                              </a:rPr>
                              <m:t>𝑠𝑡𝑜</m:t>
                            </m:r>
                          </m:sub>
                        </m:sSub>
                        <m:r>
                          <a:rPr lang="en-GB" sz="1200" b="0" i="1" smtClean="0">
                            <a:latin typeface="Cambria Math" panose="02040503050406030204" pitchFamily="18" charset="0"/>
                          </a:rPr>
                          <m:t>=</m:t>
                        </m:r>
                        <m:r>
                          <a:rPr lang="en-GB" sz="1200" b="0" i="1" smtClean="0">
                            <a:latin typeface="Cambria Math" panose="02040503050406030204" pitchFamily="18" charset="0"/>
                          </a:rPr>
                          <m:t>𝑐h𝑎𝑟𝑔𝑖𝑛𝑔</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𝑑𝑖𝑠𝑐h𝑎𝑟𝑔𝑖𝑛𝑔</m:t>
                        </m:r>
                        <m:r>
                          <a:rPr lang="en-GB" sz="1200" b="0" i="1" smtClean="0">
                            <a:latin typeface="Cambria Math" panose="02040503050406030204" pitchFamily="18" charset="0"/>
                          </a:rPr>
                          <m:t> </m:t>
                        </m:r>
                        <m:r>
                          <a:rPr lang="en-GB" sz="1200" b="0" i="1" smtClean="0">
                            <a:latin typeface="Cambria Math" panose="02040503050406030204" pitchFamily="18" charset="0"/>
                          </a:rPr>
                          <m:t>𝑐𝑜𝑒𝑓𝑓𝑖𝑐𝑖𝑒𝑛𝑡</m:t>
                        </m:r>
                      </m:oMath>
                    </m:oMathPara>
                  </a14:m>
                  <a:endParaRPr lang="en-DE" sz="1200" dirty="0"/>
                </a:p>
              </p:txBody>
            </p:sp>
          </mc:Choice>
          <mc:Fallback xmlns="">
            <p:sp>
              <p:nvSpPr>
                <p:cNvPr id="8" name="TextBox 7">
                  <a:extLst>
                    <a:ext uri="{FF2B5EF4-FFF2-40B4-BE49-F238E27FC236}">
                      <a16:creationId xmlns:a16="http://schemas.microsoft.com/office/drawing/2014/main" id="{4D147C93-9B34-A1C2-3BFE-925B06423C85}"/>
                    </a:ext>
                  </a:extLst>
                </p:cNvPr>
                <p:cNvSpPr txBox="1">
                  <a:spLocks noRot="1" noChangeAspect="1" noMove="1" noResize="1" noEditPoints="1" noAdjustHandles="1" noChangeArrowheads="1" noChangeShapeType="1" noTextEdit="1"/>
                </p:cNvSpPr>
                <p:nvPr/>
              </p:nvSpPr>
              <p:spPr>
                <a:xfrm>
                  <a:off x="5656039" y="1423582"/>
                  <a:ext cx="3279360" cy="276999"/>
                </a:xfrm>
                <a:prstGeom prst="rect">
                  <a:avLst/>
                </a:prstGeom>
                <a:blipFill>
                  <a:blip r:embed="rId6"/>
                  <a:stretch>
                    <a:fillRect b="-4444"/>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14A126A-6CA4-2DA1-0761-293A8CDC1C0B}"/>
                    </a:ext>
                  </a:extLst>
                </p:cNvPr>
                <p:cNvSpPr txBox="1"/>
                <p:nvPr/>
              </p:nvSpPr>
              <p:spPr>
                <a:xfrm>
                  <a:off x="5746916" y="1788253"/>
                  <a:ext cx="1754841"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𝑠</m:t>
                            </m:r>
                          </m:sub>
                        </m:sSub>
                        <m:r>
                          <a:rPr lang="en-GB" sz="1200" b="0" i="1" smtClean="0">
                            <a:latin typeface="Cambria Math" panose="02040503050406030204" pitchFamily="18" charset="0"/>
                          </a:rPr>
                          <m:t>=</m:t>
                        </m:r>
                        <m:r>
                          <a:rPr lang="en-GB" sz="1200" b="0" i="1" smtClean="0">
                            <a:latin typeface="Cambria Math" panose="02040503050406030204" pitchFamily="18" charset="0"/>
                          </a:rPr>
                          <m:t>𝑆𝑎𝑚𝑝𝑙𝑖𝑛𝑔</m:t>
                        </m:r>
                        <m:r>
                          <a:rPr lang="en-GB" sz="1200" b="0" i="1" smtClean="0">
                            <a:latin typeface="Cambria Math" panose="02040503050406030204" pitchFamily="18" charset="0"/>
                          </a:rPr>
                          <m:t> </m:t>
                        </m:r>
                        <m:r>
                          <a:rPr lang="en-GB" sz="1200" b="0" i="1" smtClean="0">
                            <a:latin typeface="Cambria Math" panose="02040503050406030204" pitchFamily="18" charset="0"/>
                          </a:rPr>
                          <m:t>𝑡𝑖𝑚𝑒</m:t>
                        </m:r>
                      </m:oMath>
                    </m:oMathPara>
                  </a14:m>
                  <a:endParaRPr lang="en-DE" sz="1200" dirty="0"/>
                </a:p>
              </p:txBody>
            </p:sp>
          </mc:Choice>
          <mc:Fallback xmlns="">
            <p:sp>
              <p:nvSpPr>
                <p:cNvPr id="10" name="TextBox 9">
                  <a:extLst>
                    <a:ext uri="{FF2B5EF4-FFF2-40B4-BE49-F238E27FC236}">
                      <a16:creationId xmlns:a16="http://schemas.microsoft.com/office/drawing/2014/main" id="{C14A126A-6CA4-2DA1-0761-293A8CDC1C0B}"/>
                    </a:ext>
                  </a:extLst>
                </p:cNvPr>
                <p:cNvSpPr txBox="1">
                  <a:spLocks noRot="1" noChangeAspect="1" noMove="1" noResize="1" noEditPoints="1" noAdjustHandles="1" noChangeArrowheads="1" noChangeShapeType="1" noTextEdit="1"/>
                </p:cNvSpPr>
                <p:nvPr/>
              </p:nvSpPr>
              <p:spPr>
                <a:xfrm>
                  <a:off x="5746916" y="1788253"/>
                  <a:ext cx="1754841" cy="276999"/>
                </a:xfrm>
                <a:prstGeom prst="rect">
                  <a:avLst/>
                </a:prstGeom>
                <a:blipFill>
                  <a:blip r:embed="rId7"/>
                  <a:stretch>
                    <a:fillRect b="-4444"/>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28C72D9-4993-2D09-D4AD-3A780BF4BBD2}"/>
                    </a:ext>
                  </a:extLst>
                </p:cNvPr>
                <p:cNvSpPr txBox="1"/>
                <p:nvPr/>
              </p:nvSpPr>
              <p:spPr>
                <a:xfrm>
                  <a:off x="5691208" y="2133628"/>
                  <a:ext cx="1991866"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200" b="0" i="1" smtClean="0">
                            <a:solidFill>
                              <a:srgbClr val="00B050"/>
                            </a:solidFill>
                            <a:latin typeface="Cambria Math" panose="02040503050406030204" pitchFamily="18" charset="0"/>
                            <a:ea typeface="Cambria Math" panose="02040503050406030204" pitchFamily="18" charset="0"/>
                          </a:rPr>
                          <m:t>𝛿</m:t>
                        </m:r>
                        <m:d>
                          <m:dPr>
                            <m:ctrlPr>
                              <a:rPr lang="en-GB" sz="1200" b="0" i="1" smtClean="0">
                                <a:solidFill>
                                  <a:srgbClr val="00B050"/>
                                </a:solidFill>
                                <a:latin typeface="Cambria Math" panose="02040503050406030204" pitchFamily="18" charset="0"/>
                                <a:ea typeface="Cambria Math" panose="02040503050406030204" pitchFamily="18" charset="0"/>
                              </a:rPr>
                            </m:ctrlPr>
                          </m:dPr>
                          <m:e>
                            <m:r>
                              <a:rPr lang="en-GB" sz="1200" b="0" i="1" smtClean="0">
                                <a:solidFill>
                                  <a:srgbClr val="00B050"/>
                                </a:solidFill>
                                <a:latin typeface="Cambria Math" panose="02040503050406030204" pitchFamily="18" charset="0"/>
                                <a:ea typeface="Cambria Math" panose="02040503050406030204" pitchFamily="18" charset="0"/>
                              </a:rPr>
                              <m:t>𝑡</m:t>
                            </m:r>
                          </m:e>
                        </m:d>
                        <m:r>
                          <a:rPr lang="en-GB" sz="1200" b="0" i="1" smtClean="0">
                            <a:solidFill>
                              <a:schemeClr val="tx1"/>
                            </a:solidFill>
                            <a:latin typeface="Cambria Math" panose="02040503050406030204" pitchFamily="18" charset="0"/>
                            <a:ea typeface="Cambria Math" panose="02040503050406030204" pitchFamily="18" charset="0"/>
                          </a:rPr>
                          <m:t>=</m:t>
                        </m:r>
                        <m:r>
                          <a:rPr lang="en-GB" sz="1200" b="0" i="1" smtClean="0">
                            <a:solidFill>
                              <a:schemeClr val="tx1"/>
                            </a:solidFill>
                            <a:latin typeface="Cambria Math" panose="02040503050406030204" pitchFamily="18" charset="0"/>
                            <a:ea typeface="Cambria Math" panose="02040503050406030204" pitchFamily="18" charset="0"/>
                          </a:rPr>
                          <m:t>𝐵𝑖𝑛𝑎𝑟𝑦</m:t>
                        </m:r>
                        <m:r>
                          <a:rPr lang="en-GB" sz="1200" b="0" i="1" smtClean="0">
                            <a:solidFill>
                              <a:schemeClr val="tx1"/>
                            </a:solidFill>
                            <a:latin typeface="Cambria Math" panose="02040503050406030204" pitchFamily="18" charset="0"/>
                            <a:ea typeface="Cambria Math" panose="02040503050406030204" pitchFamily="18" charset="0"/>
                          </a:rPr>
                          <m:t> </m:t>
                        </m:r>
                        <m:r>
                          <a:rPr lang="en-GB" sz="1200" b="0" i="1" smtClean="0">
                            <a:solidFill>
                              <a:schemeClr val="tx1"/>
                            </a:solidFill>
                            <a:latin typeface="Cambria Math" panose="02040503050406030204" pitchFamily="18" charset="0"/>
                            <a:ea typeface="Cambria Math" panose="02040503050406030204" pitchFamily="18" charset="0"/>
                          </a:rPr>
                          <m:t>𝑜𝑝𝑒𝑟𝑎𝑡𝑜𝑟</m:t>
                        </m:r>
                      </m:oMath>
                    </m:oMathPara>
                  </a14:m>
                  <a:endParaRPr lang="en-DE" sz="1200" dirty="0">
                    <a:solidFill>
                      <a:schemeClr val="tx1"/>
                    </a:solidFill>
                  </a:endParaRPr>
                </a:p>
              </p:txBody>
            </p:sp>
          </mc:Choice>
          <mc:Fallback xmlns="">
            <p:sp>
              <p:nvSpPr>
                <p:cNvPr id="16" name="TextBox 15">
                  <a:extLst>
                    <a:ext uri="{FF2B5EF4-FFF2-40B4-BE49-F238E27FC236}">
                      <a16:creationId xmlns:a16="http://schemas.microsoft.com/office/drawing/2014/main" id="{B28C72D9-4993-2D09-D4AD-3A780BF4BBD2}"/>
                    </a:ext>
                  </a:extLst>
                </p:cNvPr>
                <p:cNvSpPr txBox="1">
                  <a:spLocks noRot="1" noChangeAspect="1" noMove="1" noResize="1" noEditPoints="1" noAdjustHandles="1" noChangeArrowheads="1" noChangeShapeType="1" noTextEdit="1"/>
                </p:cNvSpPr>
                <p:nvPr/>
              </p:nvSpPr>
              <p:spPr>
                <a:xfrm>
                  <a:off x="5691208" y="2133628"/>
                  <a:ext cx="1991866" cy="276999"/>
                </a:xfrm>
                <a:prstGeom prst="rect">
                  <a:avLst/>
                </a:prstGeom>
                <a:blipFill>
                  <a:blip r:embed="rId8"/>
                  <a:stretch>
                    <a:fillRect b="-2174"/>
                  </a:stretch>
                </a:blipFill>
              </p:spPr>
              <p:txBody>
                <a:bodyPr/>
                <a:lstStyle/>
                <a:p>
                  <a:r>
                    <a:rPr lang="en-DE">
                      <a:noFill/>
                    </a:rPr>
                    <a:t> </a:t>
                  </a:r>
                </a:p>
              </p:txBody>
            </p:sp>
          </mc:Fallback>
        </mc:AlternateContent>
      </p:grpSp>
      <p:grpSp>
        <p:nvGrpSpPr>
          <p:cNvPr id="19" name="Group 18">
            <a:extLst>
              <a:ext uri="{FF2B5EF4-FFF2-40B4-BE49-F238E27FC236}">
                <a16:creationId xmlns:a16="http://schemas.microsoft.com/office/drawing/2014/main" id="{BBF7CAC9-0609-82A4-5CC0-6B9A94080FA1}"/>
              </a:ext>
            </a:extLst>
          </p:cNvPr>
          <p:cNvGrpSpPr/>
          <p:nvPr/>
        </p:nvGrpSpPr>
        <p:grpSpPr>
          <a:xfrm>
            <a:off x="6648807" y="3437724"/>
            <a:ext cx="2039170" cy="880783"/>
            <a:chOff x="3096612" y="1131242"/>
            <a:chExt cx="2039170" cy="880783"/>
          </a:xfrm>
        </p:grpSpPr>
        <p:sp>
          <p:nvSpPr>
            <p:cNvPr id="20" name="Rectangle 19">
              <a:extLst>
                <a:ext uri="{FF2B5EF4-FFF2-40B4-BE49-F238E27FC236}">
                  <a16:creationId xmlns:a16="http://schemas.microsoft.com/office/drawing/2014/main" id="{FBA1643F-DBEE-4FAE-2EAE-FEBF0275358E}"/>
                </a:ext>
              </a:extLst>
            </p:cNvPr>
            <p:cNvSpPr/>
            <p:nvPr/>
          </p:nvSpPr>
          <p:spPr>
            <a:xfrm>
              <a:off x="3096612" y="1131242"/>
              <a:ext cx="2039170" cy="8807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9FE32D4-DE09-116E-91BB-88D4AB6DB4E6}"/>
                    </a:ext>
                  </a:extLst>
                </p:cNvPr>
                <p:cNvSpPr txBox="1"/>
                <p:nvPr/>
              </p:nvSpPr>
              <p:spPr>
                <a:xfrm>
                  <a:off x="3196234" y="1258247"/>
                  <a:ext cx="1839926" cy="6267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100" i="1" smtClean="0">
                                <a:solidFill>
                                  <a:srgbClr val="00B0F0"/>
                                </a:solidFill>
                                <a:latin typeface="Cambria Math" panose="02040503050406030204" pitchFamily="18" charset="0"/>
                              </a:rPr>
                            </m:ctrlPr>
                          </m:sSubPr>
                          <m:e>
                            <m:r>
                              <a:rPr lang="en-DE" sz="1100" i="1" smtClean="0">
                                <a:solidFill>
                                  <a:srgbClr val="00B0F0"/>
                                </a:solidFill>
                                <a:latin typeface="Cambria Math" panose="02040503050406030204" pitchFamily="18" charset="0"/>
                                <a:ea typeface="Cambria Math" panose="02040503050406030204" pitchFamily="18" charset="0"/>
                              </a:rPr>
                              <m:t>𝜂</m:t>
                            </m:r>
                          </m:e>
                          <m:sub>
                            <m:r>
                              <a:rPr lang="en-GB" sz="1100" b="0" i="1" smtClean="0">
                                <a:solidFill>
                                  <a:srgbClr val="00B0F0"/>
                                </a:solidFill>
                                <a:latin typeface="Cambria Math" panose="02040503050406030204" pitchFamily="18" charset="0"/>
                              </a:rPr>
                              <m:t>𝑠𝑡𝑜</m:t>
                            </m:r>
                          </m:sub>
                        </m:sSub>
                        <m:r>
                          <a:rPr lang="en-GB" sz="1100" b="0" i="1" smtClean="0">
                            <a:latin typeface="Cambria Math" panose="02040503050406030204" pitchFamily="18" charset="0"/>
                          </a:rPr>
                          <m:t>=</m:t>
                        </m:r>
                        <m:d>
                          <m:dPr>
                            <m:begChr m:val="{"/>
                            <m:endChr m:val=""/>
                            <m:ctrlPr>
                              <a:rPr lang="en-GB" sz="1100" b="0" i="1" smtClean="0">
                                <a:latin typeface="Cambria Math" panose="02040503050406030204" pitchFamily="18" charset="0"/>
                              </a:rPr>
                            </m:ctrlPr>
                          </m:dPr>
                          <m:e>
                            <m:m>
                              <m:mPr>
                                <m:mcs>
                                  <m:mc>
                                    <m:mcPr>
                                      <m:count m:val="1"/>
                                      <m:mcJc m:val="center"/>
                                    </m:mcPr>
                                  </m:mc>
                                </m:mcs>
                                <m:ctrlPr>
                                  <a:rPr lang="en-GB" sz="1100" b="0" i="1" smtClean="0">
                                    <a:latin typeface="Cambria Math" panose="02040503050406030204" pitchFamily="18" charset="0"/>
                                  </a:rPr>
                                </m:ctrlPr>
                              </m:mPr>
                              <m:mr>
                                <m:e>
                                  <m:sSub>
                                    <m:sSubPr>
                                      <m:ctrlPr>
                                        <a:rPr lang="en-GB" sz="1100" b="0" i="1" smtClean="0">
                                          <a:latin typeface="Cambria Math" panose="02040503050406030204" pitchFamily="18" charset="0"/>
                                        </a:rPr>
                                      </m:ctrlPr>
                                    </m:sSubPr>
                                    <m:e>
                                      <m:r>
                                        <a:rPr lang="en-GB" sz="1100" b="0" i="1" smtClean="0">
                                          <a:latin typeface="Cambria Math" panose="02040503050406030204" pitchFamily="18" charset="0"/>
                                          <a:ea typeface="Cambria Math" panose="02040503050406030204" pitchFamily="18" charset="0"/>
                                        </a:rPr>
                                        <m:t>𝜂</m:t>
                                      </m:r>
                                    </m:e>
                                    <m:sub>
                                      <m:r>
                                        <a:rPr lang="en-GB" sz="1100" b="0" i="1" smtClean="0">
                                          <a:latin typeface="Cambria Math" panose="02040503050406030204" pitchFamily="18" charset="0"/>
                                        </a:rPr>
                                        <m:t>𝑠𝑡𝑜</m:t>
                                      </m:r>
                                    </m:sub>
                                  </m:sSub>
                                  <m:r>
                                    <m:rPr>
                                      <m:brk m:alnAt="7"/>
                                    </m:rPr>
                                    <a:rPr lang="en-GB" sz="1100" b="0" i="1" smtClean="0">
                                      <a:latin typeface="Cambria Math" panose="02040503050406030204" pitchFamily="18" charset="0"/>
                                    </a:rPr>
                                    <m:t>,</m:t>
                                  </m:r>
                                  <m:r>
                                    <a:rPr lang="en-GB" sz="1100" b="0" i="1" smtClean="0">
                                      <a:latin typeface="Cambria Math" panose="02040503050406030204" pitchFamily="18" charset="0"/>
                                    </a:rPr>
                                    <m:t>     </m:t>
                                  </m:r>
                                  <m:r>
                                    <a:rPr lang="en-GB" sz="1100" b="0" i="1" smtClean="0">
                                      <a:latin typeface="Cambria Math" panose="02040503050406030204" pitchFamily="18" charset="0"/>
                                    </a:rPr>
                                    <m:t>𝑖𝑓</m:t>
                                  </m:r>
                                  <m:r>
                                    <a:rPr lang="en-GB" sz="1100" b="0" i="1" smtClean="0">
                                      <a:latin typeface="Cambria Math" panose="02040503050406030204" pitchFamily="18" charset="0"/>
                                    </a:rPr>
                                    <m:t> </m:t>
                                  </m:r>
                                  <m:sSub>
                                    <m:sSubPr>
                                      <m:ctrlPr>
                                        <a:rPr lang="en-GB" sz="1100" b="0" i="1" smtClean="0">
                                          <a:latin typeface="Cambria Math" panose="02040503050406030204" pitchFamily="18" charset="0"/>
                                        </a:rPr>
                                      </m:ctrlPr>
                                    </m:sSubPr>
                                    <m:e>
                                      <m:r>
                                        <a:rPr lang="en-GB" sz="1100" b="0" i="1" smtClean="0">
                                          <a:latin typeface="Cambria Math" panose="02040503050406030204" pitchFamily="18" charset="0"/>
                                        </a:rPr>
                                        <m:t>𝑃</m:t>
                                      </m:r>
                                    </m:e>
                                    <m:sub>
                                      <m:r>
                                        <a:rPr lang="en-GB" sz="1100" b="0" i="1" smtClean="0">
                                          <a:latin typeface="Cambria Math" panose="02040503050406030204" pitchFamily="18" charset="0"/>
                                        </a:rPr>
                                        <m:t>𝑠𝑡𝑜</m:t>
                                      </m:r>
                                    </m:sub>
                                  </m:sSub>
                                  <m:r>
                                    <m:rPr>
                                      <m:brk m:alnAt="7"/>
                                    </m:rPr>
                                    <a:rPr lang="en-GB" sz="1100" b="0" i="1" smtClean="0">
                                      <a:latin typeface="Cambria Math" panose="02040503050406030204" pitchFamily="18" charset="0"/>
                                    </a:rPr>
                                    <m:t>&gt;</m:t>
                                  </m:r>
                                  <m:r>
                                    <a:rPr lang="en-GB" sz="1100" b="0" i="1" smtClean="0">
                                      <a:latin typeface="Cambria Math" panose="02040503050406030204" pitchFamily="18" charset="0"/>
                                    </a:rPr>
                                    <m:t>0</m:t>
                                  </m:r>
                                </m:e>
                              </m:mr>
                              <m:mr>
                                <m:e>
                                  <m:f>
                                    <m:fPr>
                                      <m:ctrlPr>
                                        <a:rPr lang="en-GB" sz="1100" b="0" i="1" smtClean="0">
                                          <a:latin typeface="Cambria Math" panose="02040503050406030204" pitchFamily="18" charset="0"/>
                                        </a:rPr>
                                      </m:ctrlPr>
                                    </m:fPr>
                                    <m:num>
                                      <m:r>
                                        <a:rPr lang="en-GB" sz="1100" b="0" i="1" smtClean="0">
                                          <a:latin typeface="Cambria Math" panose="02040503050406030204" pitchFamily="18" charset="0"/>
                                        </a:rPr>
                                        <m:t>1</m:t>
                                      </m:r>
                                    </m:num>
                                    <m:den>
                                      <m:sSub>
                                        <m:sSubPr>
                                          <m:ctrlPr>
                                            <a:rPr lang="en-GB" sz="1100" b="0" i="1" smtClean="0">
                                              <a:latin typeface="Cambria Math" panose="02040503050406030204" pitchFamily="18" charset="0"/>
                                            </a:rPr>
                                          </m:ctrlPr>
                                        </m:sSubPr>
                                        <m:e>
                                          <m:r>
                                            <a:rPr lang="en-GB" sz="1100" b="0" i="1" smtClean="0">
                                              <a:latin typeface="Cambria Math" panose="02040503050406030204" pitchFamily="18" charset="0"/>
                                              <a:ea typeface="Cambria Math" panose="02040503050406030204" pitchFamily="18" charset="0"/>
                                            </a:rPr>
                                            <m:t>𝜂</m:t>
                                          </m:r>
                                        </m:e>
                                        <m:sub>
                                          <m:r>
                                            <a:rPr lang="en-GB" sz="1100" b="0" i="1" smtClean="0">
                                              <a:latin typeface="Cambria Math" panose="02040503050406030204" pitchFamily="18" charset="0"/>
                                            </a:rPr>
                                            <m:t>𝑠𝑡𝑜</m:t>
                                          </m:r>
                                        </m:sub>
                                      </m:sSub>
                                    </m:den>
                                  </m:f>
                                  <m:r>
                                    <a:rPr lang="en-GB" sz="1100" b="0" i="1" smtClean="0">
                                      <a:latin typeface="Cambria Math" panose="02040503050406030204" pitchFamily="18" charset="0"/>
                                    </a:rPr>
                                    <m:t>,   </m:t>
                                  </m:r>
                                  <m:r>
                                    <a:rPr lang="en-GB" sz="1100" b="0" i="1" smtClean="0">
                                      <a:latin typeface="Cambria Math" panose="02040503050406030204" pitchFamily="18" charset="0"/>
                                    </a:rPr>
                                    <m:t>𝑖𝑓</m:t>
                                  </m:r>
                                  <m:r>
                                    <a:rPr lang="en-GB" sz="1100" b="0" i="1" smtClean="0">
                                      <a:latin typeface="Cambria Math" panose="02040503050406030204" pitchFamily="18" charset="0"/>
                                    </a:rPr>
                                    <m:t> </m:t>
                                  </m:r>
                                  <m:sSub>
                                    <m:sSubPr>
                                      <m:ctrlPr>
                                        <a:rPr lang="en-GB" sz="1100" b="0" i="1" smtClean="0">
                                          <a:latin typeface="Cambria Math" panose="02040503050406030204" pitchFamily="18" charset="0"/>
                                        </a:rPr>
                                      </m:ctrlPr>
                                    </m:sSubPr>
                                    <m:e>
                                      <m:r>
                                        <a:rPr lang="en-GB" sz="1100" b="0" i="1" smtClean="0">
                                          <a:latin typeface="Cambria Math" panose="02040503050406030204" pitchFamily="18" charset="0"/>
                                        </a:rPr>
                                        <m:t>𝑃</m:t>
                                      </m:r>
                                    </m:e>
                                    <m:sub>
                                      <m:r>
                                        <a:rPr lang="en-GB" sz="1100" b="0" i="1" smtClean="0">
                                          <a:latin typeface="Cambria Math" panose="02040503050406030204" pitchFamily="18" charset="0"/>
                                        </a:rPr>
                                        <m:t>𝑠𝑡𝑜</m:t>
                                      </m:r>
                                    </m:sub>
                                  </m:sSub>
                                  <m:r>
                                    <a:rPr lang="en-GB" sz="1100" b="0" i="1" smtClean="0">
                                      <a:latin typeface="Cambria Math" panose="02040503050406030204" pitchFamily="18" charset="0"/>
                                    </a:rPr>
                                    <m:t>&lt;0</m:t>
                                  </m:r>
                                </m:e>
                              </m:mr>
                            </m:m>
                          </m:e>
                        </m:d>
                      </m:oMath>
                    </m:oMathPara>
                  </a14:m>
                  <a:endParaRPr lang="en-DE" sz="1100" dirty="0"/>
                </a:p>
              </p:txBody>
            </p:sp>
          </mc:Choice>
          <mc:Fallback xmlns="">
            <p:sp>
              <p:nvSpPr>
                <p:cNvPr id="21" name="TextBox 20">
                  <a:extLst>
                    <a:ext uri="{FF2B5EF4-FFF2-40B4-BE49-F238E27FC236}">
                      <a16:creationId xmlns:a16="http://schemas.microsoft.com/office/drawing/2014/main" id="{29FE32D4-DE09-116E-91BB-88D4AB6DB4E6}"/>
                    </a:ext>
                  </a:extLst>
                </p:cNvPr>
                <p:cNvSpPr txBox="1">
                  <a:spLocks noRot="1" noChangeAspect="1" noMove="1" noResize="1" noEditPoints="1" noAdjustHandles="1" noChangeArrowheads="1" noChangeShapeType="1" noTextEdit="1"/>
                </p:cNvSpPr>
                <p:nvPr/>
              </p:nvSpPr>
              <p:spPr>
                <a:xfrm>
                  <a:off x="3196234" y="1258247"/>
                  <a:ext cx="1839926" cy="626775"/>
                </a:xfrm>
                <a:prstGeom prst="rect">
                  <a:avLst/>
                </a:prstGeom>
                <a:blipFill>
                  <a:blip r:embed="rId9"/>
                  <a:stretch>
                    <a:fillRect/>
                  </a:stretch>
                </a:blipFill>
              </p:spPr>
              <p:txBody>
                <a:bodyPr/>
                <a:lstStyle/>
                <a:p>
                  <a:r>
                    <a:rPr lang="en-DE">
                      <a:noFill/>
                    </a:rPr>
                    <a:t> </a:t>
                  </a:r>
                </a:p>
              </p:txBody>
            </p:sp>
          </mc:Fallback>
        </mc:AlternateContent>
      </p:grpSp>
      <p:grpSp>
        <p:nvGrpSpPr>
          <p:cNvPr id="36" name="Group 35">
            <a:extLst>
              <a:ext uri="{FF2B5EF4-FFF2-40B4-BE49-F238E27FC236}">
                <a16:creationId xmlns:a16="http://schemas.microsoft.com/office/drawing/2014/main" id="{EF75A8D4-BD79-8E0D-60E0-0F2F9CD5AB40}"/>
              </a:ext>
            </a:extLst>
          </p:cNvPr>
          <p:cNvGrpSpPr/>
          <p:nvPr/>
        </p:nvGrpSpPr>
        <p:grpSpPr>
          <a:xfrm>
            <a:off x="985654" y="2181402"/>
            <a:ext cx="4410635" cy="1150510"/>
            <a:chOff x="404029" y="2264354"/>
            <a:chExt cx="4410635" cy="1150510"/>
          </a:xfrm>
        </p:grpSpPr>
        <p:sp>
          <p:nvSpPr>
            <p:cNvPr id="33" name="Rectangle 32">
              <a:extLst>
                <a:ext uri="{FF2B5EF4-FFF2-40B4-BE49-F238E27FC236}">
                  <a16:creationId xmlns:a16="http://schemas.microsoft.com/office/drawing/2014/main" id="{5C0F286B-3502-BB2D-CDFB-33651E10C915}"/>
                </a:ext>
              </a:extLst>
            </p:cNvPr>
            <p:cNvSpPr/>
            <p:nvPr/>
          </p:nvSpPr>
          <p:spPr>
            <a:xfrm>
              <a:off x="404029" y="2264354"/>
              <a:ext cx="4410635" cy="1150510"/>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rtlCol="0" anchor="ctr"/>
            <a:lstStyle/>
            <a:p>
              <a:pPr algn="ctr"/>
              <a:endParaRPr lang="en-DE"/>
            </a:p>
          </p:txBody>
        </p:sp>
        <p:sp>
          <p:nvSpPr>
            <p:cNvPr id="23" name="Rectangle 22">
              <a:extLst>
                <a:ext uri="{FF2B5EF4-FFF2-40B4-BE49-F238E27FC236}">
                  <a16:creationId xmlns:a16="http://schemas.microsoft.com/office/drawing/2014/main" id="{5F07FE19-06C3-8947-A012-C15954ED60E1}"/>
                </a:ext>
              </a:extLst>
            </p:cNvPr>
            <p:cNvSpPr/>
            <p:nvPr/>
          </p:nvSpPr>
          <p:spPr>
            <a:xfrm>
              <a:off x="3126441" y="2470738"/>
              <a:ext cx="1366113" cy="38292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DE"/>
            </a:p>
          </p:txBody>
        </p:sp>
        <p:sp>
          <p:nvSpPr>
            <p:cNvPr id="22" name="Rectangle 21">
              <a:extLst>
                <a:ext uri="{FF2B5EF4-FFF2-40B4-BE49-F238E27FC236}">
                  <a16:creationId xmlns:a16="http://schemas.microsoft.com/office/drawing/2014/main" id="{D6B95CA9-1E7E-0AA8-83AD-11DCACC6417F}"/>
                </a:ext>
              </a:extLst>
            </p:cNvPr>
            <p:cNvSpPr/>
            <p:nvPr/>
          </p:nvSpPr>
          <p:spPr>
            <a:xfrm>
              <a:off x="2030507" y="2470738"/>
              <a:ext cx="907676" cy="38292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CDE401E-DB66-6A94-4F54-2CB17DE50357}"/>
                    </a:ext>
                  </a:extLst>
                </p:cNvPr>
                <p:cNvSpPr txBox="1"/>
                <p:nvPr/>
              </p:nvSpPr>
              <p:spPr>
                <a:xfrm>
                  <a:off x="537882" y="2470738"/>
                  <a:ext cx="3954672" cy="3829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DE" sz="1200" i="1" smtClean="0">
                                <a:latin typeface="Cambria Math" panose="02040503050406030204" pitchFamily="18" charset="0"/>
                              </a:rPr>
                            </m:ctrlPr>
                          </m:fPr>
                          <m:num>
                            <m:r>
                              <a:rPr lang="en-GB" sz="1200" b="0" i="1" smtClean="0">
                                <a:latin typeface="Cambria Math" panose="02040503050406030204" pitchFamily="18" charset="0"/>
                              </a:rPr>
                              <m:t>𝑑</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𝑠𝑡𝑜</m:t>
                                </m:r>
                              </m:sub>
                            </m:sSub>
                            <m:r>
                              <a:rPr lang="en-GB" sz="1200" b="0" i="1" smtClean="0">
                                <a:latin typeface="Cambria Math" panose="02040503050406030204" pitchFamily="18" charset="0"/>
                              </a:rPr>
                              <m:t>)</m:t>
                            </m:r>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𝑠𝑡𝑜</m:t>
                            </m:r>
                          </m:sub>
                        </m:sSub>
                        <m:r>
                          <a:rPr lang="en-GB" sz="1200" b="0" i="1" smtClean="0">
                            <a:latin typeface="Cambria Math" panose="02040503050406030204" pitchFamily="18" charset="0"/>
                          </a:rPr>
                          <m:t>+</m:t>
                        </m:r>
                        <m:sSub>
                          <m:sSubPr>
                            <m:ctrlPr>
                              <a:rPr lang="en-GB" sz="1200" b="0" i="1" smtClean="0">
                                <a:solidFill>
                                  <a:schemeClr val="tx1"/>
                                </a:solidFill>
                                <a:latin typeface="Cambria Math" panose="02040503050406030204" pitchFamily="18" charset="0"/>
                              </a:rPr>
                            </m:ctrlPr>
                          </m:sSubPr>
                          <m:e>
                            <m:r>
                              <a:rPr lang="en-GB" sz="1200" b="0" i="1" smtClean="0">
                                <a:solidFill>
                                  <a:schemeClr val="tx1"/>
                                </a:solidFill>
                                <a:latin typeface="Cambria Math" panose="02040503050406030204" pitchFamily="18" charset="0"/>
                                <a:ea typeface="Cambria Math" panose="02040503050406030204" pitchFamily="18" charset="0"/>
                              </a:rPr>
                              <m:t>𝜂</m:t>
                            </m:r>
                          </m:e>
                          <m:sub>
                            <m:r>
                              <a:rPr lang="en-GB" sz="1200" b="0" i="1" smtClean="0">
                                <a:solidFill>
                                  <a:schemeClr val="tx1"/>
                                </a:solidFill>
                                <a:latin typeface="Cambria Math" panose="02040503050406030204" pitchFamily="18" charset="0"/>
                              </a:rPr>
                              <m:t>𝑐h</m:t>
                            </m:r>
                          </m:sub>
                        </m:sSub>
                        <m:r>
                          <a:rPr lang="en-GB" sz="1200" b="0" i="1" smtClean="0">
                            <a:solidFill>
                              <a:srgbClr val="00B050"/>
                            </a:solidFill>
                            <a:latin typeface="Cambria Math" panose="02040503050406030204" pitchFamily="18" charset="0"/>
                            <a:ea typeface="Cambria Math" panose="02040503050406030204" pitchFamily="18" charset="0"/>
                          </a:rPr>
                          <m:t>𝛿</m:t>
                        </m:r>
                        <m:d>
                          <m:dPr>
                            <m:ctrlPr>
                              <a:rPr lang="en-GB" sz="1200" b="0" i="1" smtClean="0">
                                <a:solidFill>
                                  <a:srgbClr val="00B050"/>
                                </a:solidFill>
                                <a:latin typeface="Cambria Math" panose="02040503050406030204" pitchFamily="18" charset="0"/>
                                <a:ea typeface="Cambria Math" panose="02040503050406030204" pitchFamily="18" charset="0"/>
                              </a:rPr>
                            </m:ctrlPr>
                          </m:dPr>
                          <m:e>
                            <m:r>
                              <a:rPr lang="en-GB" sz="1200" b="0" i="1" smtClean="0">
                                <a:solidFill>
                                  <a:srgbClr val="00B050"/>
                                </a:solidFill>
                                <a:latin typeface="Cambria Math" panose="02040503050406030204" pitchFamily="18" charset="0"/>
                                <a:ea typeface="Cambria Math" panose="02040503050406030204" pitchFamily="18" charset="0"/>
                              </a:rPr>
                              <m:t>𝑡</m:t>
                            </m:r>
                          </m:e>
                        </m:d>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𝑠</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𝑠𝑡𝑜</m:t>
                            </m:r>
                          </m:sub>
                        </m:sSub>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𝜂</m:t>
                                </m:r>
                              </m:e>
                              <m:sub>
                                <m:r>
                                  <a:rPr lang="en-GB" sz="1200" b="0" i="1" smtClean="0">
                                    <a:latin typeface="Cambria Math" panose="02040503050406030204" pitchFamily="18" charset="0"/>
                                  </a:rPr>
                                  <m:t>𝑑𝑖𝑠</m:t>
                                </m:r>
                              </m:sub>
                            </m:sSub>
                          </m:den>
                        </m:f>
                        <m:r>
                          <a:rPr lang="en-GB" sz="1200" b="0" i="1" smtClean="0">
                            <a:solidFill>
                              <a:srgbClr val="00B050"/>
                            </a:solidFill>
                            <a:latin typeface="Cambria Math" panose="02040503050406030204" pitchFamily="18" charset="0"/>
                          </a:rPr>
                          <m:t>(1−</m:t>
                        </m:r>
                        <m:r>
                          <a:rPr lang="en-GB" sz="1200" b="0" i="1" smtClean="0">
                            <a:solidFill>
                              <a:srgbClr val="00B050"/>
                            </a:solidFill>
                            <a:latin typeface="Cambria Math" panose="02040503050406030204" pitchFamily="18" charset="0"/>
                            <a:ea typeface="Cambria Math" panose="02040503050406030204" pitchFamily="18" charset="0"/>
                          </a:rPr>
                          <m:t>𝛿</m:t>
                        </m:r>
                        <m:r>
                          <a:rPr lang="en-GB" sz="1200" b="0" i="1" smtClean="0">
                            <a:solidFill>
                              <a:srgbClr val="00B050"/>
                            </a:solidFill>
                            <a:latin typeface="Cambria Math" panose="02040503050406030204" pitchFamily="18" charset="0"/>
                            <a:ea typeface="Cambria Math" panose="02040503050406030204" pitchFamily="18" charset="0"/>
                          </a:rPr>
                          <m:t>(</m:t>
                        </m:r>
                        <m:r>
                          <a:rPr lang="en-GB" sz="1200" b="0" i="1" smtClean="0">
                            <a:solidFill>
                              <a:srgbClr val="00B050"/>
                            </a:solidFill>
                            <a:latin typeface="Cambria Math" panose="02040503050406030204" pitchFamily="18" charset="0"/>
                            <a:ea typeface="Cambria Math" panose="02040503050406030204" pitchFamily="18" charset="0"/>
                          </a:rPr>
                          <m:t>𝑡</m:t>
                        </m:r>
                        <m:r>
                          <a:rPr lang="en-GB" sz="1200" b="0" i="1" smtClean="0">
                            <a:solidFill>
                              <a:srgbClr val="00B050"/>
                            </a:solidFill>
                            <a:latin typeface="Cambria Math" panose="02040503050406030204" pitchFamily="18" charset="0"/>
                            <a:ea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𝑠</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𝑠𝑡𝑜</m:t>
                            </m:r>
                          </m:sub>
                        </m:sSub>
                      </m:oMath>
                    </m:oMathPara>
                  </a14:m>
                  <a:endParaRPr lang="en-DE" sz="1200" dirty="0"/>
                </a:p>
              </p:txBody>
            </p:sp>
          </mc:Choice>
          <mc:Fallback xmlns="">
            <p:sp>
              <p:nvSpPr>
                <p:cNvPr id="14" name="TextBox 13">
                  <a:extLst>
                    <a:ext uri="{FF2B5EF4-FFF2-40B4-BE49-F238E27FC236}">
                      <a16:creationId xmlns:a16="http://schemas.microsoft.com/office/drawing/2014/main" id="{5CDE401E-DB66-6A94-4F54-2CB17DE50357}"/>
                    </a:ext>
                  </a:extLst>
                </p:cNvPr>
                <p:cNvSpPr txBox="1">
                  <a:spLocks noRot="1" noChangeAspect="1" noMove="1" noResize="1" noEditPoints="1" noAdjustHandles="1" noChangeArrowheads="1" noChangeShapeType="1" noTextEdit="1"/>
                </p:cNvSpPr>
                <p:nvPr/>
              </p:nvSpPr>
              <p:spPr>
                <a:xfrm>
                  <a:off x="537882" y="2470738"/>
                  <a:ext cx="3954672" cy="382925"/>
                </a:xfrm>
                <a:prstGeom prst="rect">
                  <a:avLst/>
                </a:prstGeom>
                <a:blipFill>
                  <a:blip r:embed="rId10"/>
                  <a:stretch>
                    <a:fillRect l="-772" t="-6349" r="-154" b="-12698"/>
                  </a:stretch>
                </a:blipFill>
              </p:spPr>
              <p:txBody>
                <a:bodyPr/>
                <a:lstStyle/>
                <a:p>
                  <a:r>
                    <a:rPr lang="en-DE">
                      <a:noFill/>
                    </a:rPr>
                    <a:t> </a:t>
                  </a:r>
                </a:p>
              </p:txBody>
            </p:sp>
          </mc:Fallback>
        </mc:AlternateContent>
        <p:sp>
          <p:nvSpPr>
            <p:cNvPr id="24" name="Left Brace 23">
              <a:extLst>
                <a:ext uri="{FF2B5EF4-FFF2-40B4-BE49-F238E27FC236}">
                  <a16:creationId xmlns:a16="http://schemas.microsoft.com/office/drawing/2014/main" id="{2DA65350-296E-0D9C-4AA5-D1744657ACEE}"/>
                </a:ext>
              </a:extLst>
            </p:cNvPr>
            <p:cNvSpPr/>
            <p:nvPr/>
          </p:nvSpPr>
          <p:spPr>
            <a:xfrm rot="16200000">
              <a:off x="2427196" y="2576556"/>
              <a:ext cx="114299" cy="90767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a:p>
          </p:txBody>
        </p:sp>
        <p:sp>
          <p:nvSpPr>
            <p:cNvPr id="25" name="Left Brace 24">
              <a:extLst>
                <a:ext uri="{FF2B5EF4-FFF2-40B4-BE49-F238E27FC236}">
                  <a16:creationId xmlns:a16="http://schemas.microsoft.com/office/drawing/2014/main" id="{0653E081-F9C3-910C-0F38-66820DB980D2}"/>
                </a:ext>
              </a:extLst>
            </p:cNvPr>
            <p:cNvSpPr/>
            <p:nvPr/>
          </p:nvSpPr>
          <p:spPr>
            <a:xfrm rot="16200000">
              <a:off x="3743043" y="2338033"/>
              <a:ext cx="114300" cy="138472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a:p>
          </p:txBody>
        </p:sp>
        <p:sp>
          <p:nvSpPr>
            <p:cNvPr id="26" name="TextBox 25">
              <a:extLst>
                <a:ext uri="{FF2B5EF4-FFF2-40B4-BE49-F238E27FC236}">
                  <a16:creationId xmlns:a16="http://schemas.microsoft.com/office/drawing/2014/main" id="{49618B31-2105-7013-7994-A9225923321F}"/>
                </a:ext>
              </a:extLst>
            </p:cNvPr>
            <p:cNvSpPr txBox="1"/>
            <p:nvPr/>
          </p:nvSpPr>
          <p:spPr>
            <a:xfrm>
              <a:off x="2160851" y="3110307"/>
              <a:ext cx="671979" cy="261610"/>
            </a:xfrm>
            <a:prstGeom prst="rect">
              <a:avLst/>
            </a:prstGeom>
            <a:noFill/>
          </p:spPr>
          <p:txBody>
            <a:bodyPr wrap="none" rtlCol="0">
              <a:spAutoFit/>
            </a:bodyPr>
            <a:lstStyle/>
            <a:p>
              <a:r>
                <a:rPr lang="en-GB" sz="1050" dirty="0"/>
                <a:t>charging</a:t>
              </a:r>
              <a:endParaRPr lang="en-DE" sz="1050" dirty="0"/>
            </a:p>
          </p:txBody>
        </p:sp>
        <p:sp>
          <p:nvSpPr>
            <p:cNvPr id="27" name="TextBox 26">
              <a:extLst>
                <a:ext uri="{FF2B5EF4-FFF2-40B4-BE49-F238E27FC236}">
                  <a16:creationId xmlns:a16="http://schemas.microsoft.com/office/drawing/2014/main" id="{E0F0D2D5-AF00-EDC4-CDFE-BE9BD5532037}"/>
                </a:ext>
              </a:extLst>
            </p:cNvPr>
            <p:cNvSpPr txBox="1"/>
            <p:nvPr/>
          </p:nvSpPr>
          <p:spPr>
            <a:xfrm>
              <a:off x="3384053" y="3123311"/>
              <a:ext cx="832279" cy="261610"/>
            </a:xfrm>
            <a:prstGeom prst="rect">
              <a:avLst/>
            </a:prstGeom>
            <a:noFill/>
          </p:spPr>
          <p:txBody>
            <a:bodyPr wrap="none" rtlCol="0">
              <a:spAutoFit/>
            </a:bodyPr>
            <a:lstStyle/>
            <a:p>
              <a:r>
                <a:rPr lang="en-GB" sz="1050" dirty="0"/>
                <a:t>discharging</a:t>
              </a:r>
              <a:endParaRPr lang="en-DE" sz="1050" dirty="0"/>
            </a:p>
          </p:txBody>
        </p:sp>
      </p:grpSp>
      <p:grpSp>
        <p:nvGrpSpPr>
          <p:cNvPr id="40" name="Group 39">
            <a:extLst>
              <a:ext uri="{FF2B5EF4-FFF2-40B4-BE49-F238E27FC236}">
                <a16:creationId xmlns:a16="http://schemas.microsoft.com/office/drawing/2014/main" id="{898F2840-2F4E-7E91-B40C-79C05FC2C2E6}"/>
              </a:ext>
            </a:extLst>
          </p:cNvPr>
          <p:cNvGrpSpPr/>
          <p:nvPr/>
        </p:nvGrpSpPr>
        <p:grpSpPr>
          <a:xfrm>
            <a:off x="3194627" y="3500237"/>
            <a:ext cx="3206659" cy="648028"/>
            <a:chOff x="688329" y="3578074"/>
            <a:chExt cx="3206659" cy="648028"/>
          </a:xfrm>
        </p:grpSpPr>
        <p:sp>
          <p:nvSpPr>
            <p:cNvPr id="31" name="Rectangle 30">
              <a:extLst>
                <a:ext uri="{FF2B5EF4-FFF2-40B4-BE49-F238E27FC236}">
                  <a16:creationId xmlns:a16="http://schemas.microsoft.com/office/drawing/2014/main" id="{5668E435-6D5F-1FF6-FDE0-F8ABB2B89267}"/>
                </a:ext>
              </a:extLst>
            </p:cNvPr>
            <p:cNvSpPr/>
            <p:nvPr/>
          </p:nvSpPr>
          <p:spPr>
            <a:xfrm>
              <a:off x="742145" y="3578074"/>
              <a:ext cx="3090268" cy="648028"/>
            </a:xfrm>
            <a:prstGeom prst="rect">
              <a:avLst/>
            </a:prstGeom>
            <a:solidFill>
              <a:srgbClr val="FFFF00"/>
            </a:solidFill>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6BBC0FD-B978-4833-7F84-669686EDE521}"/>
                    </a:ext>
                  </a:extLst>
                </p:cNvPr>
                <p:cNvSpPr txBox="1"/>
                <p:nvPr/>
              </p:nvSpPr>
              <p:spPr>
                <a:xfrm>
                  <a:off x="688329" y="3738745"/>
                  <a:ext cx="3206659" cy="3516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DE" sz="1200" i="1" smtClean="0">
                                <a:latin typeface="Cambria Math" panose="02040503050406030204" pitchFamily="18" charset="0"/>
                              </a:rPr>
                            </m:ctrlPr>
                          </m:fPr>
                          <m:num>
                            <m:r>
                              <a:rPr lang="en-GB" sz="1200" b="0" i="1" smtClean="0">
                                <a:latin typeface="Cambria Math" panose="02040503050406030204" pitchFamily="18" charset="0"/>
                              </a:rPr>
                              <m:t>𝑑</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𝑠𝑡𝑜</m:t>
                                </m:r>
                              </m:sub>
                            </m:sSub>
                            <m:r>
                              <a:rPr lang="en-GB" sz="1200" b="0" i="1" smtClean="0">
                                <a:latin typeface="Cambria Math" panose="02040503050406030204" pitchFamily="18" charset="0"/>
                              </a:rPr>
                              <m:t>)</m:t>
                            </m:r>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𝑠𝑡𝑜</m:t>
                            </m:r>
                          </m:sub>
                        </m:sSub>
                        <m:r>
                          <a:rPr lang="en-GB" sz="1200" b="0" i="1" smtClean="0">
                            <a:latin typeface="Cambria Math" panose="02040503050406030204" pitchFamily="18" charset="0"/>
                          </a:rPr>
                          <m:t>+</m:t>
                        </m:r>
                        <m:sSubSup>
                          <m:sSubSupPr>
                            <m:ctrlPr>
                              <a:rPr lang="en-GB" sz="1200" b="0" i="1" smtClean="0">
                                <a:latin typeface="Cambria Math" panose="02040503050406030204" pitchFamily="18" charset="0"/>
                              </a:rPr>
                            </m:ctrlPr>
                          </m:sSubSupPr>
                          <m:e>
                            <m:r>
                              <a:rPr lang="en-GB" sz="1200" b="0" i="1" smtClean="0">
                                <a:latin typeface="Cambria Math" panose="02040503050406030204" pitchFamily="18" charset="0"/>
                                <a:ea typeface="Cambria Math" panose="02040503050406030204" pitchFamily="18" charset="0"/>
                              </a:rPr>
                              <m:t>𝜂</m:t>
                            </m:r>
                          </m:e>
                          <m:sub>
                            <m:r>
                              <a:rPr lang="en-GB" sz="1200" b="0" i="1" smtClean="0">
                                <a:latin typeface="Cambria Math" panose="02040503050406030204" pitchFamily="18" charset="0"/>
                              </a:rPr>
                              <m:t>𝑠𝑡𝑜</m:t>
                            </m:r>
                          </m:sub>
                          <m:sup>
                            <m:func>
                              <m:funcPr>
                                <m:ctrlPr>
                                  <a:rPr lang="en-GB" sz="1200" i="1">
                                    <a:latin typeface="Cambria Math" panose="02040503050406030204" pitchFamily="18" charset="0"/>
                                  </a:rPr>
                                </m:ctrlPr>
                              </m:funcPr>
                              <m:fName>
                                <m:r>
                                  <m:rPr>
                                    <m:sty m:val="p"/>
                                  </m:rPr>
                                  <a:rPr lang="en-GB" sz="1200">
                                    <a:latin typeface="Cambria Math" panose="02040503050406030204" pitchFamily="18" charset="0"/>
                                  </a:rPr>
                                  <m:t>sgn</m:t>
                                </m:r>
                              </m:fName>
                              <m:e>
                                <m:d>
                                  <m:dPr>
                                    <m:ctrlPr>
                                      <a:rPr lang="en-GB" sz="1200" i="1">
                                        <a:latin typeface="Cambria Math" panose="02040503050406030204" pitchFamily="18" charset="0"/>
                                      </a:rPr>
                                    </m:ctrlPr>
                                  </m:dPr>
                                  <m:e>
                                    <m:sSub>
                                      <m:sSubPr>
                                        <m:ctrlPr>
                                          <a:rPr lang="en-GB" sz="1200" i="1">
                                            <a:latin typeface="Cambria Math" panose="02040503050406030204" pitchFamily="18" charset="0"/>
                                          </a:rPr>
                                        </m:ctrlPr>
                                      </m:sSubPr>
                                      <m:e>
                                        <m:r>
                                          <a:rPr lang="en-GB" sz="1200" i="1">
                                            <a:latin typeface="Cambria Math" panose="02040503050406030204" pitchFamily="18" charset="0"/>
                                          </a:rPr>
                                          <m:t>𝑃</m:t>
                                        </m:r>
                                      </m:e>
                                      <m:sub>
                                        <m:r>
                                          <a:rPr lang="en-GB" sz="1200" i="1">
                                            <a:latin typeface="Cambria Math" panose="02040503050406030204" pitchFamily="18" charset="0"/>
                                          </a:rPr>
                                          <m:t>𝑠𝑡𝑜</m:t>
                                        </m:r>
                                      </m:sub>
                                    </m:sSub>
                                  </m:e>
                                </m:d>
                              </m:e>
                            </m:func>
                          </m:sup>
                        </m:sSubSup>
                        <m:sSub>
                          <m:sSubPr>
                            <m:ctrlPr>
                              <a:rPr lang="en-GB" sz="1200" b="0" i="1" smtClean="0">
                                <a:solidFill>
                                  <a:schemeClr val="tx1"/>
                                </a:solidFill>
                                <a:latin typeface="Cambria Math" panose="02040503050406030204" pitchFamily="18" charset="0"/>
                              </a:rPr>
                            </m:ctrlPr>
                          </m:sSubPr>
                          <m:e>
                            <m:r>
                              <a:rPr lang="en-GB" sz="1200" b="0" i="1" smtClean="0">
                                <a:solidFill>
                                  <a:schemeClr val="tx1"/>
                                </a:solidFill>
                                <a:latin typeface="Cambria Math" panose="02040503050406030204" pitchFamily="18" charset="0"/>
                              </a:rPr>
                              <m:t>𝑇</m:t>
                            </m:r>
                          </m:e>
                          <m:sub>
                            <m:r>
                              <a:rPr lang="en-GB" sz="1200" b="0" i="1" smtClean="0">
                                <a:solidFill>
                                  <a:schemeClr val="tx1"/>
                                </a:solidFill>
                                <a:latin typeface="Cambria Math" panose="02040503050406030204" pitchFamily="18" charset="0"/>
                              </a:rPr>
                              <m:t>𝑠</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𝑠𝑡𝑜</m:t>
                            </m:r>
                          </m:sub>
                        </m:sSub>
                      </m:oMath>
                    </m:oMathPara>
                  </a14:m>
                  <a:endParaRPr lang="en-DE" sz="1200" dirty="0"/>
                </a:p>
              </p:txBody>
            </p:sp>
          </mc:Choice>
          <mc:Fallback xmlns="">
            <p:sp>
              <p:nvSpPr>
                <p:cNvPr id="32" name="TextBox 31">
                  <a:extLst>
                    <a:ext uri="{FF2B5EF4-FFF2-40B4-BE49-F238E27FC236}">
                      <a16:creationId xmlns:a16="http://schemas.microsoft.com/office/drawing/2014/main" id="{06BBC0FD-B978-4833-7F84-669686EDE521}"/>
                    </a:ext>
                  </a:extLst>
                </p:cNvPr>
                <p:cNvSpPr txBox="1">
                  <a:spLocks noRot="1" noChangeAspect="1" noMove="1" noResize="1" noEditPoints="1" noAdjustHandles="1" noChangeArrowheads="1" noChangeShapeType="1" noTextEdit="1"/>
                </p:cNvSpPr>
                <p:nvPr/>
              </p:nvSpPr>
              <p:spPr>
                <a:xfrm>
                  <a:off x="688329" y="3738745"/>
                  <a:ext cx="3206659" cy="351699"/>
                </a:xfrm>
                <a:prstGeom prst="rect">
                  <a:avLst/>
                </a:prstGeom>
                <a:blipFill>
                  <a:blip r:embed="rId11"/>
                  <a:stretch>
                    <a:fillRect t="-7018" b="-15789"/>
                  </a:stretch>
                </a:blipFill>
              </p:spPr>
              <p:txBody>
                <a:bodyPr/>
                <a:lstStyle/>
                <a:p>
                  <a:r>
                    <a:rPr lang="en-DE">
                      <a:noFill/>
                    </a:rPr>
                    <a:t> </a:t>
                  </a:r>
                </a:p>
              </p:txBody>
            </p:sp>
          </mc:Fallback>
        </mc:AlternateContent>
      </p:grpSp>
      <p:sp>
        <p:nvSpPr>
          <p:cNvPr id="35" name="TextBox 34">
            <a:extLst>
              <a:ext uri="{FF2B5EF4-FFF2-40B4-BE49-F238E27FC236}">
                <a16:creationId xmlns:a16="http://schemas.microsoft.com/office/drawing/2014/main" id="{B9B4B5D3-EC62-3C7D-ED81-B4DD302C9AA6}"/>
              </a:ext>
            </a:extLst>
          </p:cNvPr>
          <p:cNvSpPr txBox="1"/>
          <p:nvPr/>
        </p:nvSpPr>
        <p:spPr>
          <a:xfrm>
            <a:off x="3107832" y="1423995"/>
            <a:ext cx="378630" cy="261610"/>
          </a:xfrm>
          <a:prstGeom prst="rect">
            <a:avLst/>
          </a:prstGeom>
          <a:noFill/>
        </p:spPr>
        <p:txBody>
          <a:bodyPr wrap="none" rtlCol="0">
            <a:spAutoFit/>
          </a:bodyPr>
          <a:lstStyle/>
          <a:p>
            <a:r>
              <a:rPr lang="en-GB" sz="1050" dirty="0"/>
              <a:t>but</a:t>
            </a:r>
            <a:endParaRPr lang="en-DE" sz="1050" dirty="0"/>
          </a:p>
        </p:txBody>
      </p:sp>
      <p:sp>
        <p:nvSpPr>
          <p:cNvPr id="37" name="TextBox 36">
            <a:extLst>
              <a:ext uri="{FF2B5EF4-FFF2-40B4-BE49-F238E27FC236}">
                <a16:creationId xmlns:a16="http://schemas.microsoft.com/office/drawing/2014/main" id="{68607C83-DFC1-7221-4859-B64104C7F42D}"/>
              </a:ext>
            </a:extLst>
          </p:cNvPr>
          <p:cNvSpPr txBox="1"/>
          <p:nvPr/>
        </p:nvSpPr>
        <p:spPr>
          <a:xfrm>
            <a:off x="501996" y="2479658"/>
            <a:ext cx="372666" cy="276999"/>
          </a:xfrm>
          <a:prstGeom prst="rect">
            <a:avLst/>
          </a:prstGeom>
          <a:noFill/>
        </p:spPr>
        <p:txBody>
          <a:bodyPr wrap="none" rtlCol="0">
            <a:spAutoFit/>
          </a:bodyPr>
          <a:lstStyle/>
          <a:p>
            <a:r>
              <a:rPr lang="en-GB" sz="1200" dirty="0"/>
              <a:t>So,</a:t>
            </a:r>
            <a:endParaRPr lang="en-DE" sz="1200" dirty="0"/>
          </a:p>
        </p:txBody>
      </p:sp>
      <p:sp>
        <p:nvSpPr>
          <p:cNvPr id="38" name="TextBox 37">
            <a:extLst>
              <a:ext uri="{FF2B5EF4-FFF2-40B4-BE49-F238E27FC236}">
                <a16:creationId xmlns:a16="http://schemas.microsoft.com/office/drawing/2014/main" id="{4C506C92-13A1-F49A-8BD7-D09EB93EAC83}"/>
              </a:ext>
            </a:extLst>
          </p:cNvPr>
          <p:cNvSpPr txBox="1"/>
          <p:nvPr/>
        </p:nvSpPr>
        <p:spPr>
          <a:xfrm>
            <a:off x="6046301" y="2525824"/>
            <a:ext cx="2797754" cy="461665"/>
          </a:xfrm>
          <a:prstGeom prst="rect">
            <a:avLst/>
          </a:prstGeom>
          <a:noFill/>
        </p:spPr>
        <p:txBody>
          <a:bodyPr wrap="none" rtlCol="0">
            <a:spAutoFit/>
          </a:bodyPr>
          <a:lstStyle/>
          <a:p>
            <a:r>
              <a:rPr lang="en-GB" sz="1200" dirty="0"/>
              <a:t>Equation is nonlinear due to combination </a:t>
            </a:r>
          </a:p>
          <a:p>
            <a:r>
              <a:rPr lang="en-GB" sz="1200" dirty="0"/>
              <a:t>between continuous and binary variables</a:t>
            </a:r>
            <a:endParaRPr lang="en-DE" sz="1200" dirty="0"/>
          </a:p>
        </p:txBody>
      </p:sp>
      <p:sp>
        <p:nvSpPr>
          <p:cNvPr id="39" name="Arrow: Right 38">
            <a:extLst>
              <a:ext uri="{FF2B5EF4-FFF2-40B4-BE49-F238E27FC236}">
                <a16:creationId xmlns:a16="http://schemas.microsoft.com/office/drawing/2014/main" id="{9FF4975C-BE71-1DC9-4355-02D259F82DF6}"/>
              </a:ext>
            </a:extLst>
          </p:cNvPr>
          <p:cNvSpPr/>
          <p:nvPr/>
        </p:nvSpPr>
        <p:spPr>
          <a:xfrm>
            <a:off x="5489561" y="2618157"/>
            <a:ext cx="463468" cy="215364"/>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DE"/>
          </a:p>
        </p:txBody>
      </p:sp>
      <p:sp>
        <p:nvSpPr>
          <p:cNvPr id="41" name="TextBox 40">
            <a:extLst>
              <a:ext uri="{FF2B5EF4-FFF2-40B4-BE49-F238E27FC236}">
                <a16:creationId xmlns:a16="http://schemas.microsoft.com/office/drawing/2014/main" id="{9907E798-AA1B-79AF-59EB-5490F105EA28}"/>
              </a:ext>
            </a:extLst>
          </p:cNvPr>
          <p:cNvSpPr txBox="1"/>
          <p:nvPr/>
        </p:nvSpPr>
        <p:spPr>
          <a:xfrm>
            <a:off x="378803" y="3545248"/>
            <a:ext cx="2487027" cy="461665"/>
          </a:xfrm>
          <a:prstGeom prst="rect">
            <a:avLst/>
          </a:prstGeom>
          <a:noFill/>
        </p:spPr>
        <p:txBody>
          <a:bodyPr wrap="none" rtlCol="0">
            <a:spAutoFit/>
          </a:bodyPr>
          <a:lstStyle/>
          <a:p>
            <a:r>
              <a:rPr lang="en-GB" sz="1200" dirty="0"/>
              <a:t>Equation is simplified by considering</a:t>
            </a:r>
          </a:p>
          <a:p>
            <a:r>
              <a:rPr lang="en-GB" sz="1200" dirty="0"/>
              <a:t>both coefficients are the same. Thus,</a:t>
            </a:r>
            <a:endParaRPr lang="en-DE" dirty="0"/>
          </a:p>
        </p:txBody>
      </p:sp>
    </p:spTree>
    <p:extLst>
      <p:ext uri="{BB962C8B-B14F-4D97-AF65-F5344CB8AC3E}">
        <p14:creationId xmlns:p14="http://schemas.microsoft.com/office/powerpoint/2010/main" val="3156024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3FDF5AA-7363-F0B9-321A-A73B915BB94E}"/>
              </a:ext>
            </a:extLst>
          </p:cNvPr>
          <p:cNvSpPr/>
          <p:nvPr/>
        </p:nvSpPr>
        <p:spPr>
          <a:xfrm>
            <a:off x="1290749" y="3018865"/>
            <a:ext cx="2521492" cy="7395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DE"/>
          </a:p>
        </p:txBody>
      </p:sp>
      <p:sp>
        <p:nvSpPr>
          <p:cNvPr id="8" name="Rectangle 7">
            <a:extLst>
              <a:ext uri="{FF2B5EF4-FFF2-40B4-BE49-F238E27FC236}">
                <a16:creationId xmlns:a16="http://schemas.microsoft.com/office/drawing/2014/main" id="{0FFCF06D-B155-6AFF-BDE4-52A4A2C5F505}"/>
              </a:ext>
            </a:extLst>
          </p:cNvPr>
          <p:cNvSpPr/>
          <p:nvPr/>
        </p:nvSpPr>
        <p:spPr>
          <a:xfrm>
            <a:off x="1290749" y="1358153"/>
            <a:ext cx="2790433" cy="6663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DE"/>
          </a:p>
        </p:txBody>
      </p:sp>
      <p:sp>
        <p:nvSpPr>
          <p:cNvPr id="3" name="Title 2">
            <a:extLst>
              <a:ext uri="{FF2B5EF4-FFF2-40B4-BE49-F238E27FC236}">
                <a16:creationId xmlns:a16="http://schemas.microsoft.com/office/drawing/2014/main" id="{686B267C-D3F2-798C-A028-6702A525B5FC}"/>
              </a:ext>
            </a:extLst>
          </p:cNvPr>
          <p:cNvSpPr>
            <a:spLocks noGrp="1"/>
          </p:cNvSpPr>
          <p:nvPr>
            <p:ph type="title"/>
          </p:nvPr>
        </p:nvSpPr>
        <p:spPr/>
        <p:txBody>
          <a:bodyPr/>
          <a:lstStyle/>
          <a:p>
            <a:r>
              <a:rPr lang="en-GB" dirty="0"/>
              <a:t>Energy Storage System</a:t>
            </a:r>
            <a:endParaRPr lang="en-DE" dirty="0"/>
          </a:p>
        </p:txBody>
      </p:sp>
      <p:sp>
        <p:nvSpPr>
          <p:cNvPr id="4" name="TextBox 3">
            <a:extLst>
              <a:ext uri="{FF2B5EF4-FFF2-40B4-BE49-F238E27FC236}">
                <a16:creationId xmlns:a16="http://schemas.microsoft.com/office/drawing/2014/main" id="{7927B562-C716-B06A-9343-D8C43D3A94B5}"/>
              </a:ext>
            </a:extLst>
          </p:cNvPr>
          <p:cNvSpPr txBox="1"/>
          <p:nvPr/>
        </p:nvSpPr>
        <p:spPr>
          <a:xfrm>
            <a:off x="490818" y="927847"/>
            <a:ext cx="2789225" cy="369332"/>
          </a:xfrm>
          <a:prstGeom prst="rect">
            <a:avLst/>
          </a:prstGeom>
          <a:noFill/>
        </p:spPr>
        <p:txBody>
          <a:bodyPr wrap="none" rtlCol="0">
            <a:spAutoFit/>
          </a:bodyPr>
          <a:lstStyle/>
          <a:p>
            <a:r>
              <a:rPr lang="en-GB" dirty="0"/>
              <a:t>Dynamic model of a battery</a:t>
            </a:r>
            <a:endParaRPr lang="en-DE" dirty="0"/>
          </a:p>
        </p:txBody>
      </p:sp>
      <p:sp>
        <p:nvSpPr>
          <p:cNvPr id="5" name="TextBox 4">
            <a:extLst>
              <a:ext uri="{FF2B5EF4-FFF2-40B4-BE49-F238E27FC236}">
                <a16:creationId xmlns:a16="http://schemas.microsoft.com/office/drawing/2014/main" id="{B175EBD0-6E21-1951-683E-FDC45D58EE3E}"/>
              </a:ext>
            </a:extLst>
          </p:cNvPr>
          <p:cNvSpPr txBox="1"/>
          <p:nvPr/>
        </p:nvSpPr>
        <p:spPr>
          <a:xfrm>
            <a:off x="490818" y="2435270"/>
            <a:ext cx="4701352" cy="369332"/>
          </a:xfrm>
          <a:prstGeom prst="rect">
            <a:avLst/>
          </a:prstGeom>
          <a:noFill/>
        </p:spPr>
        <p:txBody>
          <a:bodyPr wrap="none" rtlCol="0">
            <a:spAutoFit/>
          </a:bodyPr>
          <a:lstStyle/>
          <a:p>
            <a:r>
              <a:rPr lang="en-GB" dirty="0"/>
              <a:t>Dynamic model of battery inside electric vehicle</a:t>
            </a:r>
            <a:endParaRPr lang="en-DE"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226A5D0-C96D-85B6-4F94-26DA77B196D9}"/>
                  </a:ext>
                </a:extLst>
              </p:cNvPr>
              <p:cNvSpPr txBox="1"/>
              <p:nvPr/>
            </p:nvSpPr>
            <p:spPr>
              <a:xfrm>
                <a:off x="1075765" y="1514525"/>
                <a:ext cx="3206659" cy="3516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DE" sz="1200" i="1" smtClean="0">
                              <a:latin typeface="Cambria Math" panose="02040503050406030204" pitchFamily="18" charset="0"/>
                            </a:rPr>
                          </m:ctrlPr>
                        </m:fPr>
                        <m:num>
                          <m:r>
                            <a:rPr lang="en-GB" sz="1200" b="0" i="1" smtClean="0">
                              <a:latin typeface="Cambria Math" panose="02040503050406030204" pitchFamily="18" charset="0"/>
                            </a:rPr>
                            <m:t>𝑑</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sSubSup>
                        <m:sSubSupPr>
                          <m:ctrlPr>
                            <a:rPr lang="en-GB" sz="1200" b="0" i="1" smtClean="0">
                              <a:latin typeface="Cambria Math" panose="02040503050406030204" pitchFamily="18" charset="0"/>
                            </a:rPr>
                          </m:ctrlPr>
                        </m:sSubSupPr>
                        <m:e>
                          <m:r>
                            <a:rPr lang="en-GB" sz="1200" b="0" i="1" smtClean="0">
                              <a:latin typeface="Cambria Math" panose="02040503050406030204" pitchFamily="18" charset="0"/>
                              <a:ea typeface="Cambria Math" panose="02040503050406030204" pitchFamily="18" charset="0"/>
                            </a:rPr>
                            <m:t>𝜂</m:t>
                          </m:r>
                        </m:e>
                        <m:sub>
                          <m:r>
                            <a:rPr lang="en-GB" sz="1200" b="0" i="1" smtClean="0">
                              <a:latin typeface="Cambria Math" panose="02040503050406030204" pitchFamily="18" charset="0"/>
                            </a:rPr>
                            <m:t>𝑏𝑎𝑡</m:t>
                          </m:r>
                        </m:sub>
                        <m:sup>
                          <m:func>
                            <m:funcPr>
                              <m:ctrlPr>
                                <a:rPr lang="en-GB" sz="1200" i="1">
                                  <a:latin typeface="Cambria Math" panose="02040503050406030204" pitchFamily="18" charset="0"/>
                                </a:rPr>
                              </m:ctrlPr>
                            </m:funcPr>
                            <m:fName>
                              <m:r>
                                <m:rPr>
                                  <m:sty m:val="p"/>
                                </m:rPr>
                                <a:rPr lang="en-GB" sz="1200">
                                  <a:latin typeface="Cambria Math" panose="02040503050406030204" pitchFamily="18" charset="0"/>
                                </a:rPr>
                                <m:t>sgn</m:t>
                              </m:r>
                            </m:fName>
                            <m:e>
                              <m:d>
                                <m:dPr>
                                  <m:ctrlPr>
                                    <a:rPr lang="en-GB" sz="1200" i="1">
                                      <a:latin typeface="Cambria Math" panose="02040503050406030204" pitchFamily="18" charset="0"/>
                                    </a:rPr>
                                  </m:ctrlPr>
                                </m:dPr>
                                <m:e>
                                  <m:sSub>
                                    <m:sSubPr>
                                      <m:ctrlPr>
                                        <a:rPr lang="en-GB" sz="1200" i="1">
                                          <a:latin typeface="Cambria Math" panose="02040503050406030204" pitchFamily="18" charset="0"/>
                                        </a:rPr>
                                      </m:ctrlPr>
                                    </m:sSubPr>
                                    <m:e>
                                      <m:r>
                                        <a:rPr lang="en-GB" sz="1200" i="1">
                                          <a:latin typeface="Cambria Math" panose="02040503050406030204" pitchFamily="18" charset="0"/>
                                        </a:rPr>
                                        <m:t>𝑃</m:t>
                                      </m:r>
                                    </m:e>
                                    <m:sub>
                                      <m:r>
                                        <a:rPr lang="en-GB" sz="1200" b="0" i="1" smtClean="0">
                                          <a:latin typeface="Cambria Math" panose="02040503050406030204" pitchFamily="18" charset="0"/>
                                        </a:rPr>
                                        <m:t>𝑏𝑎𝑡</m:t>
                                      </m:r>
                                    </m:sub>
                                  </m:sSub>
                                </m:e>
                              </m:d>
                            </m:e>
                          </m:func>
                        </m:sup>
                      </m:sSubSup>
                      <m:sSub>
                        <m:sSubPr>
                          <m:ctrlPr>
                            <a:rPr lang="en-GB" sz="1200" b="0" i="1" smtClean="0">
                              <a:solidFill>
                                <a:schemeClr val="tx1"/>
                              </a:solidFill>
                              <a:latin typeface="Cambria Math" panose="02040503050406030204" pitchFamily="18" charset="0"/>
                            </a:rPr>
                          </m:ctrlPr>
                        </m:sSubPr>
                        <m:e>
                          <m:r>
                            <a:rPr lang="en-GB" sz="1200" b="0" i="1" smtClean="0">
                              <a:solidFill>
                                <a:schemeClr val="tx1"/>
                              </a:solidFill>
                              <a:latin typeface="Cambria Math" panose="02040503050406030204" pitchFamily="18" charset="0"/>
                            </a:rPr>
                            <m:t>𝑇</m:t>
                          </m:r>
                        </m:e>
                        <m:sub>
                          <m:r>
                            <a:rPr lang="en-GB" sz="1200" b="0" i="1" smtClean="0">
                              <a:solidFill>
                                <a:schemeClr val="tx1"/>
                              </a:solidFill>
                              <a:latin typeface="Cambria Math" panose="02040503050406030204" pitchFamily="18" charset="0"/>
                            </a:rPr>
                            <m:t>𝑠</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𝑏𝑎𝑡</m:t>
                          </m:r>
                        </m:sub>
                      </m:sSub>
                    </m:oMath>
                  </m:oMathPara>
                </a14:m>
                <a:endParaRPr lang="en-DE" sz="1200" dirty="0"/>
              </a:p>
            </p:txBody>
          </p:sp>
        </mc:Choice>
        <mc:Fallback xmlns="">
          <p:sp>
            <p:nvSpPr>
              <p:cNvPr id="6" name="TextBox 5">
                <a:extLst>
                  <a:ext uri="{FF2B5EF4-FFF2-40B4-BE49-F238E27FC236}">
                    <a16:creationId xmlns:a16="http://schemas.microsoft.com/office/drawing/2014/main" id="{A226A5D0-C96D-85B6-4F94-26DA77B196D9}"/>
                  </a:ext>
                </a:extLst>
              </p:cNvPr>
              <p:cNvSpPr txBox="1">
                <a:spLocks noRot="1" noChangeAspect="1" noMove="1" noResize="1" noEditPoints="1" noAdjustHandles="1" noChangeArrowheads="1" noChangeShapeType="1" noTextEdit="1"/>
              </p:cNvSpPr>
              <p:nvPr/>
            </p:nvSpPr>
            <p:spPr>
              <a:xfrm>
                <a:off x="1075765" y="1514525"/>
                <a:ext cx="3206659" cy="351699"/>
              </a:xfrm>
              <a:prstGeom prst="rect">
                <a:avLst/>
              </a:prstGeom>
              <a:blipFill>
                <a:blip r:embed="rId2"/>
                <a:stretch>
                  <a:fillRect t="-5172" b="-15517"/>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F8B415C-6104-5AD1-7AF1-2A9220030FFA}"/>
                  </a:ext>
                </a:extLst>
              </p:cNvPr>
              <p:cNvSpPr txBox="1"/>
              <p:nvPr/>
            </p:nvSpPr>
            <p:spPr>
              <a:xfrm>
                <a:off x="924430" y="3215367"/>
                <a:ext cx="3206659" cy="3516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DE" sz="1200" i="1" smtClean="0">
                              <a:latin typeface="Cambria Math" panose="02040503050406030204" pitchFamily="18" charset="0"/>
                            </a:rPr>
                          </m:ctrlPr>
                        </m:fPr>
                        <m:num>
                          <m:r>
                            <a:rPr lang="en-GB" sz="1200" b="0" i="1" smtClean="0">
                              <a:latin typeface="Cambria Math" panose="02040503050406030204" pitchFamily="18" charset="0"/>
                            </a:rPr>
                            <m:t>𝑑</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𝑒𝑣</m:t>
                              </m:r>
                            </m:sub>
                          </m:sSub>
                          <m:r>
                            <a:rPr lang="en-GB" sz="1200" b="0" i="1" smtClean="0">
                              <a:latin typeface="Cambria Math" panose="02040503050406030204" pitchFamily="18" charset="0"/>
                            </a:rPr>
                            <m:t>)</m:t>
                          </m:r>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𝑒𝑣</m:t>
                          </m:r>
                        </m:sub>
                      </m:sSub>
                      <m:r>
                        <a:rPr lang="en-GB" sz="1200" b="0" i="1" smtClean="0">
                          <a:latin typeface="Cambria Math" panose="02040503050406030204" pitchFamily="18" charset="0"/>
                        </a:rPr>
                        <m:t>+</m:t>
                      </m:r>
                      <m:sSubSup>
                        <m:sSubSupPr>
                          <m:ctrlPr>
                            <a:rPr lang="en-GB" sz="1200" b="0" i="1" smtClean="0">
                              <a:latin typeface="Cambria Math" panose="02040503050406030204" pitchFamily="18" charset="0"/>
                            </a:rPr>
                          </m:ctrlPr>
                        </m:sSubSupPr>
                        <m:e>
                          <m:r>
                            <a:rPr lang="en-GB" sz="1200" b="0" i="1" smtClean="0">
                              <a:latin typeface="Cambria Math" panose="02040503050406030204" pitchFamily="18" charset="0"/>
                              <a:ea typeface="Cambria Math" panose="02040503050406030204" pitchFamily="18" charset="0"/>
                            </a:rPr>
                            <m:t>𝜂</m:t>
                          </m:r>
                        </m:e>
                        <m:sub>
                          <m:r>
                            <a:rPr lang="en-GB" sz="1200" b="0" i="1" smtClean="0">
                              <a:latin typeface="Cambria Math" panose="02040503050406030204" pitchFamily="18" charset="0"/>
                            </a:rPr>
                            <m:t>𝑒𝑣</m:t>
                          </m:r>
                        </m:sub>
                        <m:sup>
                          <m:func>
                            <m:funcPr>
                              <m:ctrlPr>
                                <a:rPr lang="en-GB" sz="1200" i="1">
                                  <a:latin typeface="Cambria Math" panose="02040503050406030204" pitchFamily="18" charset="0"/>
                                </a:rPr>
                              </m:ctrlPr>
                            </m:funcPr>
                            <m:fName>
                              <m:r>
                                <m:rPr>
                                  <m:sty m:val="p"/>
                                </m:rPr>
                                <a:rPr lang="en-GB" sz="1200">
                                  <a:latin typeface="Cambria Math" panose="02040503050406030204" pitchFamily="18" charset="0"/>
                                </a:rPr>
                                <m:t>sgn</m:t>
                              </m:r>
                            </m:fName>
                            <m:e>
                              <m:d>
                                <m:dPr>
                                  <m:ctrlPr>
                                    <a:rPr lang="en-GB" sz="1200" i="1">
                                      <a:latin typeface="Cambria Math" panose="02040503050406030204" pitchFamily="18" charset="0"/>
                                    </a:rPr>
                                  </m:ctrlPr>
                                </m:dPr>
                                <m:e>
                                  <m:sSub>
                                    <m:sSubPr>
                                      <m:ctrlPr>
                                        <a:rPr lang="en-GB" sz="1200" i="1">
                                          <a:latin typeface="Cambria Math" panose="02040503050406030204" pitchFamily="18" charset="0"/>
                                        </a:rPr>
                                      </m:ctrlPr>
                                    </m:sSubPr>
                                    <m:e>
                                      <m:r>
                                        <a:rPr lang="en-GB" sz="1200" i="1">
                                          <a:latin typeface="Cambria Math" panose="02040503050406030204" pitchFamily="18" charset="0"/>
                                        </a:rPr>
                                        <m:t>𝑃</m:t>
                                      </m:r>
                                    </m:e>
                                    <m:sub>
                                      <m:r>
                                        <a:rPr lang="en-GB" sz="1200" b="0" i="1" smtClean="0">
                                          <a:latin typeface="Cambria Math" panose="02040503050406030204" pitchFamily="18" charset="0"/>
                                        </a:rPr>
                                        <m:t>𝑒𝑣</m:t>
                                      </m:r>
                                    </m:sub>
                                  </m:sSub>
                                </m:e>
                              </m:d>
                            </m:e>
                          </m:func>
                        </m:sup>
                      </m:sSubSup>
                      <m:sSub>
                        <m:sSubPr>
                          <m:ctrlPr>
                            <a:rPr lang="en-GB" sz="1200" b="0" i="1" smtClean="0">
                              <a:solidFill>
                                <a:schemeClr val="tx1"/>
                              </a:solidFill>
                              <a:latin typeface="Cambria Math" panose="02040503050406030204" pitchFamily="18" charset="0"/>
                            </a:rPr>
                          </m:ctrlPr>
                        </m:sSubPr>
                        <m:e>
                          <m:r>
                            <a:rPr lang="en-GB" sz="1200" b="0" i="1" smtClean="0">
                              <a:solidFill>
                                <a:schemeClr val="tx1"/>
                              </a:solidFill>
                              <a:latin typeface="Cambria Math" panose="02040503050406030204" pitchFamily="18" charset="0"/>
                            </a:rPr>
                            <m:t>𝑇</m:t>
                          </m:r>
                        </m:e>
                        <m:sub>
                          <m:r>
                            <a:rPr lang="en-GB" sz="1200" b="0" i="1" smtClean="0">
                              <a:solidFill>
                                <a:schemeClr val="tx1"/>
                              </a:solidFill>
                              <a:latin typeface="Cambria Math" panose="02040503050406030204" pitchFamily="18" charset="0"/>
                            </a:rPr>
                            <m:t>𝑠</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𝑒𝑣</m:t>
                          </m:r>
                        </m:sub>
                      </m:sSub>
                    </m:oMath>
                  </m:oMathPara>
                </a14:m>
                <a:endParaRPr lang="en-DE" sz="1200" dirty="0"/>
              </a:p>
            </p:txBody>
          </p:sp>
        </mc:Choice>
        <mc:Fallback xmlns="">
          <p:sp>
            <p:nvSpPr>
              <p:cNvPr id="7" name="TextBox 6">
                <a:extLst>
                  <a:ext uri="{FF2B5EF4-FFF2-40B4-BE49-F238E27FC236}">
                    <a16:creationId xmlns:a16="http://schemas.microsoft.com/office/drawing/2014/main" id="{8F8B415C-6104-5AD1-7AF1-2A9220030FFA}"/>
                  </a:ext>
                </a:extLst>
              </p:cNvPr>
              <p:cNvSpPr txBox="1">
                <a:spLocks noRot="1" noChangeAspect="1" noMove="1" noResize="1" noEditPoints="1" noAdjustHandles="1" noChangeArrowheads="1" noChangeShapeType="1" noTextEdit="1"/>
              </p:cNvSpPr>
              <p:nvPr/>
            </p:nvSpPr>
            <p:spPr>
              <a:xfrm>
                <a:off x="924430" y="3215367"/>
                <a:ext cx="3206659" cy="351699"/>
              </a:xfrm>
              <a:prstGeom prst="rect">
                <a:avLst/>
              </a:prstGeom>
              <a:blipFill>
                <a:blip r:embed="rId3"/>
                <a:stretch>
                  <a:fillRect t="-5172" b="-15517"/>
                </a:stretch>
              </a:blipFill>
            </p:spPr>
            <p:txBody>
              <a:bodyPr/>
              <a:lstStyle/>
              <a:p>
                <a:r>
                  <a:rPr lang="en-DE">
                    <a:noFill/>
                  </a:rPr>
                  <a:t> </a:t>
                </a:r>
              </a:p>
            </p:txBody>
          </p:sp>
        </mc:Fallback>
      </mc:AlternateContent>
    </p:spTree>
    <p:extLst>
      <p:ext uri="{BB962C8B-B14F-4D97-AF65-F5344CB8AC3E}">
        <p14:creationId xmlns:p14="http://schemas.microsoft.com/office/powerpoint/2010/main" val="1077409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24C93C-461F-EF11-5322-183354394D8D}"/>
              </a:ext>
            </a:extLst>
          </p:cNvPr>
          <p:cNvSpPr>
            <a:spLocks noGrp="1"/>
          </p:cNvSpPr>
          <p:nvPr>
            <p:ph type="title"/>
          </p:nvPr>
        </p:nvSpPr>
        <p:spPr/>
        <p:txBody>
          <a:bodyPr/>
          <a:lstStyle/>
          <a:p>
            <a:r>
              <a:rPr lang="en-GB" dirty="0"/>
              <a:t>Model Predictive Control</a:t>
            </a:r>
            <a:endParaRPr lang="en-DE" dirty="0"/>
          </a:p>
        </p:txBody>
      </p:sp>
      <p:grpSp>
        <p:nvGrpSpPr>
          <p:cNvPr id="29" name="Group 28">
            <a:extLst>
              <a:ext uri="{FF2B5EF4-FFF2-40B4-BE49-F238E27FC236}">
                <a16:creationId xmlns:a16="http://schemas.microsoft.com/office/drawing/2014/main" id="{C5DA269E-E0A5-34CE-A0BE-4DFC1256E1CF}"/>
              </a:ext>
            </a:extLst>
          </p:cNvPr>
          <p:cNvGrpSpPr/>
          <p:nvPr/>
        </p:nvGrpSpPr>
        <p:grpSpPr>
          <a:xfrm>
            <a:off x="141038" y="1219413"/>
            <a:ext cx="3772056" cy="887046"/>
            <a:chOff x="141038" y="1219413"/>
            <a:chExt cx="3772056" cy="887046"/>
          </a:xfrm>
        </p:grpSpPr>
        <p:sp>
          <p:nvSpPr>
            <p:cNvPr id="5" name="Rectangle 4">
              <a:extLst>
                <a:ext uri="{FF2B5EF4-FFF2-40B4-BE49-F238E27FC236}">
                  <a16:creationId xmlns:a16="http://schemas.microsoft.com/office/drawing/2014/main" id="{967732C3-2365-CF2E-E12A-0C447DAA7941}"/>
                </a:ext>
              </a:extLst>
            </p:cNvPr>
            <p:cNvSpPr/>
            <p:nvPr/>
          </p:nvSpPr>
          <p:spPr>
            <a:xfrm>
              <a:off x="141038" y="1219413"/>
              <a:ext cx="3772056" cy="887046"/>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5500B24-389A-F50D-77CE-3DCA324EC825}"/>
                    </a:ext>
                  </a:extLst>
                </p:cNvPr>
                <p:cNvSpPr txBox="1"/>
                <p:nvPr/>
              </p:nvSpPr>
              <p:spPr>
                <a:xfrm>
                  <a:off x="1701523" y="1532958"/>
                  <a:ext cx="975898"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DE" sz="1200" i="1" smtClean="0">
                                <a:latin typeface="Cambria Math" panose="02040503050406030204" pitchFamily="18" charset="0"/>
                              </a:rPr>
                            </m:ctrlPr>
                          </m:accPr>
                          <m:e>
                            <m:r>
                              <a:rPr lang="en-GB" sz="1200" b="0" i="1" smtClean="0">
                                <a:latin typeface="Cambria Math" panose="02040503050406030204" pitchFamily="18" charset="0"/>
                              </a:rPr>
                              <m:t>𝑥</m:t>
                            </m:r>
                          </m:e>
                        </m:acc>
                        <m:r>
                          <a:rPr lang="en-GB" sz="1200" b="0" i="1" smtClean="0">
                            <a:latin typeface="Cambria Math" panose="02040503050406030204" pitchFamily="18" charset="0"/>
                          </a:rPr>
                          <m:t>=</m:t>
                        </m:r>
                        <m:r>
                          <a:rPr lang="en-GB" sz="1200" b="0" i="1" smtClean="0">
                            <a:latin typeface="Cambria Math" panose="02040503050406030204" pitchFamily="18" charset="0"/>
                          </a:rPr>
                          <m:t>𝑓</m:t>
                        </m:r>
                        <m:r>
                          <a:rPr lang="en-GB" sz="1200" b="0" i="1" smtClean="0">
                            <a:latin typeface="Cambria Math" panose="02040503050406030204" pitchFamily="18" charset="0"/>
                          </a:rPr>
                          <m:t>(</m:t>
                        </m:r>
                        <m:r>
                          <a:rPr lang="en-GB" sz="1200" b="0" i="1" smtClean="0">
                            <a:latin typeface="Cambria Math" panose="02040503050406030204" pitchFamily="18" charset="0"/>
                          </a:rPr>
                          <m:t>𝑥</m:t>
                        </m:r>
                        <m:r>
                          <a:rPr lang="en-GB" sz="1200" b="0" i="1" smtClean="0">
                            <a:latin typeface="Cambria Math" panose="02040503050406030204" pitchFamily="18" charset="0"/>
                          </a:rPr>
                          <m:t>,</m:t>
                        </m:r>
                        <m:r>
                          <a:rPr lang="en-GB" sz="1200" b="0" i="1" smtClean="0">
                            <a:latin typeface="Cambria Math" panose="02040503050406030204" pitchFamily="18" charset="0"/>
                          </a:rPr>
                          <m:t>𝑢</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𝑢</m:t>
                            </m:r>
                          </m:e>
                          <m:sub>
                            <m:r>
                              <a:rPr lang="en-GB" sz="1200" b="0" i="1" smtClean="0">
                                <a:latin typeface="Cambria Math" panose="02040503050406030204" pitchFamily="18" charset="0"/>
                              </a:rPr>
                              <m:t>𝑑</m:t>
                            </m:r>
                          </m:sub>
                        </m:sSub>
                        <m:r>
                          <a:rPr lang="en-GB" sz="1200" b="0" i="1" smtClean="0">
                            <a:latin typeface="Cambria Math" panose="02040503050406030204" pitchFamily="18" charset="0"/>
                          </a:rPr>
                          <m:t>)</m:t>
                        </m:r>
                      </m:oMath>
                    </m:oMathPara>
                  </a14:m>
                  <a:endParaRPr lang="en-DE" sz="1200" dirty="0"/>
                </a:p>
              </p:txBody>
            </p:sp>
          </mc:Choice>
          <mc:Fallback xmlns="">
            <p:sp>
              <p:nvSpPr>
                <p:cNvPr id="6" name="TextBox 5">
                  <a:extLst>
                    <a:ext uri="{FF2B5EF4-FFF2-40B4-BE49-F238E27FC236}">
                      <a16:creationId xmlns:a16="http://schemas.microsoft.com/office/drawing/2014/main" id="{35500B24-389A-F50D-77CE-3DCA324EC825}"/>
                    </a:ext>
                  </a:extLst>
                </p:cNvPr>
                <p:cNvSpPr txBox="1">
                  <a:spLocks noRot="1" noChangeAspect="1" noMove="1" noResize="1" noEditPoints="1" noAdjustHandles="1" noChangeArrowheads="1" noChangeShapeType="1" noTextEdit="1"/>
                </p:cNvSpPr>
                <p:nvPr/>
              </p:nvSpPr>
              <p:spPr>
                <a:xfrm>
                  <a:off x="1701523" y="1532958"/>
                  <a:ext cx="975898" cy="184666"/>
                </a:xfrm>
                <a:prstGeom prst="rect">
                  <a:avLst/>
                </a:prstGeom>
                <a:blipFill>
                  <a:blip r:embed="rId3"/>
                  <a:stretch>
                    <a:fillRect l="-3125" t="-3226" r="-7500" b="-35484"/>
                  </a:stretch>
                </a:blipFill>
              </p:spPr>
              <p:txBody>
                <a:bodyPr/>
                <a:lstStyle/>
                <a:p>
                  <a:r>
                    <a:rPr lang="en-DE">
                      <a:noFill/>
                    </a:rPr>
                    <a:t> </a:t>
                  </a:r>
                </a:p>
              </p:txBody>
            </p:sp>
          </mc:Fallback>
        </mc:AlternateContent>
        <p:sp>
          <p:nvSpPr>
            <p:cNvPr id="7" name="TextBox 6">
              <a:extLst>
                <a:ext uri="{FF2B5EF4-FFF2-40B4-BE49-F238E27FC236}">
                  <a16:creationId xmlns:a16="http://schemas.microsoft.com/office/drawing/2014/main" id="{146F4E76-E4AD-F9B9-4FEF-9BB7021757D0}"/>
                </a:ext>
              </a:extLst>
            </p:cNvPr>
            <p:cNvSpPr txBox="1"/>
            <p:nvPr/>
          </p:nvSpPr>
          <p:spPr>
            <a:xfrm>
              <a:off x="141038" y="1219413"/>
              <a:ext cx="1128478" cy="276999"/>
            </a:xfrm>
            <a:prstGeom prst="rect">
              <a:avLst/>
            </a:prstGeom>
            <a:noFill/>
          </p:spPr>
          <p:txBody>
            <a:bodyPr wrap="none" rtlCol="0">
              <a:spAutoFit/>
            </a:bodyPr>
            <a:lstStyle/>
            <a:p>
              <a:r>
                <a:rPr lang="en-GB" sz="1200" u="sng" dirty="0"/>
                <a:t>System dynamic</a:t>
              </a:r>
              <a:endParaRPr lang="en-DE" sz="1200" u="sng"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0769A97-B9CE-1643-4820-EAE5D6122F3E}"/>
                    </a:ext>
                  </a:extLst>
                </p:cNvPr>
                <p:cNvSpPr txBox="1"/>
                <p:nvPr/>
              </p:nvSpPr>
              <p:spPr>
                <a:xfrm>
                  <a:off x="1685927" y="1814007"/>
                  <a:ext cx="214251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𝑥</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𝑘</m:t>
                            </m:r>
                            <m:r>
                              <a:rPr lang="en-GB" sz="1200" b="0" i="1" smtClean="0">
                                <a:latin typeface="Cambria Math" panose="02040503050406030204" pitchFamily="18" charset="0"/>
                              </a:rPr>
                              <m:t>+1</m:t>
                            </m:r>
                          </m:e>
                        </m:d>
                        <m:r>
                          <a:rPr lang="en-GB" sz="1200" b="0" i="1" smtClean="0">
                            <a:latin typeface="Cambria Math" panose="02040503050406030204" pitchFamily="18" charset="0"/>
                          </a:rPr>
                          <m:t>=</m:t>
                        </m:r>
                        <m:r>
                          <a:rPr lang="en-GB" sz="1200" b="0" i="1" smtClean="0">
                            <a:latin typeface="Cambria Math" panose="02040503050406030204" pitchFamily="18" charset="0"/>
                          </a:rPr>
                          <m:t>𝑓</m:t>
                        </m:r>
                        <m:r>
                          <a:rPr lang="en-GB" sz="1200" b="0" i="1" smtClean="0">
                            <a:latin typeface="Cambria Math" panose="02040503050406030204" pitchFamily="18" charset="0"/>
                          </a:rPr>
                          <m:t>(</m:t>
                        </m:r>
                        <m:r>
                          <a:rPr lang="en-GB" sz="1200" b="0" i="1" smtClean="0">
                            <a:latin typeface="Cambria Math" panose="02040503050406030204" pitchFamily="18" charset="0"/>
                          </a:rPr>
                          <m:t>𝑥</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𝑘</m:t>
                            </m:r>
                          </m:e>
                        </m:d>
                        <m:r>
                          <a:rPr lang="en-GB" sz="1200" b="0" i="1" smtClean="0">
                            <a:latin typeface="Cambria Math" panose="02040503050406030204" pitchFamily="18" charset="0"/>
                          </a:rPr>
                          <m:t>,</m:t>
                        </m:r>
                        <m:r>
                          <a:rPr lang="en-GB" sz="1200" b="0" i="1" smtClean="0">
                            <a:latin typeface="Cambria Math" panose="02040503050406030204" pitchFamily="18" charset="0"/>
                          </a:rPr>
                          <m:t>𝑢</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𝑘</m:t>
                            </m:r>
                          </m:e>
                        </m:d>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𝑢</m:t>
                            </m:r>
                          </m:e>
                          <m:sub>
                            <m:r>
                              <a:rPr lang="en-GB" sz="1200" b="0" i="1" smtClean="0">
                                <a:latin typeface="Cambria Math" panose="02040503050406030204" pitchFamily="18" charset="0"/>
                              </a:rPr>
                              <m:t>𝑑</m:t>
                            </m:r>
                          </m:sub>
                        </m:sSub>
                        <m:r>
                          <a:rPr lang="en-GB" sz="1200" b="0" i="1" smtClean="0">
                            <a:latin typeface="Cambria Math" panose="02040503050406030204" pitchFamily="18" charset="0"/>
                          </a:rPr>
                          <m:t>(</m:t>
                        </m:r>
                        <m:r>
                          <a:rPr lang="en-GB" sz="1200" b="0" i="1" smtClean="0">
                            <a:latin typeface="Cambria Math" panose="02040503050406030204" pitchFamily="18" charset="0"/>
                          </a:rPr>
                          <m:t>𝑘</m:t>
                        </m:r>
                        <m:r>
                          <a:rPr lang="en-GB" sz="1200" b="0" i="1" smtClean="0">
                            <a:latin typeface="Cambria Math" panose="02040503050406030204" pitchFamily="18" charset="0"/>
                          </a:rPr>
                          <m:t>))</m:t>
                        </m:r>
                      </m:oMath>
                    </m:oMathPara>
                  </a14:m>
                  <a:endParaRPr lang="en-DE" sz="1200" dirty="0"/>
                </a:p>
              </p:txBody>
            </p:sp>
          </mc:Choice>
          <mc:Fallback xmlns="">
            <p:sp>
              <p:nvSpPr>
                <p:cNvPr id="8" name="TextBox 7">
                  <a:extLst>
                    <a:ext uri="{FF2B5EF4-FFF2-40B4-BE49-F238E27FC236}">
                      <a16:creationId xmlns:a16="http://schemas.microsoft.com/office/drawing/2014/main" id="{B0769A97-B9CE-1643-4820-EAE5D6122F3E}"/>
                    </a:ext>
                  </a:extLst>
                </p:cNvPr>
                <p:cNvSpPr txBox="1">
                  <a:spLocks noRot="1" noChangeAspect="1" noMove="1" noResize="1" noEditPoints="1" noAdjustHandles="1" noChangeArrowheads="1" noChangeShapeType="1" noTextEdit="1"/>
                </p:cNvSpPr>
                <p:nvPr/>
              </p:nvSpPr>
              <p:spPr>
                <a:xfrm>
                  <a:off x="1685927" y="1814007"/>
                  <a:ext cx="2142510" cy="184666"/>
                </a:xfrm>
                <a:prstGeom prst="rect">
                  <a:avLst/>
                </a:prstGeom>
                <a:blipFill>
                  <a:blip r:embed="rId4"/>
                  <a:stretch>
                    <a:fillRect l="-855" t="-6667" r="-1994" b="-36667"/>
                  </a:stretch>
                </a:blipFill>
              </p:spPr>
              <p:txBody>
                <a:bodyPr/>
                <a:lstStyle/>
                <a:p>
                  <a:r>
                    <a:rPr lang="en-DE">
                      <a:noFill/>
                    </a:rPr>
                    <a:t> </a:t>
                  </a:r>
                </a:p>
              </p:txBody>
            </p:sp>
          </mc:Fallback>
        </mc:AlternateContent>
        <p:sp>
          <p:nvSpPr>
            <p:cNvPr id="9" name="TextBox 8">
              <a:extLst>
                <a:ext uri="{FF2B5EF4-FFF2-40B4-BE49-F238E27FC236}">
                  <a16:creationId xmlns:a16="http://schemas.microsoft.com/office/drawing/2014/main" id="{6BC7D733-7FFF-C175-0CC7-244CDF32F961}"/>
                </a:ext>
              </a:extLst>
            </p:cNvPr>
            <p:cNvSpPr txBox="1"/>
            <p:nvPr/>
          </p:nvSpPr>
          <p:spPr>
            <a:xfrm>
              <a:off x="381215" y="1496412"/>
              <a:ext cx="1178733" cy="276999"/>
            </a:xfrm>
            <a:prstGeom prst="rect">
              <a:avLst/>
            </a:prstGeom>
            <a:noFill/>
          </p:spPr>
          <p:txBody>
            <a:bodyPr wrap="square" rtlCol="0">
              <a:spAutoFit/>
            </a:bodyPr>
            <a:lstStyle/>
            <a:p>
              <a:pPr marL="285750" indent="-285750">
                <a:buFont typeface="Arial" panose="020B0604020202020204" pitchFamily="34" charset="0"/>
                <a:buChar char="•"/>
              </a:pPr>
              <a:r>
                <a:rPr lang="en-GB" sz="1200" dirty="0"/>
                <a:t>Continuous</a:t>
              </a:r>
              <a:endParaRPr lang="en-DE" sz="1200" dirty="0"/>
            </a:p>
          </p:txBody>
        </p:sp>
        <p:sp>
          <p:nvSpPr>
            <p:cNvPr id="10" name="TextBox 9">
              <a:extLst>
                <a:ext uri="{FF2B5EF4-FFF2-40B4-BE49-F238E27FC236}">
                  <a16:creationId xmlns:a16="http://schemas.microsoft.com/office/drawing/2014/main" id="{6DEB851B-8CC1-AA88-DC06-35D35EDC5394}"/>
                </a:ext>
              </a:extLst>
            </p:cNvPr>
            <p:cNvSpPr txBox="1"/>
            <p:nvPr/>
          </p:nvSpPr>
          <p:spPr>
            <a:xfrm>
              <a:off x="381215" y="1799211"/>
              <a:ext cx="930276" cy="276999"/>
            </a:xfrm>
            <a:prstGeom prst="rect">
              <a:avLst/>
            </a:prstGeom>
            <a:noFill/>
          </p:spPr>
          <p:txBody>
            <a:bodyPr wrap="none" rtlCol="0">
              <a:spAutoFit/>
            </a:bodyPr>
            <a:lstStyle/>
            <a:p>
              <a:pPr marL="285750" indent="-285750">
                <a:buFont typeface="Arial" panose="020B0604020202020204" pitchFamily="34" charset="0"/>
                <a:buChar char="•"/>
              </a:pPr>
              <a:r>
                <a:rPr lang="en-GB" sz="1200" dirty="0"/>
                <a:t>Discrete</a:t>
              </a:r>
              <a:endParaRPr lang="en-DE" sz="1200" dirty="0"/>
            </a:p>
          </p:txBody>
        </p:sp>
      </p:grpSp>
      <p:sp>
        <p:nvSpPr>
          <p:cNvPr id="12" name="Rectangle 11">
            <a:extLst>
              <a:ext uri="{FF2B5EF4-FFF2-40B4-BE49-F238E27FC236}">
                <a16:creationId xmlns:a16="http://schemas.microsoft.com/office/drawing/2014/main" id="{7EFD84B1-D7D8-B4D5-D4E6-A6DDA2059D5A}"/>
              </a:ext>
            </a:extLst>
          </p:cNvPr>
          <p:cNvSpPr/>
          <p:nvPr/>
        </p:nvSpPr>
        <p:spPr>
          <a:xfrm>
            <a:off x="141038" y="2332643"/>
            <a:ext cx="2696291" cy="1716843"/>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DE"/>
          </a:p>
        </p:txBody>
      </p:sp>
      <p:grpSp>
        <p:nvGrpSpPr>
          <p:cNvPr id="13" name="Group 12">
            <a:extLst>
              <a:ext uri="{FF2B5EF4-FFF2-40B4-BE49-F238E27FC236}">
                <a16:creationId xmlns:a16="http://schemas.microsoft.com/office/drawing/2014/main" id="{97F6DE24-3345-A5F9-C9B8-B05CC044F0FD}"/>
              </a:ext>
            </a:extLst>
          </p:cNvPr>
          <p:cNvGrpSpPr/>
          <p:nvPr/>
        </p:nvGrpSpPr>
        <p:grpSpPr>
          <a:xfrm>
            <a:off x="139945" y="2332643"/>
            <a:ext cx="2567843" cy="1481231"/>
            <a:chOff x="210502" y="2138295"/>
            <a:chExt cx="2567843" cy="1481231"/>
          </a:xfrm>
        </p:grpSpPr>
        <p:grpSp>
          <p:nvGrpSpPr>
            <p:cNvPr id="14" name="Group 13">
              <a:extLst>
                <a:ext uri="{FF2B5EF4-FFF2-40B4-BE49-F238E27FC236}">
                  <a16:creationId xmlns:a16="http://schemas.microsoft.com/office/drawing/2014/main" id="{82E974CB-0C52-C326-1C65-44301FA85DE8}"/>
                </a:ext>
              </a:extLst>
            </p:cNvPr>
            <p:cNvGrpSpPr/>
            <p:nvPr/>
          </p:nvGrpSpPr>
          <p:grpSpPr>
            <a:xfrm>
              <a:off x="523817" y="2520427"/>
              <a:ext cx="2254528" cy="1099099"/>
              <a:chOff x="523817" y="2520427"/>
              <a:chExt cx="2254528" cy="1099099"/>
            </a:xfrm>
          </p:grpSpPr>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1CC2558-6D38-9FE5-5B6E-E0B6357C905F}"/>
                      </a:ext>
                    </a:extLst>
                  </p:cNvPr>
                  <p:cNvSpPr txBox="1"/>
                  <p:nvPr/>
                </p:nvSpPr>
                <p:spPr>
                  <a:xfrm>
                    <a:off x="523817" y="2520427"/>
                    <a:ext cx="2254528" cy="519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1200" i="1" smtClean="0">
                                  <a:latin typeface="Cambria Math" panose="02040503050406030204" pitchFamily="18" charset="0"/>
                                </a:rPr>
                              </m:ctrlPr>
                            </m:funcPr>
                            <m:fName>
                              <m:limLow>
                                <m:limLowPr>
                                  <m:ctrlPr>
                                    <a:rPr lang="en-US" sz="1200" i="1" smtClean="0">
                                      <a:latin typeface="Cambria Math" panose="02040503050406030204" pitchFamily="18" charset="0"/>
                                    </a:rPr>
                                  </m:ctrlPr>
                                </m:limLowPr>
                                <m:e>
                                  <m:r>
                                    <m:rPr>
                                      <m:sty m:val="p"/>
                                    </m:rPr>
                                    <a:rPr lang="en-US" sz="1200" i="0" smtClean="0">
                                      <a:latin typeface="Cambria Math" panose="02040503050406030204" pitchFamily="18" charset="0"/>
                                    </a:rPr>
                                    <m:t>min</m:t>
                                  </m:r>
                                </m:e>
                                <m:lim>
                                  <m:r>
                                    <a:rPr lang="en-GB" sz="1200" b="1" i="1" smtClean="0">
                                      <a:latin typeface="Cambria Math" panose="02040503050406030204" pitchFamily="18" charset="0"/>
                                    </a:rPr>
                                    <m:t>𝒙</m:t>
                                  </m:r>
                                  <m:r>
                                    <a:rPr lang="en-GB" sz="1200" b="0" i="1" smtClean="0">
                                      <a:latin typeface="Cambria Math" panose="02040503050406030204" pitchFamily="18" charset="0"/>
                                    </a:rPr>
                                    <m:t>,</m:t>
                                  </m:r>
                                  <m:r>
                                    <a:rPr lang="en-GB" sz="1200" b="1" i="1" smtClean="0">
                                      <a:latin typeface="Cambria Math" panose="02040503050406030204" pitchFamily="18" charset="0"/>
                                    </a:rPr>
                                    <m:t>𝒖</m:t>
                                  </m:r>
                                  <m:r>
                                    <a:rPr lang="en-GB" sz="1200" b="0" i="1" smtClean="0">
                                      <a:latin typeface="Cambria Math" panose="02040503050406030204" pitchFamily="18" charset="0"/>
                                    </a:rPr>
                                    <m:t> </m:t>
                                  </m:r>
                                </m:lim>
                              </m:limLow>
                            </m:fName>
                            <m:e>
                              <m:nary>
                                <m:naryPr>
                                  <m:chr m:val="∑"/>
                                  <m:ctrlPr>
                                    <a:rPr lang="en-US" sz="1200" i="1" smtClean="0">
                                      <a:latin typeface="Cambria Math" panose="02040503050406030204" pitchFamily="18" charset="0"/>
                                    </a:rPr>
                                  </m:ctrlPr>
                                </m:naryPr>
                                <m:sub>
                                  <m:r>
                                    <m:rPr>
                                      <m:brk m:alnAt="23"/>
                                    </m:rPr>
                                    <a:rPr lang="en-GB" sz="1200" b="0" i="1" smtClean="0">
                                      <a:latin typeface="Cambria Math" panose="02040503050406030204" pitchFamily="18" charset="0"/>
                                    </a:rPr>
                                    <m:t>𝑘</m:t>
                                  </m:r>
                                  <m:r>
                                    <a:rPr lang="en-GB" sz="1200" b="0" i="1" smtClean="0">
                                      <a:latin typeface="Cambria Math" panose="02040503050406030204" pitchFamily="18" charset="0"/>
                                    </a:rPr>
                                    <m:t>=0</m:t>
                                  </m:r>
                                </m:sub>
                                <m:sup>
                                  <m:r>
                                    <a:rPr lang="en-GB" sz="1200" b="0" i="1" smtClean="0">
                                      <a:latin typeface="Cambria Math" panose="02040503050406030204" pitchFamily="18" charset="0"/>
                                    </a:rPr>
                                    <m:t>𝑁</m:t>
                                  </m:r>
                                  <m:r>
                                    <a:rPr lang="en-GB" sz="1200" b="0" i="1" smtClean="0">
                                      <a:latin typeface="Cambria Math" panose="02040503050406030204" pitchFamily="18" charset="0"/>
                                    </a:rPr>
                                    <m:t>−1</m:t>
                                  </m:r>
                                </m:sup>
                                <m:e>
                                  <m:r>
                                    <a:rPr lang="en-US" sz="1200" i="1" smtClean="0">
                                      <a:latin typeface="Cambria Math" panose="02040503050406030204" pitchFamily="18" charset="0"/>
                                      <a:ea typeface="Cambria Math" panose="02040503050406030204" pitchFamily="18" charset="0"/>
                                    </a:rPr>
                                    <m:t>ℓ</m:t>
                                  </m:r>
                                  <m:d>
                                    <m:dPr>
                                      <m:ctrlPr>
                                        <a:rPr lang="en-GB" sz="1200" b="0" i="1" smtClean="0">
                                          <a:latin typeface="Cambria Math" panose="02040503050406030204" pitchFamily="18" charset="0"/>
                                          <a:ea typeface="Cambria Math" panose="02040503050406030204" pitchFamily="18" charset="0"/>
                                        </a:rPr>
                                      </m:ctrlPr>
                                    </m:dPr>
                                    <m:e>
                                      <m:r>
                                        <a:rPr lang="en-GB" sz="1200" b="0" i="1" smtClean="0">
                                          <a:latin typeface="Cambria Math" panose="02040503050406030204" pitchFamily="18" charset="0"/>
                                          <a:ea typeface="Cambria Math" panose="02040503050406030204" pitchFamily="18" charset="0"/>
                                        </a:rPr>
                                        <m:t>𝑥</m:t>
                                      </m:r>
                                      <m:d>
                                        <m:dPr>
                                          <m:ctrlPr>
                                            <a:rPr lang="en-GB" sz="1200" b="0" i="1" smtClean="0">
                                              <a:latin typeface="Cambria Math" panose="02040503050406030204" pitchFamily="18" charset="0"/>
                                              <a:ea typeface="Cambria Math" panose="02040503050406030204" pitchFamily="18" charset="0"/>
                                            </a:rPr>
                                          </m:ctrlPr>
                                        </m:dPr>
                                        <m:e>
                                          <m:r>
                                            <a:rPr lang="en-GB" sz="1200" b="0" i="1" smtClean="0">
                                              <a:latin typeface="Cambria Math" panose="02040503050406030204" pitchFamily="18" charset="0"/>
                                              <a:ea typeface="Cambria Math" panose="02040503050406030204" pitchFamily="18" charset="0"/>
                                            </a:rPr>
                                            <m:t>𝑘</m:t>
                                          </m:r>
                                        </m:e>
                                      </m:d>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𝑢</m:t>
                                      </m:r>
                                      <m:d>
                                        <m:dPr>
                                          <m:ctrlPr>
                                            <a:rPr lang="en-GB" sz="1200" b="0" i="1" smtClean="0">
                                              <a:latin typeface="Cambria Math" panose="02040503050406030204" pitchFamily="18" charset="0"/>
                                              <a:ea typeface="Cambria Math" panose="02040503050406030204" pitchFamily="18" charset="0"/>
                                            </a:rPr>
                                          </m:ctrlPr>
                                        </m:dPr>
                                        <m:e>
                                          <m:r>
                                            <a:rPr lang="en-GB" sz="1200" b="0" i="1" smtClean="0">
                                              <a:latin typeface="Cambria Math" panose="02040503050406030204" pitchFamily="18" charset="0"/>
                                              <a:ea typeface="Cambria Math" panose="02040503050406030204" pitchFamily="18" charset="0"/>
                                            </a:rPr>
                                            <m:t>𝑘</m:t>
                                          </m:r>
                                        </m:e>
                                      </m:d>
                                    </m:e>
                                  </m:d>
                                </m:e>
                              </m:nary>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𝑉</m:t>
                                  </m:r>
                                </m:e>
                                <m:sub>
                                  <m:r>
                                    <a:rPr lang="en-GB" sz="1200" b="0" i="1" smtClean="0">
                                      <a:latin typeface="Cambria Math" panose="02040503050406030204" pitchFamily="18" charset="0"/>
                                    </a:rPr>
                                    <m:t>𝑓</m:t>
                                  </m:r>
                                </m:sub>
                              </m:sSub>
                              <m:r>
                                <a:rPr lang="en-GB" sz="1200" b="0" i="1" smtClean="0">
                                  <a:latin typeface="Cambria Math" panose="02040503050406030204" pitchFamily="18" charset="0"/>
                                </a:rPr>
                                <m:t>(</m:t>
                              </m:r>
                              <m:r>
                                <a:rPr lang="en-GB" sz="1200" b="0" i="1" smtClean="0">
                                  <a:latin typeface="Cambria Math" panose="02040503050406030204" pitchFamily="18" charset="0"/>
                                </a:rPr>
                                <m:t>𝑥</m:t>
                              </m:r>
                              <m:r>
                                <a:rPr lang="en-GB" sz="1200" b="0" i="1" smtClean="0">
                                  <a:latin typeface="Cambria Math" panose="02040503050406030204" pitchFamily="18" charset="0"/>
                                </a:rPr>
                                <m:t>(</m:t>
                              </m:r>
                              <m:r>
                                <a:rPr lang="en-GB" sz="1200" b="0" i="1" smtClean="0">
                                  <a:latin typeface="Cambria Math" panose="02040503050406030204" pitchFamily="18" charset="0"/>
                                </a:rPr>
                                <m:t>𝑁</m:t>
                              </m:r>
                              <m:r>
                                <a:rPr lang="en-GB" sz="1200" b="0" i="1" smtClean="0">
                                  <a:latin typeface="Cambria Math" panose="02040503050406030204" pitchFamily="18" charset="0"/>
                                </a:rPr>
                                <m:t>))</m:t>
                              </m:r>
                            </m:e>
                          </m:func>
                        </m:oMath>
                      </m:oMathPara>
                    </a14:m>
                    <a:endParaRPr lang="en-DE" sz="1200" dirty="0"/>
                  </a:p>
                </p:txBody>
              </p:sp>
            </mc:Choice>
            <mc:Fallback xmlns="">
              <p:sp>
                <p:nvSpPr>
                  <p:cNvPr id="16" name="TextBox 15">
                    <a:extLst>
                      <a:ext uri="{FF2B5EF4-FFF2-40B4-BE49-F238E27FC236}">
                        <a16:creationId xmlns:a16="http://schemas.microsoft.com/office/drawing/2014/main" id="{31CC2558-6D38-9FE5-5B6E-E0B6357C905F}"/>
                      </a:ext>
                    </a:extLst>
                  </p:cNvPr>
                  <p:cNvSpPr txBox="1">
                    <a:spLocks noRot="1" noChangeAspect="1" noMove="1" noResize="1" noEditPoints="1" noAdjustHandles="1" noChangeArrowheads="1" noChangeShapeType="1" noTextEdit="1"/>
                  </p:cNvSpPr>
                  <p:nvPr/>
                </p:nvSpPr>
                <p:spPr>
                  <a:xfrm>
                    <a:off x="523817" y="2520427"/>
                    <a:ext cx="2254528" cy="519501"/>
                  </a:xfrm>
                  <a:prstGeom prst="rect">
                    <a:avLst/>
                  </a:prstGeom>
                  <a:blipFill>
                    <a:blip r:embed="rId5"/>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B737092-3CDC-5D9E-B395-FBBA7F97FDAE}"/>
                      </a:ext>
                    </a:extLst>
                  </p:cNvPr>
                  <p:cNvSpPr txBox="1"/>
                  <p:nvPr/>
                </p:nvSpPr>
                <p:spPr>
                  <a:xfrm>
                    <a:off x="523817" y="3145061"/>
                    <a:ext cx="1722844"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1" i="1" smtClean="0">
                              <a:latin typeface="Cambria Math" panose="02040503050406030204" pitchFamily="18" charset="0"/>
                            </a:rPr>
                            <m:t>𝒙</m:t>
                          </m:r>
                          <m:box>
                            <m:boxPr>
                              <m:ctrlPr>
                                <a:rPr lang="en-DE" sz="1200" i="1" smtClean="0">
                                  <a:latin typeface="Cambria Math" panose="02040503050406030204" pitchFamily="18" charset="0"/>
                                </a:rPr>
                              </m:ctrlPr>
                            </m:boxPr>
                            <m:e>
                              <m:r>
                                <a:rPr lang="en-DE" sz="1200" i="1" smtClean="0">
                                  <a:latin typeface="Cambria Math" panose="02040503050406030204" pitchFamily="18" charset="0"/>
                                </a:rPr>
                                <m:t>≔</m:t>
                              </m:r>
                            </m:e>
                          </m:box>
                          <m:r>
                            <a:rPr lang="en-GB" sz="1200" b="0" i="1" smtClean="0">
                              <a:latin typeface="Cambria Math" panose="02040503050406030204" pitchFamily="18" charset="0"/>
                            </a:rPr>
                            <m:t>(</m:t>
                          </m:r>
                          <m:r>
                            <a:rPr lang="en-GB" sz="1200" b="0" i="1" smtClean="0">
                              <a:latin typeface="Cambria Math" panose="02040503050406030204" pitchFamily="18" charset="0"/>
                            </a:rPr>
                            <m:t>𝑥</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0</m:t>
                              </m:r>
                            </m:e>
                          </m:d>
                          <m:r>
                            <a:rPr lang="en-GB" sz="1200" b="0" i="1" smtClean="0">
                              <a:latin typeface="Cambria Math" panose="02040503050406030204" pitchFamily="18" charset="0"/>
                            </a:rPr>
                            <m:t>,</m:t>
                          </m:r>
                          <m:r>
                            <a:rPr lang="en-GB" sz="1200" b="0" i="1" smtClean="0">
                              <a:latin typeface="Cambria Math" panose="02040503050406030204" pitchFamily="18" charset="0"/>
                            </a:rPr>
                            <m:t>𝑥</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1</m:t>
                              </m:r>
                            </m:e>
                          </m:d>
                          <m:r>
                            <a:rPr lang="en-GB" sz="1200" b="0" i="1" smtClean="0">
                              <a:latin typeface="Cambria Math" panose="02040503050406030204" pitchFamily="18" charset="0"/>
                            </a:rPr>
                            <m:t>,…,</m:t>
                          </m:r>
                          <m:r>
                            <a:rPr lang="en-GB" sz="1200" b="0" i="1" smtClean="0">
                              <a:latin typeface="Cambria Math" panose="02040503050406030204" pitchFamily="18" charset="0"/>
                            </a:rPr>
                            <m:t>𝑥</m:t>
                          </m:r>
                          <m:r>
                            <a:rPr lang="en-GB" sz="1200" b="0" i="1" smtClean="0">
                              <a:latin typeface="Cambria Math" panose="02040503050406030204" pitchFamily="18" charset="0"/>
                            </a:rPr>
                            <m:t>(</m:t>
                          </m:r>
                          <m:r>
                            <a:rPr lang="en-GB" sz="1200" b="0" i="1" smtClean="0">
                              <a:latin typeface="Cambria Math" panose="02040503050406030204" pitchFamily="18" charset="0"/>
                            </a:rPr>
                            <m:t>𝑁</m:t>
                          </m:r>
                          <m:r>
                            <a:rPr lang="en-GB" sz="1200" b="0" i="1" smtClean="0">
                              <a:latin typeface="Cambria Math" panose="02040503050406030204" pitchFamily="18" charset="0"/>
                            </a:rPr>
                            <m:t>))</m:t>
                          </m:r>
                        </m:oMath>
                      </m:oMathPara>
                    </a14:m>
                    <a:endParaRPr lang="en-DE" sz="1200" dirty="0"/>
                  </a:p>
                </p:txBody>
              </p:sp>
            </mc:Choice>
            <mc:Fallback xmlns="">
              <p:sp>
                <p:nvSpPr>
                  <p:cNvPr id="17" name="TextBox 16">
                    <a:extLst>
                      <a:ext uri="{FF2B5EF4-FFF2-40B4-BE49-F238E27FC236}">
                        <a16:creationId xmlns:a16="http://schemas.microsoft.com/office/drawing/2014/main" id="{AB737092-3CDC-5D9E-B395-FBBA7F97FDAE}"/>
                      </a:ext>
                    </a:extLst>
                  </p:cNvPr>
                  <p:cNvSpPr txBox="1">
                    <a:spLocks noRot="1" noChangeAspect="1" noMove="1" noResize="1" noEditPoints="1" noAdjustHandles="1" noChangeArrowheads="1" noChangeShapeType="1" noTextEdit="1"/>
                  </p:cNvSpPr>
                  <p:nvPr/>
                </p:nvSpPr>
                <p:spPr>
                  <a:xfrm>
                    <a:off x="523817" y="3145061"/>
                    <a:ext cx="1722844" cy="184666"/>
                  </a:xfrm>
                  <a:prstGeom prst="rect">
                    <a:avLst/>
                  </a:prstGeom>
                  <a:blipFill>
                    <a:blip r:embed="rId6"/>
                    <a:stretch>
                      <a:fillRect l="-707" t="-6667" r="-2827" b="-36667"/>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E22F4A7-2D0F-9047-B6CB-525DA39B37A9}"/>
                      </a:ext>
                    </a:extLst>
                  </p:cNvPr>
                  <p:cNvSpPr txBox="1"/>
                  <p:nvPr/>
                </p:nvSpPr>
                <p:spPr>
                  <a:xfrm>
                    <a:off x="523817" y="3434860"/>
                    <a:ext cx="2014141"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1" i="1" smtClean="0">
                              <a:latin typeface="Cambria Math" panose="02040503050406030204" pitchFamily="18" charset="0"/>
                            </a:rPr>
                            <m:t>𝒖</m:t>
                          </m:r>
                          <m:box>
                            <m:boxPr>
                              <m:ctrlPr>
                                <a:rPr lang="en-DE" sz="1200" i="1" smtClean="0">
                                  <a:latin typeface="Cambria Math" panose="02040503050406030204" pitchFamily="18" charset="0"/>
                                </a:rPr>
                              </m:ctrlPr>
                            </m:boxPr>
                            <m:e>
                              <m:r>
                                <a:rPr lang="en-DE" sz="1200" i="1" smtClean="0">
                                  <a:latin typeface="Cambria Math" panose="02040503050406030204" pitchFamily="18" charset="0"/>
                                </a:rPr>
                                <m:t>≔</m:t>
                              </m:r>
                            </m:e>
                          </m:box>
                          <m:r>
                            <a:rPr lang="en-GB" sz="1200" b="0" i="1" smtClean="0">
                              <a:latin typeface="Cambria Math" panose="02040503050406030204" pitchFamily="18" charset="0"/>
                            </a:rPr>
                            <m:t>(</m:t>
                          </m:r>
                          <m:r>
                            <a:rPr lang="en-GB" sz="1200" b="0" i="1" smtClean="0">
                              <a:latin typeface="Cambria Math" panose="02040503050406030204" pitchFamily="18" charset="0"/>
                            </a:rPr>
                            <m:t>𝑢</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0</m:t>
                              </m:r>
                            </m:e>
                          </m:d>
                          <m:r>
                            <a:rPr lang="en-GB" sz="1200" b="0" i="1" smtClean="0">
                              <a:latin typeface="Cambria Math" panose="02040503050406030204" pitchFamily="18" charset="0"/>
                            </a:rPr>
                            <m:t>,</m:t>
                          </m:r>
                          <m:r>
                            <a:rPr lang="en-GB" sz="1200" b="0" i="1" smtClean="0">
                              <a:latin typeface="Cambria Math" panose="02040503050406030204" pitchFamily="18" charset="0"/>
                            </a:rPr>
                            <m:t>𝑢</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1</m:t>
                              </m:r>
                            </m:e>
                          </m:d>
                          <m:r>
                            <a:rPr lang="en-GB" sz="1200" b="0" i="1" smtClean="0">
                              <a:latin typeface="Cambria Math" panose="02040503050406030204" pitchFamily="18" charset="0"/>
                            </a:rPr>
                            <m:t>,…,</m:t>
                          </m:r>
                          <m:r>
                            <a:rPr lang="en-GB" sz="1200" b="0" i="1" smtClean="0">
                              <a:latin typeface="Cambria Math" panose="02040503050406030204" pitchFamily="18" charset="0"/>
                            </a:rPr>
                            <m:t>𝑢</m:t>
                          </m:r>
                          <m:r>
                            <a:rPr lang="en-GB" sz="1200" b="0" i="1" smtClean="0">
                              <a:latin typeface="Cambria Math" panose="02040503050406030204" pitchFamily="18" charset="0"/>
                            </a:rPr>
                            <m:t>(</m:t>
                          </m:r>
                          <m:r>
                            <a:rPr lang="en-GB" sz="1200" b="0" i="1" smtClean="0">
                              <a:latin typeface="Cambria Math" panose="02040503050406030204" pitchFamily="18" charset="0"/>
                            </a:rPr>
                            <m:t>𝑁</m:t>
                          </m:r>
                          <m:r>
                            <a:rPr lang="en-GB" sz="1200" b="0" i="1" smtClean="0">
                              <a:latin typeface="Cambria Math" panose="02040503050406030204" pitchFamily="18" charset="0"/>
                            </a:rPr>
                            <m:t>−1))</m:t>
                          </m:r>
                        </m:oMath>
                      </m:oMathPara>
                    </a14:m>
                    <a:endParaRPr lang="en-DE" sz="1200" dirty="0"/>
                  </a:p>
                </p:txBody>
              </p:sp>
            </mc:Choice>
            <mc:Fallback xmlns="">
              <p:sp>
                <p:nvSpPr>
                  <p:cNvPr id="18" name="TextBox 17">
                    <a:extLst>
                      <a:ext uri="{FF2B5EF4-FFF2-40B4-BE49-F238E27FC236}">
                        <a16:creationId xmlns:a16="http://schemas.microsoft.com/office/drawing/2014/main" id="{9E22F4A7-2D0F-9047-B6CB-525DA39B37A9}"/>
                      </a:ext>
                    </a:extLst>
                  </p:cNvPr>
                  <p:cNvSpPr txBox="1">
                    <a:spLocks noRot="1" noChangeAspect="1" noMove="1" noResize="1" noEditPoints="1" noAdjustHandles="1" noChangeArrowheads="1" noChangeShapeType="1" noTextEdit="1"/>
                  </p:cNvSpPr>
                  <p:nvPr/>
                </p:nvSpPr>
                <p:spPr>
                  <a:xfrm>
                    <a:off x="523817" y="3434860"/>
                    <a:ext cx="2014141" cy="184666"/>
                  </a:xfrm>
                  <a:prstGeom prst="rect">
                    <a:avLst/>
                  </a:prstGeom>
                  <a:blipFill>
                    <a:blip r:embed="rId7"/>
                    <a:stretch>
                      <a:fillRect l="-604" t="-3226" r="-2417" b="-35484"/>
                    </a:stretch>
                  </a:blipFill>
                </p:spPr>
                <p:txBody>
                  <a:bodyPr/>
                  <a:lstStyle/>
                  <a:p>
                    <a:r>
                      <a:rPr lang="en-DE">
                        <a:noFill/>
                      </a:rPr>
                      <a:t> </a:t>
                    </a:r>
                  </a:p>
                </p:txBody>
              </p:sp>
            </mc:Fallback>
          </mc:AlternateContent>
        </p:grpSp>
        <p:sp>
          <p:nvSpPr>
            <p:cNvPr id="15" name="TextBox 14">
              <a:extLst>
                <a:ext uri="{FF2B5EF4-FFF2-40B4-BE49-F238E27FC236}">
                  <a16:creationId xmlns:a16="http://schemas.microsoft.com/office/drawing/2014/main" id="{2A6CF294-5827-3783-5E88-325B2A9E0229}"/>
                </a:ext>
              </a:extLst>
            </p:cNvPr>
            <p:cNvSpPr txBox="1"/>
            <p:nvPr/>
          </p:nvSpPr>
          <p:spPr>
            <a:xfrm>
              <a:off x="210502" y="2138295"/>
              <a:ext cx="1055755" cy="276999"/>
            </a:xfrm>
            <a:prstGeom prst="rect">
              <a:avLst/>
            </a:prstGeom>
            <a:noFill/>
          </p:spPr>
          <p:txBody>
            <a:bodyPr wrap="square" rtlCol="0">
              <a:spAutoFit/>
            </a:bodyPr>
            <a:lstStyle/>
            <a:p>
              <a:r>
                <a:rPr lang="en-GB" sz="1200" u="sng" dirty="0"/>
                <a:t>Cost function</a:t>
              </a:r>
              <a:endParaRPr lang="en-DE" sz="1200" u="sng" dirty="0"/>
            </a:p>
          </p:txBody>
        </p:sp>
      </p:grpSp>
      <p:sp>
        <p:nvSpPr>
          <p:cNvPr id="19" name="Rectangle 18">
            <a:extLst>
              <a:ext uri="{FF2B5EF4-FFF2-40B4-BE49-F238E27FC236}">
                <a16:creationId xmlns:a16="http://schemas.microsoft.com/office/drawing/2014/main" id="{203BB1B3-4450-77A3-4D31-5BAB5BEFEA8A}"/>
              </a:ext>
            </a:extLst>
          </p:cNvPr>
          <p:cNvSpPr/>
          <p:nvPr/>
        </p:nvSpPr>
        <p:spPr>
          <a:xfrm>
            <a:off x="4159489" y="1219413"/>
            <a:ext cx="3671350" cy="2409795"/>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DE"/>
          </a:p>
        </p:txBody>
      </p:sp>
      <p:sp>
        <p:nvSpPr>
          <p:cNvPr id="21" name="TextBox 20">
            <a:extLst>
              <a:ext uri="{FF2B5EF4-FFF2-40B4-BE49-F238E27FC236}">
                <a16:creationId xmlns:a16="http://schemas.microsoft.com/office/drawing/2014/main" id="{56CE47F5-827B-6329-B5C7-D019422A59B6}"/>
              </a:ext>
            </a:extLst>
          </p:cNvPr>
          <p:cNvSpPr txBox="1"/>
          <p:nvPr/>
        </p:nvSpPr>
        <p:spPr>
          <a:xfrm>
            <a:off x="4393786" y="1591499"/>
            <a:ext cx="803553" cy="276999"/>
          </a:xfrm>
          <a:prstGeom prst="rect">
            <a:avLst/>
          </a:prstGeom>
          <a:solidFill>
            <a:schemeClr val="bg1"/>
          </a:solidFill>
        </p:spPr>
        <p:txBody>
          <a:bodyPr wrap="none" rtlCol="0">
            <a:spAutoFit/>
          </a:bodyPr>
          <a:lstStyle/>
          <a:p>
            <a:r>
              <a:rPr lang="en-GB" sz="1200" dirty="0"/>
              <a:t>subject to</a:t>
            </a:r>
            <a:endParaRPr lang="en-DE" sz="1200"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F5A650F-0F6D-1651-0A89-D318D42DC440}"/>
                  </a:ext>
                </a:extLst>
              </p:cNvPr>
              <p:cNvSpPr txBox="1"/>
              <p:nvPr/>
            </p:nvSpPr>
            <p:spPr>
              <a:xfrm>
                <a:off x="4517160" y="1914141"/>
                <a:ext cx="687752" cy="184666"/>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𝑥</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0</m:t>
                          </m:r>
                        </m:e>
                      </m:d>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𝑥</m:t>
                          </m:r>
                        </m:e>
                        <m:sub>
                          <m:r>
                            <a:rPr lang="en-GB" sz="1200" b="0" i="1" smtClean="0">
                              <a:latin typeface="Cambria Math" panose="02040503050406030204" pitchFamily="18" charset="0"/>
                            </a:rPr>
                            <m:t>0</m:t>
                          </m:r>
                        </m:sub>
                      </m:sSub>
                    </m:oMath>
                  </m:oMathPara>
                </a14:m>
                <a:endParaRPr lang="en-DE" sz="1200" dirty="0"/>
              </a:p>
            </p:txBody>
          </p:sp>
        </mc:Choice>
        <mc:Fallback xmlns="">
          <p:sp>
            <p:nvSpPr>
              <p:cNvPr id="23" name="TextBox 22">
                <a:extLst>
                  <a:ext uri="{FF2B5EF4-FFF2-40B4-BE49-F238E27FC236}">
                    <a16:creationId xmlns:a16="http://schemas.microsoft.com/office/drawing/2014/main" id="{DF5A650F-0F6D-1651-0A89-D318D42DC440}"/>
                  </a:ext>
                </a:extLst>
              </p:cNvPr>
              <p:cNvSpPr txBox="1">
                <a:spLocks noRot="1" noChangeAspect="1" noMove="1" noResize="1" noEditPoints="1" noAdjustHandles="1" noChangeArrowheads="1" noChangeShapeType="1" noTextEdit="1"/>
              </p:cNvSpPr>
              <p:nvPr/>
            </p:nvSpPr>
            <p:spPr>
              <a:xfrm>
                <a:off x="4517160" y="1914141"/>
                <a:ext cx="687752" cy="184666"/>
              </a:xfrm>
              <a:prstGeom prst="rect">
                <a:avLst/>
              </a:prstGeom>
              <a:blipFill>
                <a:blip r:embed="rId8"/>
                <a:stretch>
                  <a:fillRect l="-2655" r="-885" b="-1333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B444889-89FD-B72A-D15A-20DFE9E1E360}"/>
                  </a:ext>
                </a:extLst>
              </p:cNvPr>
              <p:cNvSpPr txBox="1"/>
              <p:nvPr/>
            </p:nvSpPr>
            <p:spPr>
              <a:xfrm>
                <a:off x="4486508" y="2152660"/>
                <a:ext cx="3247556" cy="208455"/>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𝑥</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𝑘</m:t>
                          </m:r>
                          <m:r>
                            <a:rPr lang="en-GB" sz="1200" b="0" i="1" smtClean="0">
                              <a:latin typeface="Cambria Math" panose="02040503050406030204" pitchFamily="18" charset="0"/>
                            </a:rPr>
                            <m:t>+1</m:t>
                          </m:r>
                        </m:e>
                      </m:d>
                      <m:r>
                        <a:rPr lang="en-GB" sz="1200" b="0" i="1" smtClean="0">
                          <a:latin typeface="Cambria Math" panose="02040503050406030204" pitchFamily="18" charset="0"/>
                        </a:rPr>
                        <m:t>=</m:t>
                      </m:r>
                      <m:r>
                        <a:rPr lang="en-GB" sz="1200" b="0" i="1" smtClean="0">
                          <a:latin typeface="Cambria Math" panose="02040503050406030204" pitchFamily="18" charset="0"/>
                        </a:rPr>
                        <m:t>𝑓</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𝑥</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𝑘</m:t>
                              </m:r>
                            </m:e>
                          </m:d>
                          <m:r>
                            <a:rPr lang="en-GB" sz="1200" b="0" i="1" smtClean="0">
                              <a:latin typeface="Cambria Math" panose="02040503050406030204" pitchFamily="18" charset="0"/>
                            </a:rPr>
                            <m:t>,</m:t>
                          </m:r>
                          <m:r>
                            <a:rPr lang="en-GB" sz="1200" b="0" i="1" smtClean="0">
                              <a:latin typeface="Cambria Math" panose="02040503050406030204" pitchFamily="18" charset="0"/>
                            </a:rPr>
                            <m:t>𝑢</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𝑘</m:t>
                              </m:r>
                            </m:e>
                          </m:d>
                        </m:e>
                      </m:d>
                      <m:r>
                        <a:rPr lang="en-GB" sz="1200" b="0" i="1" smtClean="0">
                          <a:latin typeface="Cambria Math" panose="02040503050406030204" pitchFamily="18" charset="0"/>
                        </a:rPr>
                        <m:t>,    </m:t>
                      </m:r>
                      <m:r>
                        <a:rPr lang="en-GB" sz="1200" b="0" i="1" smtClean="0">
                          <a:latin typeface="Cambria Math" panose="02040503050406030204" pitchFamily="18" charset="0"/>
                        </a:rPr>
                        <m:t>𝑘</m:t>
                      </m:r>
                      <m:r>
                        <a:rPr lang="en-GB" sz="1200" b="0" i="1" smtClean="0">
                          <a:latin typeface="Cambria Math" panose="02040503050406030204" pitchFamily="18" charset="0"/>
                        </a:rPr>
                        <m:t>=0,1,…,</m:t>
                      </m:r>
                      <m:r>
                        <a:rPr lang="en-GB" sz="1200" b="0" i="1" smtClean="0">
                          <a:latin typeface="Cambria Math" panose="02040503050406030204" pitchFamily="18" charset="0"/>
                        </a:rPr>
                        <m:t>𝑁</m:t>
                      </m:r>
                      <m:r>
                        <a:rPr lang="en-GB" sz="1200" b="0" i="1" smtClean="0">
                          <a:latin typeface="Cambria Math" panose="02040503050406030204" pitchFamily="18" charset="0"/>
                        </a:rPr>
                        <m:t>−1</m:t>
                      </m:r>
                    </m:oMath>
                  </m:oMathPara>
                </a14:m>
                <a:endParaRPr lang="en-DE" sz="1200" dirty="0"/>
              </a:p>
            </p:txBody>
          </p:sp>
        </mc:Choice>
        <mc:Fallback xmlns="">
          <p:sp>
            <p:nvSpPr>
              <p:cNvPr id="24" name="TextBox 23">
                <a:extLst>
                  <a:ext uri="{FF2B5EF4-FFF2-40B4-BE49-F238E27FC236}">
                    <a16:creationId xmlns:a16="http://schemas.microsoft.com/office/drawing/2014/main" id="{DB444889-89FD-B72A-D15A-20DFE9E1E360}"/>
                  </a:ext>
                </a:extLst>
              </p:cNvPr>
              <p:cNvSpPr txBox="1">
                <a:spLocks noRot="1" noChangeAspect="1" noMove="1" noResize="1" noEditPoints="1" noAdjustHandles="1" noChangeArrowheads="1" noChangeShapeType="1" noTextEdit="1"/>
              </p:cNvSpPr>
              <p:nvPr/>
            </p:nvSpPr>
            <p:spPr>
              <a:xfrm>
                <a:off x="4486508" y="2152660"/>
                <a:ext cx="3247556" cy="208455"/>
              </a:xfrm>
              <a:prstGeom prst="rect">
                <a:avLst/>
              </a:prstGeom>
              <a:blipFill>
                <a:blip r:embed="rId9"/>
                <a:stretch>
                  <a:fillRect l="-375" r="-563" b="-2647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36617E2-A80E-47F7-D9C5-E5FCEC37581D}"/>
                  </a:ext>
                </a:extLst>
              </p:cNvPr>
              <p:cNvSpPr txBox="1"/>
              <p:nvPr/>
            </p:nvSpPr>
            <p:spPr>
              <a:xfrm>
                <a:off x="4517160" y="2414968"/>
                <a:ext cx="2771464" cy="184666"/>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𝑥</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𝑘</m:t>
                          </m:r>
                        </m:e>
                      </m:d>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𝕏</m:t>
                      </m:r>
                      <m:r>
                        <a:rPr lang="en-GB" sz="1200" b="0" i="1" smtClean="0">
                          <a:latin typeface="Cambria Math" panose="02040503050406030204" pitchFamily="18" charset="0"/>
                        </a:rPr>
                        <m:t>,                      </m:t>
                      </m:r>
                      <m:r>
                        <a:rPr lang="en-GB" sz="1200" b="0" i="1" smtClean="0">
                          <a:latin typeface="Cambria Math" panose="02040503050406030204" pitchFamily="18" charset="0"/>
                        </a:rPr>
                        <m:t>𝑘</m:t>
                      </m:r>
                      <m:r>
                        <a:rPr lang="en-GB" sz="1200" b="0" i="1" smtClean="0">
                          <a:latin typeface="Cambria Math" panose="02040503050406030204" pitchFamily="18" charset="0"/>
                        </a:rPr>
                        <m:t>=0,1,…,</m:t>
                      </m:r>
                      <m:r>
                        <a:rPr lang="en-GB" sz="1200" b="0" i="1" smtClean="0">
                          <a:latin typeface="Cambria Math" panose="02040503050406030204" pitchFamily="18" charset="0"/>
                        </a:rPr>
                        <m:t>𝑁</m:t>
                      </m:r>
                      <m:r>
                        <a:rPr lang="en-GB" sz="1200" b="0" i="1" smtClean="0">
                          <a:latin typeface="Cambria Math" panose="02040503050406030204" pitchFamily="18" charset="0"/>
                        </a:rPr>
                        <m:t>−1</m:t>
                      </m:r>
                    </m:oMath>
                  </m:oMathPara>
                </a14:m>
                <a:endParaRPr lang="en-DE" sz="1200" dirty="0"/>
              </a:p>
            </p:txBody>
          </p:sp>
        </mc:Choice>
        <mc:Fallback xmlns="">
          <p:sp>
            <p:nvSpPr>
              <p:cNvPr id="25" name="TextBox 24">
                <a:extLst>
                  <a:ext uri="{FF2B5EF4-FFF2-40B4-BE49-F238E27FC236}">
                    <a16:creationId xmlns:a16="http://schemas.microsoft.com/office/drawing/2014/main" id="{236617E2-A80E-47F7-D9C5-E5FCEC37581D}"/>
                  </a:ext>
                </a:extLst>
              </p:cNvPr>
              <p:cNvSpPr txBox="1">
                <a:spLocks noRot="1" noChangeAspect="1" noMove="1" noResize="1" noEditPoints="1" noAdjustHandles="1" noChangeArrowheads="1" noChangeShapeType="1" noTextEdit="1"/>
              </p:cNvSpPr>
              <p:nvPr/>
            </p:nvSpPr>
            <p:spPr>
              <a:xfrm>
                <a:off x="4517160" y="2414968"/>
                <a:ext cx="2771464" cy="184666"/>
              </a:xfrm>
              <a:prstGeom prst="rect">
                <a:avLst/>
              </a:prstGeom>
              <a:blipFill>
                <a:blip r:embed="rId10"/>
                <a:stretch>
                  <a:fillRect l="-220" r="-879" b="-10000"/>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B07DC72-F715-2692-66B0-3A7EBABB583E}"/>
                  </a:ext>
                </a:extLst>
              </p:cNvPr>
              <p:cNvSpPr txBox="1"/>
              <p:nvPr/>
            </p:nvSpPr>
            <p:spPr>
              <a:xfrm>
                <a:off x="4486508" y="2914943"/>
                <a:ext cx="719299" cy="199478"/>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𝑥</m:t>
                      </m:r>
                      <m:r>
                        <a:rPr lang="en-GB" sz="1200" b="0" i="1" smtClean="0">
                          <a:latin typeface="Cambria Math" panose="02040503050406030204" pitchFamily="18" charset="0"/>
                        </a:rPr>
                        <m:t>(</m:t>
                      </m:r>
                      <m:r>
                        <a:rPr lang="en-GB" sz="1200" b="0" i="1" smtClean="0">
                          <a:latin typeface="Cambria Math" panose="02040503050406030204" pitchFamily="18" charset="0"/>
                        </a:rPr>
                        <m:t>𝑁</m:t>
                      </m:r>
                      <m:r>
                        <a:rPr lang="en-GB" sz="1200" b="0" i="1" smtClean="0">
                          <a:latin typeface="Cambria Math" panose="02040503050406030204" pitchFamily="18" charset="0"/>
                        </a:rPr>
                        <m:t>)∈</m:t>
                      </m:r>
                      <m:sSub>
                        <m:sSubPr>
                          <m:ctrlPr>
                            <a:rPr lang="en-GB" sz="1200" b="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𝕏</m:t>
                          </m:r>
                        </m:e>
                        <m:sub>
                          <m:r>
                            <a:rPr lang="en-GB" sz="1200" b="0" i="1" smtClean="0">
                              <a:latin typeface="Cambria Math" panose="02040503050406030204" pitchFamily="18" charset="0"/>
                              <a:ea typeface="Cambria Math" panose="02040503050406030204" pitchFamily="18" charset="0"/>
                            </a:rPr>
                            <m:t>𝑓</m:t>
                          </m:r>
                        </m:sub>
                      </m:sSub>
                    </m:oMath>
                  </m:oMathPara>
                </a14:m>
                <a:endParaRPr lang="en-DE" sz="1200" dirty="0"/>
              </a:p>
            </p:txBody>
          </p:sp>
        </mc:Choice>
        <mc:Fallback xmlns="">
          <p:sp>
            <p:nvSpPr>
              <p:cNvPr id="26" name="TextBox 25">
                <a:extLst>
                  <a:ext uri="{FF2B5EF4-FFF2-40B4-BE49-F238E27FC236}">
                    <a16:creationId xmlns:a16="http://schemas.microsoft.com/office/drawing/2014/main" id="{7B07DC72-F715-2692-66B0-3A7EBABB583E}"/>
                  </a:ext>
                </a:extLst>
              </p:cNvPr>
              <p:cNvSpPr txBox="1">
                <a:spLocks noRot="1" noChangeAspect="1" noMove="1" noResize="1" noEditPoints="1" noAdjustHandles="1" noChangeArrowheads="1" noChangeShapeType="1" noTextEdit="1"/>
              </p:cNvSpPr>
              <p:nvPr/>
            </p:nvSpPr>
            <p:spPr>
              <a:xfrm>
                <a:off x="4486508" y="2914943"/>
                <a:ext cx="719299" cy="199478"/>
              </a:xfrm>
              <a:prstGeom prst="rect">
                <a:avLst/>
              </a:prstGeom>
              <a:blipFill>
                <a:blip r:embed="rId11"/>
                <a:stretch>
                  <a:fillRect l="-3390" r="-3390" b="-30303"/>
                </a:stretch>
              </a:blipFill>
            </p:spPr>
            <p:txBody>
              <a:bodyPr/>
              <a:lstStyle/>
              <a:p>
                <a:r>
                  <a:rPr lang="en-DE">
                    <a:noFill/>
                  </a:rPr>
                  <a:t> </a:t>
                </a:r>
              </a:p>
            </p:txBody>
          </p:sp>
        </mc:Fallback>
      </mc:AlternateContent>
      <p:sp>
        <p:nvSpPr>
          <p:cNvPr id="27" name="TextBox 26">
            <a:extLst>
              <a:ext uri="{FF2B5EF4-FFF2-40B4-BE49-F238E27FC236}">
                <a16:creationId xmlns:a16="http://schemas.microsoft.com/office/drawing/2014/main" id="{20E338D0-4533-35FA-BCD5-8FA81D2F3DE2}"/>
              </a:ext>
            </a:extLst>
          </p:cNvPr>
          <p:cNvSpPr txBox="1"/>
          <p:nvPr/>
        </p:nvSpPr>
        <p:spPr>
          <a:xfrm>
            <a:off x="4209885" y="1243818"/>
            <a:ext cx="827599" cy="276999"/>
          </a:xfrm>
          <a:prstGeom prst="rect">
            <a:avLst/>
          </a:prstGeom>
          <a:solidFill>
            <a:schemeClr val="bg1"/>
          </a:solidFill>
        </p:spPr>
        <p:txBody>
          <a:bodyPr wrap="none" rtlCol="0">
            <a:spAutoFit/>
          </a:bodyPr>
          <a:lstStyle/>
          <a:p>
            <a:r>
              <a:rPr lang="en-GB" sz="1200" u="sng" dirty="0"/>
              <a:t>Constraint</a:t>
            </a:r>
            <a:endParaRPr lang="en-DE" sz="1200" u="sng"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5027194-C03A-73F4-5C45-819C6C6F8C96}"/>
                  </a:ext>
                </a:extLst>
              </p:cNvPr>
              <p:cNvSpPr txBox="1"/>
              <p:nvPr/>
            </p:nvSpPr>
            <p:spPr>
              <a:xfrm>
                <a:off x="4505636" y="2676424"/>
                <a:ext cx="2781915" cy="184666"/>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𝑢</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𝑘</m:t>
                          </m:r>
                        </m:e>
                      </m:d>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𝕌</m:t>
                      </m:r>
                      <m:r>
                        <a:rPr lang="en-GB" sz="1200" b="0" i="1" smtClean="0">
                          <a:latin typeface="Cambria Math" panose="02040503050406030204" pitchFamily="18" charset="0"/>
                        </a:rPr>
                        <m:t>,                      </m:t>
                      </m:r>
                      <m:r>
                        <a:rPr lang="en-GB" sz="1200" b="0" i="1" smtClean="0">
                          <a:latin typeface="Cambria Math" panose="02040503050406030204" pitchFamily="18" charset="0"/>
                        </a:rPr>
                        <m:t>𝑘</m:t>
                      </m:r>
                      <m:r>
                        <a:rPr lang="en-GB" sz="1200" b="0" i="1" smtClean="0">
                          <a:latin typeface="Cambria Math" panose="02040503050406030204" pitchFamily="18" charset="0"/>
                        </a:rPr>
                        <m:t>=0,1,…,</m:t>
                      </m:r>
                      <m:r>
                        <a:rPr lang="en-GB" sz="1200" b="0" i="1" smtClean="0">
                          <a:latin typeface="Cambria Math" panose="02040503050406030204" pitchFamily="18" charset="0"/>
                        </a:rPr>
                        <m:t>𝑁</m:t>
                      </m:r>
                      <m:r>
                        <a:rPr lang="en-GB" sz="1200" b="0" i="1" smtClean="0">
                          <a:latin typeface="Cambria Math" panose="02040503050406030204" pitchFamily="18" charset="0"/>
                        </a:rPr>
                        <m:t>−1</m:t>
                      </m:r>
                    </m:oMath>
                  </m:oMathPara>
                </a14:m>
                <a:endParaRPr lang="en-DE" sz="1200" dirty="0"/>
              </a:p>
            </p:txBody>
          </p:sp>
        </mc:Choice>
        <mc:Fallback xmlns="">
          <p:sp>
            <p:nvSpPr>
              <p:cNvPr id="31" name="TextBox 30">
                <a:extLst>
                  <a:ext uri="{FF2B5EF4-FFF2-40B4-BE49-F238E27FC236}">
                    <a16:creationId xmlns:a16="http://schemas.microsoft.com/office/drawing/2014/main" id="{B5027194-C03A-73F4-5C45-819C6C6F8C96}"/>
                  </a:ext>
                </a:extLst>
              </p:cNvPr>
              <p:cNvSpPr txBox="1">
                <a:spLocks noRot="1" noChangeAspect="1" noMove="1" noResize="1" noEditPoints="1" noAdjustHandles="1" noChangeArrowheads="1" noChangeShapeType="1" noTextEdit="1"/>
              </p:cNvSpPr>
              <p:nvPr/>
            </p:nvSpPr>
            <p:spPr>
              <a:xfrm>
                <a:off x="4505636" y="2676424"/>
                <a:ext cx="2781915" cy="184666"/>
              </a:xfrm>
              <a:prstGeom prst="rect">
                <a:avLst/>
              </a:prstGeom>
              <a:blipFill>
                <a:blip r:embed="rId12"/>
                <a:stretch>
                  <a:fillRect l="-219" r="-877" b="-10000"/>
                </a:stretch>
              </a:blipFill>
            </p:spPr>
            <p:txBody>
              <a:bodyPr/>
              <a:lstStyle/>
              <a:p>
                <a:r>
                  <a:rPr lang="en-DE">
                    <a:noFill/>
                  </a:rPr>
                  <a:t> </a:t>
                </a:r>
              </a:p>
            </p:txBody>
          </p:sp>
        </mc:Fallback>
      </mc:AlternateContent>
    </p:spTree>
    <p:extLst>
      <p:ext uri="{BB962C8B-B14F-4D97-AF65-F5344CB8AC3E}">
        <p14:creationId xmlns:p14="http://schemas.microsoft.com/office/powerpoint/2010/main" val="961767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0E0A719A-C759-CD64-FB78-F6EA899F5045}"/>
              </a:ext>
            </a:extLst>
          </p:cNvPr>
          <p:cNvSpPr/>
          <p:nvPr/>
        </p:nvSpPr>
        <p:spPr>
          <a:xfrm>
            <a:off x="4850371" y="2335759"/>
            <a:ext cx="2679982" cy="173909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p:sp>
        <p:nvSpPr>
          <p:cNvPr id="35" name="Rectangle 34">
            <a:extLst>
              <a:ext uri="{FF2B5EF4-FFF2-40B4-BE49-F238E27FC236}">
                <a16:creationId xmlns:a16="http://schemas.microsoft.com/office/drawing/2014/main" id="{F880B77B-AD8B-F755-EAEA-F8F5418371A8}"/>
              </a:ext>
            </a:extLst>
          </p:cNvPr>
          <p:cNvSpPr/>
          <p:nvPr/>
        </p:nvSpPr>
        <p:spPr>
          <a:xfrm>
            <a:off x="396687" y="2335759"/>
            <a:ext cx="3496237" cy="137271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p:sp>
        <p:nvSpPr>
          <p:cNvPr id="32" name="Rectangle 31">
            <a:extLst>
              <a:ext uri="{FF2B5EF4-FFF2-40B4-BE49-F238E27FC236}">
                <a16:creationId xmlns:a16="http://schemas.microsoft.com/office/drawing/2014/main" id="{0CF920CE-E4BC-FAF6-7697-59BF2065814B}"/>
              </a:ext>
            </a:extLst>
          </p:cNvPr>
          <p:cNvSpPr/>
          <p:nvPr/>
        </p:nvSpPr>
        <p:spPr>
          <a:xfrm>
            <a:off x="396687" y="993229"/>
            <a:ext cx="4867707" cy="115395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p:sp>
        <p:nvSpPr>
          <p:cNvPr id="3" name="Title 2">
            <a:extLst>
              <a:ext uri="{FF2B5EF4-FFF2-40B4-BE49-F238E27FC236}">
                <a16:creationId xmlns:a16="http://schemas.microsoft.com/office/drawing/2014/main" id="{B0F98753-8F7F-893B-A71D-6925027B8B32}"/>
              </a:ext>
            </a:extLst>
          </p:cNvPr>
          <p:cNvSpPr>
            <a:spLocks noGrp="1"/>
          </p:cNvSpPr>
          <p:nvPr>
            <p:ph type="title"/>
          </p:nvPr>
        </p:nvSpPr>
        <p:spPr/>
        <p:txBody>
          <a:bodyPr/>
          <a:lstStyle/>
          <a:p>
            <a:r>
              <a:rPr lang="en-GB" dirty="0"/>
              <a:t>Model Predictive Control</a:t>
            </a:r>
            <a:endParaRPr lang="en-D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5E0756F-B995-C948-14E2-4D78D3003481}"/>
                  </a:ext>
                </a:extLst>
              </p:cNvPr>
              <p:cNvSpPr txBox="1"/>
              <p:nvPr/>
            </p:nvSpPr>
            <p:spPr>
              <a:xfrm>
                <a:off x="487145" y="1147718"/>
                <a:ext cx="369447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𝑆𝑡𝑎𝑡𝑒𝑠</m:t>
                      </m:r>
                      <m:r>
                        <a:rPr lang="en-GB" sz="1200" b="0" i="1" smtClean="0">
                          <a:latin typeface="Cambria Math" panose="02040503050406030204" pitchFamily="18" charset="0"/>
                        </a:rPr>
                        <m:t>,</m:t>
                      </m:r>
                      <m:r>
                        <a:rPr lang="en-GB" sz="1200" b="0" i="1" smtClean="0">
                          <a:latin typeface="Cambria Math" panose="02040503050406030204" pitchFamily="18" charset="0"/>
                        </a:rPr>
                        <m:t>𝑥</m:t>
                      </m:r>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d>
                            <m:dPr>
                              <m:begChr m:val="["/>
                              <m:endChr m:val="]"/>
                              <m:ctrlPr>
                                <a:rPr lang="en-GB" sz="1200" b="0" i="1" smtClean="0">
                                  <a:latin typeface="Cambria Math" panose="02040503050406030204" pitchFamily="18" charset="0"/>
                                </a:rPr>
                              </m:ctrlPr>
                            </m:dPr>
                            <m:e>
                              <m:m>
                                <m:mPr>
                                  <m:mcs>
                                    <m:mc>
                                      <m:mcPr>
                                        <m:count m:val="2"/>
                                        <m:mcJc m:val="center"/>
                                      </m:mcPr>
                                    </m:mc>
                                  </m:mcs>
                                  <m:ctrlPr>
                                    <a:rPr lang="en-GB" sz="1200" b="0" i="1" smtClean="0">
                                      <a:latin typeface="Cambria Math" panose="02040503050406030204" pitchFamily="18" charset="0"/>
                                    </a:rPr>
                                  </m:ctrlPr>
                                </m:mPr>
                                <m:mr>
                                  <m:e>
                                    <m:m>
                                      <m:mPr>
                                        <m:mcs>
                                          <m:mc>
                                            <m:mcPr>
                                              <m:count m:val="3"/>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1</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2</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3</m:t>
                                              </m:r>
                                            </m:sub>
                                          </m:sSub>
                                        </m:e>
                                      </m:mr>
                                    </m:m>
                                  </m:e>
                                  <m:e>
                                    <m:m>
                                      <m:mPr>
                                        <m:mcs>
                                          <m:mc>
                                            <m:mcPr>
                                              <m:count m:val="3"/>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4</m:t>
                                              </m:r>
                                            </m:sub>
                                          </m:sSub>
                                        </m:e>
                                        <m:e>
                                          <m:r>
                                            <a:rPr lang="en-GB" sz="1200" b="0" i="1" smtClean="0">
                                              <a:latin typeface="Cambria Math" panose="02040503050406030204" pitchFamily="18" charset="0"/>
                                            </a:rPr>
                                            <m:t>𝑡𝑖𝑚𝑒</m:t>
                                          </m:r>
                                        </m:e>
                                        <m:e>
                                          <m:m>
                                            <m:mPr>
                                              <m:mcs>
                                                <m:mc>
                                                  <m:mcPr>
                                                    <m:count m:val="2"/>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𝑏𝑎𝑡</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𝑒𝑣</m:t>
                                                    </m:r>
                                                  </m:sub>
                                                </m:sSub>
                                              </m:e>
                                            </m:mr>
                                          </m:m>
                                        </m:e>
                                      </m:mr>
                                    </m:m>
                                  </m:e>
                                </m:mr>
                              </m:m>
                            </m:e>
                          </m:d>
                        </m:e>
                        <m:sup>
                          <m:r>
                            <a:rPr lang="en-GB" sz="1200" b="0" i="1" smtClean="0">
                              <a:latin typeface="Cambria Math" panose="02040503050406030204" pitchFamily="18" charset="0"/>
                            </a:rPr>
                            <m:t>𝑇</m:t>
                          </m:r>
                        </m:sup>
                      </m:sSup>
                    </m:oMath>
                  </m:oMathPara>
                </a14:m>
                <a:endParaRPr lang="en-DE" sz="1200" dirty="0"/>
              </a:p>
            </p:txBody>
          </p:sp>
        </mc:Choice>
        <mc:Fallback xmlns="">
          <p:sp>
            <p:nvSpPr>
              <p:cNvPr id="5" name="TextBox 4">
                <a:extLst>
                  <a:ext uri="{FF2B5EF4-FFF2-40B4-BE49-F238E27FC236}">
                    <a16:creationId xmlns:a16="http://schemas.microsoft.com/office/drawing/2014/main" id="{F5E0756F-B995-C948-14E2-4D78D3003481}"/>
                  </a:ext>
                </a:extLst>
              </p:cNvPr>
              <p:cNvSpPr txBox="1">
                <a:spLocks noRot="1" noChangeAspect="1" noMove="1" noResize="1" noEditPoints="1" noAdjustHandles="1" noChangeArrowheads="1" noChangeShapeType="1" noTextEdit="1"/>
              </p:cNvSpPr>
              <p:nvPr/>
            </p:nvSpPr>
            <p:spPr>
              <a:xfrm>
                <a:off x="487145" y="1147718"/>
                <a:ext cx="3694473" cy="184666"/>
              </a:xfrm>
              <a:prstGeom prst="rect">
                <a:avLst/>
              </a:prstGeom>
              <a:blipFill>
                <a:blip r:embed="rId2"/>
                <a:stretch>
                  <a:fillRect l="-495" b="-9677"/>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9C5C4F9-BE36-FF41-6E83-55F4BE510D40}"/>
                  </a:ext>
                </a:extLst>
              </p:cNvPr>
              <p:cNvSpPr txBox="1"/>
              <p:nvPr/>
            </p:nvSpPr>
            <p:spPr>
              <a:xfrm>
                <a:off x="487145" y="1486873"/>
                <a:ext cx="2526397" cy="1847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𝐶𝑜𝑛𝑡𝑟𝑜𝑙𝑠</m:t>
                      </m:r>
                      <m:r>
                        <a:rPr lang="en-GB" sz="1200" b="0" i="1" smtClean="0">
                          <a:latin typeface="Cambria Math" panose="02040503050406030204" pitchFamily="18" charset="0"/>
                        </a:rPr>
                        <m:t>,</m:t>
                      </m:r>
                      <m:r>
                        <a:rPr lang="en-GB" sz="1200" b="0" i="1" smtClean="0">
                          <a:latin typeface="Cambria Math" panose="02040503050406030204" pitchFamily="18" charset="0"/>
                        </a:rPr>
                        <m:t>𝑢</m:t>
                      </m:r>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d>
                            <m:dPr>
                              <m:begChr m:val="["/>
                              <m:endChr m:val="]"/>
                              <m:ctrlPr>
                                <a:rPr lang="en-GB" sz="1200" b="0" i="1" smtClean="0">
                                  <a:latin typeface="Cambria Math" panose="02040503050406030204" pitchFamily="18" charset="0"/>
                                </a:rPr>
                              </m:ctrlPr>
                            </m:dPr>
                            <m:e>
                              <m:m>
                                <m:mPr>
                                  <m:mcs>
                                    <m:mc>
                                      <m:mcPr>
                                        <m:count m:val="2"/>
                                        <m:mcJc m:val="center"/>
                                      </m:mcPr>
                                    </m:mc>
                                  </m:mcs>
                                  <m:ctrlPr>
                                    <a:rPr lang="en-GB" sz="1200" b="0" i="1" smtClean="0">
                                      <a:latin typeface="Cambria Math" panose="02040503050406030204" pitchFamily="18" charset="0"/>
                                    </a:rPr>
                                  </m:ctrlPr>
                                </m:mPr>
                                <m:mr>
                                  <m:e>
                                    <m:m>
                                      <m:mPr>
                                        <m:mcs>
                                          <m:mc>
                                            <m:mcPr>
                                              <m:count m:val="2"/>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h𝑝</m:t>
                                              </m:r>
                                            </m:sub>
                                          </m:sSub>
                                        </m:e>
                                        <m:e>
                                          <m:sSub>
                                            <m:sSubPr>
                                              <m:ctrlPr>
                                                <a:rPr lang="en-GB" sz="1200" b="0" i="1" smtClean="0">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𝑡</m:t>
                                              </m:r>
                                            </m:sub>
                                          </m:sSub>
                                        </m:e>
                                      </m:mr>
                                    </m:m>
                                  </m:e>
                                  <m:e>
                                    <m:m>
                                      <m:mPr>
                                        <m:mcs>
                                          <m:mc>
                                            <m:mcPr>
                                              <m:count m:val="2"/>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𝑏𝑎𝑡</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𝑒𝑣</m:t>
                                              </m:r>
                                            </m:sub>
                                          </m:sSub>
                                        </m:e>
                                      </m:mr>
                                    </m:m>
                                  </m:e>
                                </m:mr>
                              </m:m>
                            </m:e>
                          </m:d>
                        </m:e>
                        <m:sup>
                          <m:r>
                            <a:rPr lang="en-GB" sz="1200" b="0" i="1" smtClean="0">
                              <a:latin typeface="Cambria Math" panose="02040503050406030204" pitchFamily="18" charset="0"/>
                            </a:rPr>
                            <m:t>𝑇</m:t>
                          </m:r>
                        </m:sup>
                      </m:sSup>
                    </m:oMath>
                  </m:oMathPara>
                </a14:m>
                <a:endParaRPr lang="en-DE" sz="1200" dirty="0"/>
              </a:p>
            </p:txBody>
          </p:sp>
        </mc:Choice>
        <mc:Fallback xmlns="">
          <p:sp>
            <p:nvSpPr>
              <p:cNvPr id="14" name="TextBox 13">
                <a:extLst>
                  <a:ext uri="{FF2B5EF4-FFF2-40B4-BE49-F238E27FC236}">
                    <a16:creationId xmlns:a16="http://schemas.microsoft.com/office/drawing/2014/main" id="{89C5C4F9-BE36-FF41-6E83-55F4BE510D40}"/>
                  </a:ext>
                </a:extLst>
              </p:cNvPr>
              <p:cNvSpPr txBox="1">
                <a:spLocks noRot="1" noChangeAspect="1" noMove="1" noResize="1" noEditPoints="1" noAdjustHandles="1" noChangeArrowheads="1" noChangeShapeType="1" noTextEdit="1"/>
              </p:cNvSpPr>
              <p:nvPr/>
            </p:nvSpPr>
            <p:spPr>
              <a:xfrm>
                <a:off x="487145" y="1486873"/>
                <a:ext cx="2526397" cy="184731"/>
              </a:xfrm>
              <a:prstGeom prst="rect">
                <a:avLst/>
              </a:prstGeom>
              <a:blipFill>
                <a:blip r:embed="rId3"/>
                <a:stretch>
                  <a:fillRect l="-1208" t="-13333" b="-2333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FB31489-9C7E-8229-6374-3853781D47F1}"/>
                  </a:ext>
                </a:extLst>
              </p:cNvPr>
              <p:cNvSpPr txBox="1"/>
              <p:nvPr/>
            </p:nvSpPr>
            <p:spPr>
              <a:xfrm>
                <a:off x="487145" y="1826093"/>
                <a:ext cx="472879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𝐷𝑖𝑠𝑡𝑢𝑟𝑏𝑎𝑛𝑐𝑒𝑠</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𝑢</m:t>
                          </m:r>
                        </m:e>
                        <m:sub>
                          <m:r>
                            <a:rPr lang="en-GB" sz="1200" b="0" i="1" smtClean="0">
                              <a:latin typeface="Cambria Math" panose="02040503050406030204" pitchFamily="18" charset="0"/>
                            </a:rPr>
                            <m:t>𝑑</m:t>
                          </m:r>
                        </m:sub>
                      </m:sSub>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d>
                            <m:dPr>
                              <m:begChr m:val="["/>
                              <m:endChr m:val="]"/>
                              <m:ctrlPr>
                                <a:rPr lang="en-GB" sz="1200" b="0" i="1" smtClean="0">
                                  <a:latin typeface="Cambria Math" panose="02040503050406030204" pitchFamily="18" charset="0"/>
                                </a:rPr>
                              </m:ctrlPr>
                            </m:dPr>
                            <m:e>
                              <m:m>
                                <m:mPr>
                                  <m:mcs>
                                    <m:mc>
                                      <m:mcPr>
                                        <m:count m:val="2"/>
                                        <m:mcJc m:val="center"/>
                                      </m:mcPr>
                                    </m:mc>
                                  </m:mcs>
                                  <m:ctrlPr>
                                    <a:rPr lang="en-GB" sz="1200" b="0" i="1" smtClean="0">
                                      <a:latin typeface="Cambria Math" panose="02040503050406030204" pitchFamily="18" charset="0"/>
                                    </a:rPr>
                                  </m:ctrlPr>
                                </m:mPr>
                                <m:mr>
                                  <m:e>
                                    <m:m>
                                      <m:mPr>
                                        <m:mcs>
                                          <m:mc>
                                            <m:mcPr>
                                              <m:count m:val="3"/>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𝑜𝑎</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𝑝𝑣</m:t>
                                              </m:r>
                                              <m:r>
                                                <a:rPr lang="en-GB" sz="1200" b="0" i="1" smtClean="0">
                                                  <a:latin typeface="Cambria Math" panose="02040503050406030204" pitchFamily="18" charset="0"/>
                                                </a:rPr>
                                                <m:t>,</m:t>
                                              </m:r>
                                              <m:r>
                                                <a:rPr lang="en-GB" sz="1200" b="0" i="1" smtClean="0">
                                                  <a:latin typeface="Cambria Math" panose="02040503050406030204" pitchFamily="18" charset="0"/>
                                                </a:rPr>
                                                <m:t>𝑢𝑠𝑒𝑑</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𝑝𝑣</m:t>
                                              </m:r>
                                              <m:r>
                                                <a:rPr lang="en-GB" sz="1200" b="0" i="1" smtClean="0">
                                                  <a:latin typeface="Cambria Math" panose="02040503050406030204" pitchFamily="18" charset="0"/>
                                                </a:rPr>
                                                <m:t>,</m:t>
                                              </m:r>
                                              <m:r>
                                                <a:rPr lang="en-GB" sz="1200" b="0" i="1" smtClean="0">
                                                  <a:latin typeface="Cambria Math" panose="02040503050406030204" pitchFamily="18" charset="0"/>
                                                </a:rPr>
                                                <m:t>𝑠𝑜𝑙𝑑</m:t>
                                              </m:r>
                                            </m:sub>
                                          </m:sSub>
                                        </m:e>
                                      </m:mr>
                                    </m:m>
                                  </m:e>
                                  <m:e>
                                    <m:m>
                                      <m:mPr>
                                        <m:mcs>
                                          <m:mc>
                                            <m:mcPr>
                                              <m:count m:val="3"/>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𝑄</m:t>
                                              </m:r>
                                            </m:e>
                                            <m:sub>
                                              <m:r>
                                                <a:rPr lang="en-GB" sz="1200" b="0" i="1" smtClean="0">
                                                  <a:latin typeface="Cambria Math" panose="02040503050406030204" pitchFamily="18" charset="0"/>
                                                </a:rPr>
                                                <m:t>𝑑𝑒𝑚𝑎𝑛𝑑</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𝑐𝑜𝑠𝑡</m:t>
                                              </m:r>
                                            </m:sub>
                                          </m:sSub>
                                        </m:e>
                                        <m:e>
                                          <m:r>
                                            <a:rPr lang="en-GB" sz="1200" b="0" i="1" smtClean="0">
                                              <a:latin typeface="Cambria Math" panose="02040503050406030204" pitchFamily="18" charset="0"/>
                                            </a:rPr>
                                            <m:t>𝐶𝑂𝑃</m:t>
                                          </m:r>
                                        </m:e>
                                      </m:mr>
                                    </m:m>
                                  </m:e>
                                </m:mr>
                              </m:m>
                            </m:e>
                          </m:d>
                        </m:e>
                        <m:sup>
                          <m:r>
                            <a:rPr lang="en-GB" sz="1200" b="0" i="1" smtClean="0">
                              <a:latin typeface="Cambria Math" panose="02040503050406030204" pitchFamily="18" charset="0"/>
                            </a:rPr>
                            <m:t>𝑇</m:t>
                          </m:r>
                        </m:sup>
                      </m:sSup>
                    </m:oMath>
                  </m:oMathPara>
                </a14:m>
                <a:endParaRPr lang="en-DE" sz="1200" dirty="0"/>
              </a:p>
            </p:txBody>
          </p:sp>
        </mc:Choice>
        <mc:Fallback xmlns="">
          <p:sp>
            <p:nvSpPr>
              <p:cNvPr id="21" name="TextBox 20">
                <a:extLst>
                  <a:ext uri="{FF2B5EF4-FFF2-40B4-BE49-F238E27FC236}">
                    <a16:creationId xmlns:a16="http://schemas.microsoft.com/office/drawing/2014/main" id="{AFB31489-9C7E-8229-6374-3853781D47F1}"/>
                  </a:ext>
                </a:extLst>
              </p:cNvPr>
              <p:cNvSpPr txBox="1">
                <a:spLocks noRot="1" noChangeAspect="1" noMove="1" noResize="1" noEditPoints="1" noAdjustHandles="1" noChangeArrowheads="1" noChangeShapeType="1" noTextEdit="1"/>
              </p:cNvSpPr>
              <p:nvPr/>
            </p:nvSpPr>
            <p:spPr>
              <a:xfrm>
                <a:off x="487145" y="1826093"/>
                <a:ext cx="4728795" cy="184666"/>
              </a:xfrm>
              <a:prstGeom prst="rect">
                <a:avLst/>
              </a:prstGeom>
              <a:blipFill>
                <a:blip r:embed="rId4"/>
                <a:stretch>
                  <a:fillRect l="-387" t="-3333" b="-26667"/>
                </a:stretch>
              </a:blipFill>
            </p:spPr>
            <p:txBody>
              <a:bodyPr/>
              <a:lstStyle/>
              <a:p>
                <a:r>
                  <a:rPr lang="en-DE">
                    <a:noFill/>
                  </a:rPr>
                  <a:t> </a:t>
                </a:r>
              </a:p>
            </p:txBody>
          </p:sp>
        </mc:Fallback>
      </mc:AlternateContent>
      <p:sp>
        <p:nvSpPr>
          <p:cNvPr id="22" name="TextBox 21">
            <a:extLst>
              <a:ext uri="{FF2B5EF4-FFF2-40B4-BE49-F238E27FC236}">
                <a16:creationId xmlns:a16="http://schemas.microsoft.com/office/drawing/2014/main" id="{7EB90C50-5B63-7482-21A9-8036424B82F7}"/>
              </a:ext>
            </a:extLst>
          </p:cNvPr>
          <p:cNvSpPr txBox="1"/>
          <p:nvPr/>
        </p:nvSpPr>
        <p:spPr>
          <a:xfrm>
            <a:off x="396687" y="2335759"/>
            <a:ext cx="1242648" cy="276999"/>
          </a:xfrm>
          <a:prstGeom prst="rect">
            <a:avLst/>
          </a:prstGeom>
          <a:noFill/>
        </p:spPr>
        <p:txBody>
          <a:bodyPr wrap="none" rtlCol="0">
            <a:spAutoFit/>
          </a:bodyPr>
          <a:lstStyle/>
          <a:p>
            <a:r>
              <a:rPr lang="en-GB" sz="1200" u="sng" dirty="0"/>
              <a:t>State Constraints</a:t>
            </a:r>
            <a:endParaRPr lang="en-DE" sz="1200" u="sng"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F021C76-C7E8-FA10-90CB-33106533B74F}"/>
                  </a:ext>
                </a:extLst>
              </p:cNvPr>
              <p:cNvSpPr txBox="1"/>
              <p:nvPr/>
            </p:nvSpPr>
            <p:spPr>
              <a:xfrm>
                <a:off x="1380580" y="2704892"/>
                <a:ext cx="2387577"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𝑖</m:t>
                          </m:r>
                          <m:r>
                            <a:rPr lang="en-GB" sz="1200" b="0" i="1" smtClean="0">
                              <a:latin typeface="Cambria Math" panose="02040503050406030204" pitchFamily="18" charset="0"/>
                            </a:rPr>
                            <m:t>,</m:t>
                          </m:r>
                          <m:r>
                            <a:rPr lang="en-GB" sz="1200" b="0" i="1" smtClean="0">
                              <a:latin typeface="Cambria Math" panose="02040503050406030204" pitchFamily="18" charset="0"/>
                            </a:rPr>
                            <m:t>𝑚𝑖𝑛</m:t>
                          </m:r>
                        </m:sub>
                      </m:sSub>
                      <m:r>
                        <a:rPr lang="en-GB" sz="1200" i="1">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𝑇</m:t>
                          </m:r>
                        </m:e>
                        <m:sub>
                          <m:r>
                            <a:rPr lang="en-GB" sz="1200" b="0" i="1" smtClean="0">
                              <a:latin typeface="Cambria Math" panose="02040503050406030204" pitchFamily="18" charset="0"/>
                              <a:ea typeface="Cambria Math" panose="02040503050406030204" pitchFamily="18" charset="0"/>
                            </a:rPr>
                            <m:t>𝑖</m:t>
                          </m:r>
                        </m:sub>
                      </m:sSub>
                      <m:r>
                        <a:rPr lang="en-GB" sz="1200" i="1" smtClean="0">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𝑇</m:t>
                          </m:r>
                        </m:e>
                        <m:sub>
                          <m:r>
                            <a:rPr lang="en-GB" sz="1200" b="0" i="1" smtClean="0">
                              <a:latin typeface="Cambria Math" panose="02040503050406030204" pitchFamily="18" charset="0"/>
                              <a:ea typeface="Cambria Math" panose="02040503050406030204" pitchFamily="18" charset="0"/>
                            </a:rPr>
                            <m:t>𝑖</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𝑚𝑎𝑥</m:t>
                          </m:r>
                        </m:sub>
                      </m:sSub>
                      <m:r>
                        <a:rPr lang="en-GB" sz="1200" b="0" i="1" smtClean="0">
                          <a:latin typeface="Cambria Math" panose="02040503050406030204" pitchFamily="18" charset="0"/>
                          <a:ea typeface="Cambria Math" panose="02040503050406030204" pitchFamily="18" charset="0"/>
                        </a:rPr>
                        <m:t>,   </m:t>
                      </m:r>
                      <m:r>
                        <a:rPr lang="en-GB" sz="1200" b="0" i="1" smtClean="0">
                          <a:latin typeface="Cambria Math" panose="02040503050406030204" pitchFamily="18" charset="0"/>
                          <a:ea typeface="Cambria Math" panose="02040503050406030204" pitchFamily="18" charset="0"/>
                        </a:rPr>
                        <m:t>𝑖</m:t>
                      </m:r>
                      <m:r>
                        <a:rPr lang="en-GB" sz="1200" b="0" i="1" smtClean="0">
                          <a:latin typeface="Cambria Math" panose="02040503050406030204" pitchFamily="18" charset="0"/>
                          <a:ea typeface="Cambria Math" panose="02040503050406030204" pitchFamily="18" charset="0"/>
                        </a:rPr>
                        <m:t>=1,2,3,4</m:t>
                      </m:r>
                    </m:oMath>
                  </m:oMathPara>
                </a14:m>
                <a:endParaRPr lang="en-DE" sz="1200" dirty="0"/>
              </a:p>
            </p:txBody>
          </p:sp>
        </mc:Choice>
        <mc:Fallback xmlns="">
          <p:sp>
            <p:nvSpPr>
              <p:cNvPr id="23" name="TextBox 22">
                <a:extLst>
                  <a:ext uri="{FF2B5EF4-FFF2-40B4-BE49-F238E27FC236}">
                    <a16:creationId xmlns:a16="http://schemas.microsoft.com/office/drawing/2014/main" id="{AF021C76-C7E8-FA10-90CB-33106533B74F}"/>
                  </a:ext>
                </a:extLst>
              </p:cNvPr>
              <p:cNvSpPr txBox="1">
                <a:spLocks noRot="1" noChangeAspect="1" noMove="1" noResize="1" noEditPoints="1" noAdjustHandles="1" noChangeArrowheads="1" noChangeShapeType="1" noTextEdit="1"/>
              </p:cNvSpPr>
              <p:nvPr/>
            </p:nvSpPr>
            <p:spPr>
              <a:xfrm>
                <a:off x="1380580" y="2704892"/>
                <a:ext cx="2387577" cy="192873"/>
              </a:xfrm>
              <a:prstGeom prst="rect">
                <a:avLst/>
              </a:prstGeom>
              <a:blipFill>
                <a:blip r:embed="rId5"/>
                <a:stretch>
                  <a:fillRect l="-1020" r="-1020" b="-16129"/>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CB94565-CFEE-68CA-3C16-8C54541AFD45}"/>
                  </a:ext>
                </a:extLst>
              </p:cNvPr>
              <p:cNvSpPr txBox="1"/>
              <p:nvPr/>
            </p:nvSpPr>
            <p:spPr>
              <a:xfrm>
                <a:off x="1018011" y="2984028"/>
                <a:ext cx="2344423"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𝑏𝑎𝑡</m:t>
                          </m:r>
                          <m:r>
                            <a:rPr lang="en-GB" sz="1200" b="0" i="1" smtClean="0">
                              <a:latin typeface="Cambria Math" panose="02040503050406030204" pitchFamily="18" charset="0"/>
                            </a:rPr>
                            <m:t>,</m:t>
                          </m:r>
                          <m:r>
                            <a:rPr lang="en-GB" sz="1200" b="0" i="1" smtClean="0">
                              <a:latin typeface="Cambria Math" panose="02040503050406030204" pitchFamily="18" charset="0"/>
                            </a:rPr>
                            <m:t>𝑚𝑖𝑛</m:t>
                          </m:r>
                        </m:sub>
                      </m:sSub>
                      <m:r>
                        <a:rPr lang="en-GB" sz="1200" i="1">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𝑆𝑂𝐶</m:t>
                          </m:r>
                        </m:e>
                        <m:sub>
                          <m:r>
                            <a:rPr lang="en-GB" sz="1200" b="0" i="1" smtClean="0">
                              <a:latin typeface="Cambria Math" panose="02040503050406030204" pitchFamily="18" charset="0"/>
                              <a:ea typeface="Cambria Math" panose="02040503050406030204" pitchFamily="18" charset="0"/>
                            </a:rPr>
                            <m:t>𝑏𝑎𝑡</m:t>
                          </m:r>
                        </m:sub>
                      </m:sSub>
                      <m:r>
                        <a:rPr lang="en-GB" sz="1200" i="1" smtClean="0">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𝑆𝑂𝐶</m:t>
                          </m:r>
                        </m:e>
                        <m:sub>
                          <m:r>
                            <a:rPr lang="en-GB" sz="1200" b="0" i="1" smtClean="0">
                              <a:latin typeface="Cambria Math" panose="02040503050406030204" pitchFamily="18" charset="0"/>
                              <a:ea typeface="Cambria Math" panose="02040503050406030204" pitchFamily="18" charset="0"/>
                            </a:rPr>
                            <m:t>𝑏𝑎𝑡</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𝑚𝑎𝑥</m:t>
                          </m:r>
                        </m:sub>
                      </m:sSub>
                    </m:oMath>
                  </m:oMathPara>
                </a14:m>
                <a:endParaRPr lang="en-DE" sz="1200" dirty="0"/>
              </a:p>
            </p:txBody>
          </p:sp>
        </mc:Choice>
        <mc:Fallback xmlns="">
          <p:sp>
            <p:nvSpPr>
              <p:cNvPr id="25" name="TextBox 24">
                <a:extLst>
                  <a:ext uri="{FF2B5EF4-FFF2-40B4-BE49-F238E27FC236}">
                    <a16:creationId xmlns:a16="http://schemas.microsoft.com/office/drawing/2014/main" id="{2CB94565-CFEE-68CA-3C16-8C54541AFD45}"/>
                  </a:ext>
                </a:extLst>
              </p:cNvPr>
              <p:cNvSpPr txBox="1">
                <a:spLocks noRot="1" noChangeAspect="1" noMove="1" noResize="1" noEditPoints="1" noAdjustHandles="1" noChangeArrowheads="1" noChangeShapeType="1" noTextEdit="1"/>
              </p:cNvSpPr>
              <p:nvPr/>
            </p:nvSpPr>
            <p:spPr>
              <a:xfrm>
                <a:off x="1018011" y="2984028"/>
                <a:ext cx="2344423" cy="192873"/>
              </a:xfrm>
              <a:prstGeom prst="rect">
                <a:avLst/>
              </a:prstGeom>
              <a:blipFill>
                <a:blip r:embed="rId6"/>
                <a:stretch>
                  <a:fillRect l="-1039" b="-16129"/>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91F39E6-3B57-5A67-8256-CE4ED7A7F2F1}"/>
                  </a:ext>
                </a:extLst>
              </p:cNvPr>
              <p:cNvSpPr txBox="1"/>
              <p:nvPr/>
            </p:nvSpPr>
            <p:spPr>
              <a:xfrm>
                <a:off x="1112074" y="3345302"/>
                <a:ext cx="2156296"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𝑒𝑣</m:t>
                          </m:r>
                          <m:r>
                            <a:rPr lang="en-GB" sz="1200" b="0" i="1" smtClean="0">
                              <a:latin typeface="Cambria Math" panose="02040503050406030204" pitchFamily="18" charset="0"/>
                            </a:rPr>
                            <m:t>,</m:t>
                          </m:r>
                          <m:r>
                            <a:rPr lang="en-GB" sz="1200" b="0" i="1" smtClean="0">
                              <a:latin typeface="Cambria Math" panose="02040503050406030204" pitchFamily="18" charset="0"/>
                            </a:rPr>
                            <m:t>𝑚𝑖𝑛</m:t>
                          </m:r>
                        </m:sub>
                      </m:sSub>
                      <m:r>
                        <a:rPr lang="en-GB" sz="1200" i="1">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𝑆𝑂𝐶</m:t>
                          </m:r>
                        </m:e>
                        <m:sub>
                          <m:r>
                            <a:rPr lang="en-GB" sz="1200" b="0" i="1" smtClean="0">
                              <a:latin typeface="Cambria Math" panose="02040503050406030204" pitchFamily="18" charset="0"/>
                              <a:ea typeface="Cambria Math" panose="02040503050406030204" pitchFamily="18" charset="0"/>
                            </a:rPr>
                            <m:t>𝑒𝑣</m:t>
                          </m:r>
                        </m:sub>
                      </m:sSub>
                      <m:r>
                        <a:rPr lang="en-GB" sz="1200" i="1" smtClean="0">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𝑆𝑂𝐶</m:t>
                          </m:r>
                        </m:e>
                        <m:sub>
                          <m:r>
                            <a:rPr lang="en-GB" sz="1200" b="0" i="1" smtClean="0">
                              <a:latin typeface="Cambria Math" panose="02040503050406030204" pitchFamily="18" charset="0"/>
                              <a:ea typeface="Cambria Math" panose="02040503050406030204" pitchFamily="18" charset="0"/>
                            </a:rPr>
                            <m:t>𝑒𝑣</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𝑚𝑎𝑥</m:t>
                          </m:r>
                        </m:sub>
                      </m:sSub>
                    </m:oMath>
                  </m:oMathPara>
                </a14:m>
                <a:endParaRPr lang="en-DE" sz="1200" dirty="0"/>
              </a:p>
            </p:txBody>
          </p:sp>
        </mc:Choice>
        <mc:Fallback xmlns="">
          <p:sp>
            <p:nvSpPr>
              <p:cNvPr id="26" name="TextBox 25">
                <a:extLst>
                  <a:ext uri="{FF2B5EF4-FFF2-40B4-BE49-F238E27FC236}">
                    <a16:creationId xmlns:a16="http://schemas.microsoft.com/office/drawing/2014/main" id="{191F39E6-3B57-5A67-8256-CE4ED7A7F2F1}"/>
                  </a:ext>
                </a:extLst>
              </p:cNvPr>
              <p:cNvSpPr txBox="1">
                <a:spLocks noRot="1" noChangeAspect="1" noMove="1" noResize="1" noEditPoints="1" noAdjustHandles="1" noChangeArrowheads="1" noChangeShapeType="1" noTextEdit="1"/>
              </p:cNvSpPr>
              <p:nvPr/>
            </p:nvSpPr>
            <p:spPr>
              <a:xfrm>
                <a:off x="1112074" y="3345302"/>
                <a:ext cx="2156296" cy="192873"/>
              </a:xfrm>
              <a:prstGeom prst="rect">
                <a:avLst/>
              </a:prstGeom>
              <a:blipFill>
                <a:blip r:embed="rId7"/>
                <a:stretch>
                  <a:fillRect l="-1130" b="-16129"/>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A9EC1C2-D1E3-08FE-E84C-EAC7DFFA8328}"/>
                  </a:ext>
                </a:extLst>
              </p:cNvPr>
              <p:cNvSpPr txBox="1"/>
              <p:nvPr/>
            </p:nvSpPr>
            <p:spPr>
              <a:xfrm>
                <a:off x="5525348" y="2767061"/>
                <a:ext cx="1634037" cy="1989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h𝑝</m:t>
                          </m:r>
                          <m:r>
                            <a:rPr lang="en-GB" sz="1200" b="0" i="1" smtClean="0">
                              <a:latin typeface="Cambria Math" panose="02040503050406030204" pitchFamily="18" charset="0"/>
                            </a:rPr>
                            <m:t>,</m:t>
                          </m:r>
                          <m:r>
                            <a:rPr lang="en-GB" sz="1200" b="0" i="1" smtClean="0">
                              <a:latin typeface="Cambria Math" panose="02040503050406030204" pitchFamily="18" charset="0"/>
                            </a:rPr>
                            <m:t>𝑚𝑖𝑛</m:t>
                          </m:r>
                        </m:sub>
                      </m:sSub>
                      <m:r>
                        <a:rPr lang="en-GB" sz="1200" i="1">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𝑃</m:t>
                          </m:r>
                        </m:e>
                        <m:sub>
                          <m:r>
                            <a:rPr lang="en-GB" sz="1200" b="0" i="1" smtClean="0">
                              <a:latin typeface="Cambria Math" panose="02040503050406030204" pitchFamily="18" charset="0"/>
                              <a:ea typeface="Cambria Math" panose="02040503050406030204" pitchFamily="18" charset="0"/>
                            </a:rPr>
                            <m:t>h𝑝</m:t>
                          </m:r>
                        </m:sub>
                      </m:sSub>
                      <m:r>
                        <a:rPr lang="en-GB" sz="1200" i="1" smtClean="0">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𝑃</m:t>
                          </m:r>
                        </m:e>
                        <m:sub>
                          <m:r>
                            <a:rPr lang="en-GB" sz="1200" b="0" i="1" smtClean="0">
                              <a:latin typeface="Cambria Math" panose="02040503050406030204" pitchFamily="18" charset="0"/>
                              <a:ea typeface="Cambria Math" panose="02040503050406030204" pitchFamily="18" charset="0"/>
                            </a:rPr>
                            <m:t>h𝑝</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𝑚𝑎𝑥</m:t>
                          </m:r>
                        </m:sub>
                      </m:sSub>
                    </m:oMath>
                  </m:oMathPara>
                </a14:m>
                <a:endParaRPr lang="en-DE" sz="1200" dirty="0"/>
              </a:p>
            </p:txBody>
          </p:sp>
        </mc:Choice>
        <mc:Fallback xmlns="">
          <p:sp>
            <p:nvSpPr>
              <p:cNvPr id="27" name="TextBox 26">
                <a:extLst>
                  <a:ext uri="{FF2B5EF4-FFF2-40B4-BE49-F238E27FC236}">
                    <a16:creationId xmlns:a16="http://schemas.microsoft.com/office/drawing/2014/main" id="{DA9EC1C2-D1E3-08FE-E84C-EAC7DFFA8328}"/>
                  </a:ext>
                </a:extLst>
              </p:cNvPr>
              <p:cNvSpPr txBox="1">
                <a:spLocks noRot="1" noChangeAspect="1" noMove="1" noResize="1" noEditPoints="1" noAdjustHandles="1" noChangeArrowheads="1" noChangeShapeType="1" noTextEdit="1"/>
              </p:cNvSpPr>
              <p:nvPr/>
            </p:nvSpPr>
            <p:spPr>
              <a:xfrm>
                <a:off x="5525348" y="2767061"/>
                <a:ext cx="1634037" cy="198965"/>
              </a:xfrm>
              <a:prstGeom prst="rect">
                <a:avLst/>
              </a:prstGeom>
              <a:blipFill>
                <a:blip r:embed="rId8"/>
                <a:stretch>
                  <a:fillRect l="-1866" b="-21212"/>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1C05BE5-7F17-7F61-C362-5473EBC4A860}"/>
                  </a:ext>
                </a:extLst>
              </p:cNvPr>
              <p:cNvSpPr txBox="1"/>
              <p:nvPr/>
            </p:nvSpPr>
            <p:spPr>
              <a:xfrm>
                <a:off x="5586998" y="3064955"/>
                <a:ext cx="15107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acc>
                            <m:accPr>
                              <m:chr m:val="̇"/>
                              <m:ctrlPr>
                                <a:rPr lang="en-DE" sz="120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𝑡</m:t>
                          </m:r>
                          <m:r>
                            <a:rPr lang="en-GB" sz="1200" b="0" i="1" smtClean="0">
                              <a:latin typeface="Cambria Math" panose="02040503050406030204" pitchFamily="18" charset="0"/>
                            </a:rPr>
                            <m:t>,</m:t>
                          </m:r>
                          <m:r>
                            <a:rPr lang="en-GB" sz="1200" b="0" i="1" smtClean="0">
                              <a:latin typeface="Cambria Math" panose="02040503050406030204" pitchFamily="18" charset="0"/>
                            </a:rPr>
                            <m:t>𝑚𝑖𝑛</m:t>
                          </m:r>
                        </m:sub>
                      </m:sSub>
                      <m:r>
                        <a:rPr lang="en-GB" sz="1200" i="1">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acc>
                            <m:accPr>
                              <m:chr m:val="̇"/>
                              <m:ctrlPr>
                                <a:rPr lang="en-GB" sz="1200" i="1" smtClean="0">
                                  <a:latin typeface="Cambria Math" panose="02040503050406030204" pitchFamily="18" charset="0"/>
                                  <a:ea typeface="Cambria Math" panose="02040503050406030204" pitchFamily="18" charset="0"/>
                                </a:rPr>
                              </m:ctrlPr>
                            </m:accPr>
                            <m:e>
                              <m:r>
                                <a:rPr lang="en-GB" sz="1200" b="0" i="1" smtClean="0">
                                  <a:latin typeface="Cambria Math" panose="02040503050406030204" pitchFamily="18" charset="0"/>
                                  <a:ea typeface="Cambria Math" panose="02040503050406030204" pitchFamily="18" charset="0"/>
                                </a:rPr>
                                <m:t>𝑚</m:t>
                              </m:r>
                            </m:e>
                          </m:acc>
                        </m:e>
                        <m:sub>
                          <m:r>
                            <a:rPr lang="en-GB" sz="1200" b="0" i="1" smtClean="0">
                              <a:latin typeface="Cambria Math" panose="02040503050406030204" pitchFamily="18" charset="0"/>
                              <a:ea typeface="Cambria Math" panose="02040503050406030204" pitchFamily="18" charset="0"/>
                            </a:rPr>
                            <m:t>𝑡</m:t>
                          </m:r>
                        </m:sub>
                      </m:sSub>
                      <m:r>
                        <a:rPr lang="en-GB" sz="1200" i="1" smtClean="0">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acc>
                            <m:accPr>
                              <m:chr m:val="̇"/>
                              <m:ctrlPr>
                                <a:rPr lang="en-GB" sz="1200" i="1" smtClean="0">
                                  <a:latin typeface="Cambria Math" panose="02040503050406030204" pitchFamily="18" charset="0"/>
                                  <a:ea typeface="Cambria Math" panose="02040503050406030204" pitchFamily="18" charset="0"/>
                                </a:rPr>
                              </m:ctrlPr>
                            </m:accPr>
                            <m:e>
                              <m:r>
                                <a:rPr lang="en-GB" sz="1200" b="0" i="1" smtClean="0">
                                  <a:latin typeface="Cambria Math" panose="02040503050406030204" pitchFamily="18" charset="0"/>
                                  <a:ea typeface="Cambria Math" panose="02040503050406030204" pitchFamily="18" charset="0"/>
                                </a:rPr>
                                <m:t>𝑚</m:t>
                              </m:r>
                            </m:e>
                          </m:acc>
                        </m:e>
                        <m:sub>
                          <m:r>
                            <a:rPr lang="en-GB" sz="1200" b="0" i="1" smtClean="0">
                              <a:latin typeface="Cambria Math" panose="02040503050406030204" pitchFamily="18" charset="0"/>
                              <a:ea typeface="Cambria Math" panose="02040503050406030204" pitchFamily="18" charset="0"/>
                            </a:rPr>
                            <m:t>𝑡</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𝑚𝑎𝑥</m:t>
                          </m:r>
                        </m:sub>
                      </m:sSub>
                    </m:oMath>
                  </m:oMathPara>
                </a14:m>
                <a:endParaRPr lang="en-DE" sz="1200" dirty="0"/>
              </a:p>
            </p:txBody>
          </p:sp>
        </mc:Choice>
        <mc:Fallback xmlns="">
          <p:sp>
            <p:nvSpPr>
              <p:cNvPr id="28" name="TextBox 27">
                <a:extLst>
                  <a:ext uri="{FF2B5EF4-FFF2-40B4-BE49-F238E27FC236}">
                    <a16:creationId xmlns:a16="http://schemas.microsoft.com/office/drawing/2014/main" id="{11C05BE5-7F17-7F61-C362-5473EBC4A860}"/>
                  </a:ext>
                </a:extLst>
              </p:cNvPr>
              <p:cNvSpPr txBox="1">
                <a:spLocks noRot="1" noChangeAspect="1" noMove="1" noResize="1" noEditPoints="1" noAdjustHandles="1" noChangeArrowheads="1" noChangeShapeType="1" noTextEdit="1"/>
              </p:cNvSpPr>
              <p:nvPr/>
            </p:nvSpPr>
            <p:spPr>
              <a:xfrm>
                <a:off x="5586998" y="3064955"/>
                <a:ext cx="1510735" cy="192873"/>
              </a:xfrm>
              <a:prstGeom prst="rect">
                <a:avLst/>
              </a:prstGeom>
              <a:blipFill>
                <a:blip r:embed="rId9"/>
                <a:stretch>
                  <a:fillRect l="-1215" t="-3226" b="-16129"/>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80CCF30-E36F-B4E3-9F79-63104C0942AE}"/>
                  </a:ext>
                </a:extLst>
              </p:cNvPr>
              <p:cNvSpPr txBox="1"/>
              <p:nvPr/>
            </p:nvSpPr>
            <p:spPr>
              <a:xfrm>
                <a:off x="5542858" y="3446399"/>
                <a:ext cx="1778500"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𝑏𝑎𝑡</m:t>
                          </m:r>
                          <m:r>
                            <a:rPr lang="en-GB" sz="1200" b="0" i="1" smtClean="0">
                              <a:latin typeface="Cambria Math" panose="02040503050406030204" pitchFamily="18" charset="0"/>
                            </a:rPr>
                            <m:t>,</m:t>
                          </m:r>
                          <m:r>
                            <a:rPr lang="en-GB" sz="1200" b="0" i="1" smtClean="0">
                              <a:latin typeface="Cambria Math" panose="02040503050406030204" pitchFamily="18" charset="0"/>
                            </a:rPr>
                            <m:t>𝑚𝑖𝑛</m:t>
                          </m:r>
                        </m:sub>
                      </m:sSub>
                      <m:r>
                        <a:rPr lang="en-GB" sz="1200" i="1">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𝑃</m:t>
                          </m:r>
                        </m:e>
                        <m:sub>
                          <m:r>
                            <a:rPr lang="en-GB" sz="1200" b="0" i="1" smtClean="0">
                              <a:latin typeface="Cambria Math" panose="02040503050406030204" pitchFamily="18" charset="0"/>
                              <a:ea typeface="Cambria Math" panose="02040503050406030204" pitchFamily="18" charset="0"/>
                            </a:rPr>
                            <m:t>𝑏𝑎𝑡</m:t>
                          </m:r>
                        </m:sub>
                      </m:sSub>
                      <m:r>
                        <a:rPr lang="en-GB" sz="1200" i="1" smtClean="0">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𝑃</m:t>
                          </m:r>
                        </m:e>
                        <m:sub>
                          <m:r>
                            <a:rPr lang="en-GB" sz="1200" b="0" i="1" smtClean="0">
                              <a:latin typeface="Cambria Math" panose="02040503050406030204" pitchFamily="18" charset="0"/>
                              <a:ea typeface="Cambria Math" panose="02040503050406030204" pitchFamily="18" charset="0"/>
                            </a:rPr>
                            <m:t>𝑏𝑎𝑡</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𝑚𝑎𝑥</m:t>
                          </m:r>
                        </m:sub>
                      </m:sSub>
                    </m:oMath>
                  </m:oMathPara>
                </a14:m>
                <a:endParaRPr lang="en-DE" sz="1200" dirty="0"/>
              </a:p>
            </p:txBody>
          </p:sp>
        </mc:Choice>
        <mc:Fallback xmlns="">
          <p:sp>
            <p:nvSpPr>
              <p:cNvPr id="29" name="TextBox 28">
                <a:extLst>
                  <a:ext uri="{FF2B5EF4-FFF2-40B4-BE49-F238E27FC236}">
                    <a16:creationId xmlns:a16="http://schemas.microsoft.com/office/drawing/2014/main" id="{F80CCF30-E36F-B4E3-9F79-63104C0942AE}"/>
                  </a:ext>
                </a:extLst>
              </p:cNvPr>
              <p:cNvSpPr txBox="1">
                <a:spLocks noRot="1" noChangeAspect="1" noMove="1" noResize="1" noEditPoints="1" noAdjustHandles="1" noChangeArrowheads="1" noChangeShapeType="1" noTextEdit="1"/>
              </p:cNvSpPr>
              <p:nvPr/>
            </p:nvSpPr>
            <p:spPr>
              <a:xfrm>
                <a:off x="5542858" y="3446399"/>
                <a:ext cx="1778500" cy="192873"/>
              </a:xfrm>
              <a:prstGeom prst="rect">
                <a:avLst/>
              </a:prstGeom>
              <a:blipFill>
                <a:blip r:embed="rId10"/>
                <a:stretch>
                  <a:fillRect l="-1712" b="-12500"/>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728CC2C-DE20-AE74-3116-26DFD0158AEF}"/>
                  </a:ext>
                </a:extLst>
              </p:cNvPr>
              <p:cNvSpPr txBox="1"/>
              <p:nvPr/>
            </p:nvSpPr>
            <p:spPr>
              <a:xfrm>
                <a:off x="5542858" y="3776733"/>
                <a:ext cx="1563313"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𝑒𝑣</m:t>
                          </m:r>
                          <m:r>
                            <a:rPr lang="en-GB" sz="1200" b="0" i="1" smtClean="0">
                              <a:latin typeface="Cambria Math" panose="02040503050406030204" pitchFamily="18" charset="0"/>
                            </a:rPr>
                            <m:t>,</m:t>
                          </m:r>
                          <m:r>
                            <a:rPr lang="en-GB" sz="1200" b="0" i="1" smtClean="0">
                              <a:latin typeface="Cambria Math" panose="02040503050406030204" pitchFamily="18" charset="0"/>
                            </a:rPr>
                            <m:t>𝑚𝑖𝑛</m:t>
                          </m:r>
                        </m:sub>
                      </m:sSub>
                      <m:r>
                        <a:rPr lang="en-GB" sz="1200" i="1">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𝑃</m:t>
                          </m:r>
                        </m:e>
                        <m:sub>
                          <m:r>
                            <a:rPr lang="en-GB" sz="1200" b="0" i="1" smtClean="0">
                              <a:latin typeface="Cambria Math" panose="02040503050406030204" pitchFamily="18" charset="0"/>
                              <a:ea typeface="Cambria Math" panose="02040503050406030204" pitchFamily="18" charset="0"/>
                            </a:rPr>
                            <m:t>𝑒𝑣</m:t>
                          </m:r>
                        </m:sub>
                      </m:sSub>
                      <m:r>
                        <a:rPr lang="en-GB" sz="1200" i="1" smtClean="0">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𝑃</m:t>
                          </m:r>
                        </m:e>
                        <m:sub>
                          <m:r>
                            <a:rPr lang="en-GB" sz="1200" b="0" i="1" smtClean="0">
                              <a:latin typeface="Cambria Math" panose="02040503050406030204" pitchFamily="18" charset="0"/>
                              <a:ea typeface="Cambria Math" panose="02040503050406030204" pitchFamily="18" charset="0"/>
                            </a:rPr>
                            <m:t>𝑒𝑣</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𝑚𝑎𝑥</m:t>
                          </m:r>
                        </m:sub>
                      </m:sSub>
                    </m:oMath>
                  </m:oMathPara>
                </a14:m>
                <a:endParaRPr lang="en-DE" sz="1200" dirty="0"/>
              </a:p>
            </p:txBody>
          </p:sp>
        </mc:Choice>
        <mc:Fallback xmlns="">
          <p:sp>
            <p:nvSpPr>
              <p:cNvPr id="30" name="TextBox 29">
                <a:extLst>
                  <a:ext uri="{FF2B5EF4-FFF2-40B4-BE49-F238E27FC236}">
                    <a16:creationId xmlns:a16="http://schemas.microsoft.com/office/drawing/2014/main" id="{2728CC2C-DE20-AE74-3116-26DFD0158AEF}"/>
                  </a:ext>
                </a:extLst>
              </p:cNvPr>
              <p:cNvSpPr txBox="1">
                <a:spLocks noRot="1" noChangeAspect="1" noMove="1" noResize="1" noEditPoints="1" noAdjustHandles="1" noChangeArrowheads="1" noChangeShapeType="1" noTextEdit="1"/>
              </p:cNvSpPr>
              <p:nvPr/>
            </p:nvSpPr>
            <p:spPr>
              <a:xfrm>
                <a:off x="5542858" y="3776733"/>
                <a:ext cx="1563313" cy="192873"/>
              </a:xfrm>
              <a:prstGeom prst="rect">
                <a:avLst/>
              </a:prstGeom>
              <a:blipFill>
                <a:blip r:embed="rId11"/>
                <a:stretch>
                  <a:fillRect l="-1946" b="-16129"/>
                </a:stretch>
              </a:blipFill>
            </p:spPr>
            <p:txBody>
              <a:bodyPr/>
              <a:lstStyle/>
              <a:p>
                <a:r>
                  <a:rPr lang="en-DE">
                    <a:noFill/>
                  </a:rPr>
                  <a:t> </a:t>
                </a:r>
              </a:p>
            </p:txBody>
          </p:sp>
        </mc:Fallback>
      </mc:AlternateContent>
      <p:grpSp>
        <p:nvGrpSpPr>
          <p:cNvPr id="36" name="Group 35">
            <a:extLst>
              <a:ext uri="{FF2B5EF4-FFF2-40B4-BE49-F238E27FC236}">
                <a16:creationId xmlns:a16="http://schemas.microsoft.com/office/drawing/2014/main" id="{502D0008-A1BB-58B0-1337-49E792F2FE89}"/>
              </a:ext>
            </a:extLst>
          </p:cNvPr>
          <p:cNvGrpSpPr/>
          <p:nvPr/>
        </p:nvGrpSpPr>
        <p:grpSpPr>
          <a:xfrm>
            <a:off x="5999595" y="981428"/>
            <a:ext cx="2124636" cy="392520"/>
            <a:chOff x="5936876" y="1671604"/>
            <a:chExt cx="2124636" cy="392520"/>
          </a:xfrm>
        </p:grpSpPr>
        <p:sp>
          <p:nvSpPr>
            <p:cNvPr id="33" name="Rectangle 32">
              <a:extLst>
                <a:ext uri="{FF2B5EF4-FFF2-40B4-BE49-F238E27FC236}">
                  <a16:creationId xmlns:a16="http://schemas.microsoft.com/office/drawing/2014/main" id="{22792EC0-EFE2-C88D-C910-4F6276C9D560}"/>
                </a:ext>
              </a:extLst>
            </p:cNvPr>
            <p:cNvSpPr/>
            <p:nvPr/>
          </p:nvSpPr>
          <p:spPr>
            <a:xfrm>
              <a:off x="5936876" y="1671604"/>
              <a:ext cx="2124636" cy="39252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24B48DF-AD56-AA30-422F-DEA032BC999D}"/>
                    </a:ext>
                  </a:extLst>
                </p:cNvPr>
                <p:cNvSpPr txBox="1"/>
                <p:nvPr/>
              </p:nvSpPr>
              <p:spPr>
                <a:xfrm>
                  <a:off x="6048761" y="1758826"/>
                  <a:ext cx="1938351" cy="1989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1200" i="1" smtClean="0">
                                <a:latin typeface="Cambria Math" panose="02040503050406030204" pitchFamily="18" charset="0"/>
                              </a:rPr>
                            </m:ctrlPr>
                          </m:sSubPr>
                          <m:e>
                            <m:r>
                              <a:rPr lang="en-GB" sz="1200" i="1">
                                <a:latin typeface="Cambria Math" panose="02040503050406030204" pitchFamily="18" charset="0"/>
                              </a:rPr>
                              <m:t>𝑃</m:t>
                            </m:r>
                          </m:e>
                          <m:sub>
                            <m:r>
                              <a:rPr lang="en-GB" sz="1200" i="1">
                                <a:latin typeface="Cambria Math" panose="02040503050406030204" pitchFamily="18" charset="0"/>
                              </a:rPr>
                              <m:t>𝑝𝑣</m:t>
                            </m:r>
                            <m:r>
                              <a:rPr lang="en-GB" sz="1200" i="1">
                                <a:latin typeface="Cambria Math" panose="02040503050406030204" pitchFamily="18" charset="0"/>
                              </a:rPr>
                              <m:t>,</m:t>
                            </m:r>
                            <m:r>
                              <a:rPr lang="en-GB" sz="1200" i="1">
                                <a:latin typeface="Cambria Math" panose="02040503050406030204" pitchFamily="18" charset="0"/>
                              </a:rPr>
                              <m:t>𝑢𝑠𝑒𝑑</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i="1">
                                <a:latin typeface="Cambria Math" panose="02040503050406030204" pitchFamily="18" charset="0"/>
                              </a:rPr>
                              <m:t>𝑃</m:t>
                            </m:r>
                          </m:e>
                          <m:sub>
                            <m:r>
                              <a:rPr lang="en-GB" sz="1200" i="1">
                                <a:latin typeface="Cambria Math" panose="02040503050406030204" pitchFamily="18" charset="0"/>
                              </a:rPr>
                              <m:t>𝑝𝑣</m:t>
                            </m:r>
                            <m:r>
                              <a:rPr lang="en-GB" sz="1200" i="1">
                                <a:latin typeface="Cambria Math" panose="02040503050406030204" pitchFamily="18" charset="0"/>
                              </a:rPr>
                              <m:t>,</m:t>
                            </m:r>
                            <m:r>
                              <a:rPr lang="en-GB" sz="1200" i="1">
                                <a:latin typeface="Cambria Math" panose="02040503050406030204" pitchFamily="18" charset="0"/>
                              </a:rPr>
                              <m:t>𝑠𝑜𝑙𝑑</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i="1">
                                <a:latin typeface="Cambria Math" panose="02040503050406030204" pitchFamily="18" charset="0"/>
                              </a:rPr>
                              <m:t>𝑃</m:t>
                            </m:r>
                          </m:e>
                          <m:sub>
                            <m:r>
                              <a:rPr lang="en-GB" sz="1200" i="1">
                                <a:latin typeface="Cambria Math" panose="02040503050406030204" pitchFamily="18" charset="0"/>
                              </a:rPr>
                              <m:t>𝑝𝑣</m:t>
                            </m:r>
                            <m:r>
                              <a:rPr lang="en-GB" sz="1200" b="0" i="1" smtClean="0">
                                <a:latin typeface="Cambria Math" panose="02040503050406030204" pitchFamily="18" charset="0"/>
                              </a:rPr>
                              <m:t>,</m:t>
                            </m:r>
                            <m:r>
                              <a:rPr lang="en-GB" sz="1200" b="0" i="1" smtClean="0">
                                <a:latin typeface="Cambria Math" panose="02040503050406030204" pitchFamily="18" charset="0"/>
                              </a:rPr>
                              <m:t>𝑡𝑜𝑡𝑎𝑙</m:t>
                            </m:r>
                          </m:sub>
                        </m:sSub>
                      </m:oMath>
                    </m:oMathPara>
                  </a14:m>
                  <a:endParaRPr lang="en-DE" sz="1200" dirty="0"/>
                </a:p>
              </p:txBody>
            </p:sp>
          </mc:Choice>
          <mc:Fallback xmlns="">
            <p:sp>
              <p:nvSpPr>
                <p:cNvPr id="31" name="TextBox 30">
                  <a:extLst>
                    <a:ext uri="{FF2B5EF4-FFF2-40B4-BE49-F238E27FC236}">
                      <a16:creationId xmlns:a16="http://schemas.microsoft.com/office/drawing/2014/main" id="{024B48DF-AD56-AA30-422F-DEA032BC999D}"/>
                    </a:ext>
                  </a:extLst>
                </p:cNvPr>
                <p:cNvSpPr txBox="1">
                  <a:spLocks noRot="1" noChangeAspect="1" noMove="1" noResize="1" noEditPoints="1" noAdjustHandles="1" noChangeArrowheads="1" noChangeShapeType="1" noTextEdit="1"/>
                </p:cNvSpPr>
                <p:nvPr/>
              </p:nvSpPr>
              <p:spPr>
                <a:xfrm>
                  <a:off x="6048761" y="1758826"/>
                  <a:ext cx="1938351" cy="198965"/>
                </a:xfrm>
                <a:prstGeom prst="rect">
                  <a:avLst/>
                </a:prstGeom>
                <a:blipFill>
                  <a:blip r:embed="rId12"/>
                  <a:stretch>
                    <a:fillRect l="-1572" b="-18182"/>
                  </a:stretch>
                </a:blipFill>
              </p:spPr>
              <p:txBody>
                <a:bodyPr/>
                <a:lstStyle/>
                <a:p>
                  <a:r>
                    <a:rPr lang="en-DE">
                      <a:noFill/>
                    </a:rPr>
                    <a:t> </a:t>
                  </a:r>
                </a:p>
              </p:txBody>
            </p:sp>
          </mc:Fallback>
        </mc:AlternateContent>
      </p:grpSp>
      <p:sp>
        <p:nvSpPr>
          <p:cNvPr id="34" name="TextBox 33">
            <a:extLst>
              <a:ext uri="{FF2B5EF4-FFF2-40B4-BE49-F238E27FC236}">
                <a16:creationId xmlns:a16="http://schemas.microsoft.com/office/drawing/2014/main" id="{98A5FA3E-8710-94F8-6AAD-B61C33E55ED3}"/>
              </a:ext>
            </a:extLst>
          </p:cNvPr>
          <p:cNvSpPr txBox="1"/>
          <p:nvPr/>
        </p:nvSpPr>
        <p:spPr>
          <a:xfrm>
            <a:off x="4850371" y="2335759"/>
            <a:ext cx="1384738" cy="276999"/>
          </a:xfrm>
          <a:prstGeom prst="rect">
            <a:avLst/>
          </a:prstGeom>
          <a:noFill/>
        </p:spPr>
        <p:txBody>
          <a:bodyPr wrap="none" rtlCol="0">
            <a:spAutoFit/>
          </a:bodyPr>
          <a:lstStyle/>
          <a:p>
            <a:r>
              <a:rPr lang="en-GB" sz="1200" u="sng" dirty="0"/>
              <a:t>Control Constraints</a:t>
            </a:r>
            <a:endParaRPr lang="en-DE" sz="1200" u="sng" dirty="0"/>
          </a:p>
        </p:txBody>
      </p:sp>
    </p:spTree>
    <p:extLst>
      <p:ext uri="{BB962C8B-B14F-4D97-AF65-F5344CB8AC3E}">
        <p14:creationId xmlns:p14="http://schemas.microsoft.com/office/powerpoint/2010/main" val="1338891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7DFAE04-FDA5-6EA0-6FC5-FC3008F11521}"/>
              </a:ext>
            </a:extLst>
          </p:cNvPr>
          <p:cNvSpPr/>
          <p:nvPr/>
        </p:nvSpPr>
        <p:spPr>
          <a:xfrm>
            <a:off x="1223682" y="3005418"/>
            <a:ext cx="1943100" cy="53115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DE"/>
          </a:p>
        </p:txBody>
      </p:sp>
      <p:sp>
        <p:nvSpPr>
          <p:cNvPr id="8" name="Rectangle 7">
            <a:extLst>
              <a:ext uri="{FF2B5EF4-FFF2-40B4-BE49-F238E27FC236}">
                <a16:creationId xmlns:a16="http://schemas.microsoft.com/office/drawing/2014/main" id="{CAEDA41D-B958-1DEE-F374-06CE61795BD1}"/>
              </a:ext>
            </a:extLst>
          </p:cNvPr>
          <p:cNvSpPr/>
          <p:nvPr/>
        </p:nvSpPr>
        <p:spPr>
          <a:xfrm>
            <a:off x="1004987" y="1492624"/>
            <a:ext cx="3351860" cy="69918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p:sp>
        <p:nvSpPr>
          <p:cNvPr id="3" name="Title 2">
            <a:extLst>
              <a:ext uri="{FF2B5EF4-FFF2-40B4-BE49-F238E27FC236}">
                <a16:creationId xmlns:a16="http://schemas.microsoft.com/office/drawing/2014/main" id="{F57B3325-DC41-2612-C953-6F4E7E5AA389}"/>
              </a:ext>
            </a:extLst>
          </p:cNvPr>
          <p:cNvSpPr>
            <a:spLocks noGrp="1"/>
          </p:cNvSpPr>
          <p:nvPr>
            <p:ph type="title"/>
          </p:nvPr>
        </p:nvSpPr>
        <p:spPr/>
        <p:txBody>
          <a:bodyPr/>
          <a:lstStyle/>
          <a:p>
            <a:r>
              <a:rPr lang="en-GB" dirty="0"/>
              <a:t>Model Predictive Control</a:t>
            </a:r>
            <a:endParaRPr lang="en-DE"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1969F21-1D86-2226-FDA4-11B63956809D}"/>
                  </a:ext>
                </a:extLst>
              </p:cNvPr>
              <p:cNvSpPr txBox="1"/>
              <p:nvPr/>
            </p:nvSpPr>
            <p:spPr>
              <a:xfrm>
                <a:off x="1088920" y="1566583"/>
                <a:ext cx="3203505" cy="519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𝑜𝑏𝑗</m:t>
                      </m:r>
                      <m:r>
                        <a:rPr lang="en-GB" sz="1200" b="0" i="1" smtClean="0">
                          <a:latin typeface="Cambria Math" panose="02040503050406030204" pitchFamily="18" charset="0"/>
                        </a:rPr>
                        <m:t>=</m:t>
                      </m:r>
                      <m:nary>
                        <m:naryPr>
                          <m:chr m:val="∑"/>
                          <m:ctrlPr>
                            <a:rPr lang="en-GB" sz="1200" b="0" i="1" smtClean="0">
                              <a:latin typeface="Cambria Math" panose="02040503050406030204" pitchFamily="18" charset="0"/>
                            </a:rPr>
                          </m:ctrlPr>
                        </m:naryPr>
                        <m:sub>
                          <m:r>
                            <m:rPr>
                              <m:brk m:alnAt="23"/>
                            </m:rPr>
                            <a:rPr lang="en-GB" sz="1200" b="0" i="1" smtClean="0">
                              <a:latin typeface="Cambria Math" panose="02040503050406030204" pitchFamily="18" charset="0"/>
                            </a:rPr>
                            <m:t>𝑖</m:t>
                          </m:r>
                          <m:r>
                            <a:rPr lang="en-GB" sz="1200" b="0" i="1" smtClean="0">
                              <a:latin typeface="Cambria Math" panose="02040503050406030204" pitchFamily="18" charset="0"/>
                            </a:rPr>
                            <m:t>=0</m:t>
                          </m:r>
                        </m:sub>
                        <m:sup>
                          <m:r>
                            <a:rPr lang="en-GB" sz="1200" b="0" i="1" smtClean="0">
                              <a:latin typeface="Cambria Math" panose="02040503050406030204" pitchFamily="18" charset="0"/>
                            </a:rPr>
                            <m:t>𝑁</m:t>
                          </m:r>
                          <m:r>
                            <a:rPr lang="en-GB" sz="1200" b="0" i="1" smtClean="0">
                              <a:latin typeface="Cambria Math" panose="02040503050406030204" pitchFamily="18" charset="0"/>
                            </a:rPr>
                            <m:t>−1</m:t>
                          </m:r>
                        </m:sup>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𝑊</m:t>
                              </m:r>
                            </m:e>
                            <m:sub>
                              <m:r>
                                <a:rPr lang="en-GB" sz="1200" b="0" i="1" smtClean="0">
                                  <a:latin typeface="Cambria Math" panose="02040503050406030204" pitchFamily="18" charset="0"/>
                                </a:rPr>
                                <m:t>1</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𝑐𝑜𝑠𝑡</m:t>
                              </m:r>
                            </m:sub>
                          </m:sSub>
                          <m:r>
                            <a:rPr lang="en-GB" sz="1200" b="0" i="1" smtClean="0">
                              <a:latin typeface="Cambria Math" panose="02040503050406030204" pitchFamily="18" charset="0"/>
                            </a:rPr>
                            <m:t>𝐽</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𝐽</m:t>
                              </m:r>
                              <m:r>
                                <a:rPr lang="en-GB" sz="1200" b="0" i="1" smtClean="0">
                                  <a:latin typeface="Cambria Math" panose="02040503050406030204" pitchFamily="18" charset="0"/>
                                </a:rPr>
                                <m:t>&gt;0</m:t>
                              </m:r>
                            </m:e>
                          </m:d>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𝑊</m:t>
                              </m:r>
                            </m:e>
                            <m:sub>
                              <m:r>
                                <a:rPr lang="en-GB" sz="1200" b="0" i="1" smtClean="0">
                                  <a:latin typeface="Cambria Math" panose="02040503050406030204" pitchFamily="18" charset="0"/>
                                </a:rPr>
                                <m:t>2</m:t>
                              </m:r>
                            </m:sub>
                          </m:sSub>
                          <m:r>
                            <a:rPr lang="en-GB" sz="1200" b="0" i="1" smtClean="0">
                              <a:latin typeface="Cambria Math" panose="02040503050406030204" pitchFamily="18" charset="0"/>
                            </a:rPr>
                            <m:t>𝐽</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𝐽</m:t>
                              </m:r>
                              <m:r>
                                <a:rPr lang="en-GB" sz="1200" b="0" i="1" smtClean="0">
                                  <a:latin typeface="Cambria Math" panose="02040503050406030204" pitchFamily="18" charset="0"/>
                                </a:rPr>
                                <m:t>&lt;0</m:t>
                              </m:r>
                            </m:e>
                          </m:d>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𝑊</m:t>
                              </m:r>
                            </m:e>
                            <m:sub>
                              <m:r>
                                <a:rPr lang="en-GB" sz="1200" b="0" i="1" smtClean="0">
                                  <a:latin typeface="Cambria Math" panose="02040503050406030204" pitchFamily="18" charset="0"/>
                                </a:rPr>
                                <m:t>3</m:t>
                              </m:r>
                            </m:sub>
                          </m:sSub>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𝐽</m:t>
                              </m:r>
                            </m:e>
                            <m:sup>
                              <m:r>
                                <a:rPr lang="en-GB" sz="1200" b="0" i="1" smtClean="0">
                                  <a:latin typeface="Cambria Math" panose="02040503050406030204" pitchFamily="18" charset="0"/>
                                </a:rPr>
                                <m:t>2</m:t>
                              </m:r>
                            </m:sup>
                          </m:sSup>
                        </m:e>
                      </m:nary>
                    </m:oMath>
                  </m:oMathPara>
                </a14:m>
                <a:endParaRPr lang="en-DE" sz="1200" dirty="0"/>
              </a:p>
            </p:txBody>
          </p:sp>
        </mc:Choice>
        <mc:Fallback xmlns="">
          <p:sp>
            <p:nvSpPr>
              <p:cNvPr id="4" name="TextBox 3">
                <a:extLst>
                  <a:ext uri="{FF2B5EF4-FFF2-40B4-BE49-F238E27FC236}">
                    <a16:creationId xmlns:a16="http://schemas.microsoft.com/office/drawing/2014/main" id="{01969F21-1D86-2226-FDA4-11B63956809D}"/>
                  </a:ext>
                </a:extLst>
              </p:cNvPr>
              <p:cNvSpPr txBox="1">
                <a:spLocks noRot="1" noChangeAspect="1" noMove="1" noResize="1" noEditPoints="1" noAdjustHandles="1" noChangeArrowheads="1" noChangeShapeType="1" noTextEdit="1"/>
              </p:cNvSpPr>
              <p:nvPr/>
            </p:nvSpPr>
            <p:spPr>
              <a:xfrm>
                <a:off x="1088920" y="1566583"/>
                <a:ext cx="3203505" cy="519501"/>
              </a:xfrm>
              <a:prstGeom prst="rect">
                <a:avLst/>
              </a:prstGeom>
              <a:blipFill>
                <a:blip r:embed="rId3"/>
                <a:stretch>
                  <a:fillRect/>
                </a:stretch>
              </a:blipFill>
            </p:spPr>
            <p:txBody>
              <a:bodyPr/>
              <a:lstStyle/>
              <a:p>
                <a:r>
                  <a:rPr lang="en-DE">
                    <a:noFill/>
                  </a:rPr>
                  <a:t> </a:t>
                </a:r>
              </a:p>
            </p:txBody>
          </p:sp>
        </mc:Fallback>
      </mc:AlternateContent>
      <p:sp>
        <p:nvSpPr>
          <p:cNvPr id="5" name="TextBox 4">
            <a:extLst>
              <a:ext uri="{FF2B5EF4-FFF2-40B4-BE49-F238E27FC236}">
                <a16:creationId xmlns:a16="http://schemas.microsoft.com/office/drawing/2014/main" id="{85E1F370-ED26-C56C-B59D-E2D0A337B8C5}"/>
              </a:ext>
            </a:extLst>
          </p:cNvPr>
          <p:cNvSpPr txBox="1"/>
          <p:nvPr/>
        </p:nvSpPr>
        <p:spPr>
          <a:xfrm>
            <a:off x="497541" y="1166995"/>
            <a:ext cx="1014893" cy="276999"/>
          </a:xfrm>
          <a:prstGeom prst="rect">
            <a:avLst/>
          </a:prstGeom>
          <a:noFill/>
        </p:spPr>
        <p:txBody>
          <a:bodyPr wrap="none" rtlCol="0">
            <a:spAutoFit/>
          </a:bodyPr>
          <a:lstStyle/>
          <a:p>
            <a:r>
              <a:rPr lang="en-GB" sz="1200" u="sng" dirty="0"/>
              <a:t>Cost function</a:t>
            </a:r>
            <a:endParaRPr lang="en-DE" sz="1200" u="sng" dirty="0"/>
          </a:p>
        </p:txBody>
      </p:sp>
      <p:sp>
        <p:nvSpPr>
          <p:cNvPr id="6" name="TextBox 5">
            <a:extLst>
              <a:ext uri="{FF2B5EF4-FFF2-40B4-BE49-F238E27FC236}">
                <a16:creationId xmlns:a16="http://schemas.microsoft.com/office/drawing/2014/main" id="{8DA22A70-8307-44E0-F91C-E2F3B35B5FB9}"/>
              </a:ext>
            </a:extLst>
          </p:cNvPr>
          <p:cNvSpPr txBox="1"/>
          <p:nvPr/>
        </p:nvSpPr>
        <p:spPr>
          <a:xfrm>
            <a:off x="497541" y="2642578"/>
            <a:ext cx="4386265" cy="276999"/>
          </a:xfrm>
          <a:prstGeom prst="rect">
            <a:avLst/>
          </a:prstGeom>
          <a:noFill/>
        </p:spPr>
        <p:txBody>
          <a:bodyPr wrap="none" rtlCol="0">
            <a:spAutoFit/>
          </a:bodyPr>
          <a:lstStyle/>
          <a:p>
            <a:r>
              <a:rPr lang="en-GB" sz="1200" dirty="0"/>
              <a:t>Where </a:t>
            </a:r>
            <a:r>
              <a:rPr lang="en-GB" sz="1200" i="1" dirty="0">
                <a:latin typeface="Cambria Math" panose="02040503050406030204" pitchFamily="18" charset="0"/>
                <a:ea typeface="Cambria Math" panose="02040503050406030204" pitchFamily="18" charset="0"/>
              </a:rPr>
              <a:t>J</a:t>
            </a:r>
            <a:r>
              <a:rPr lang="en-GB" sz="1200" dirty="0"/>
              <a:t>  is a linear combination of power between source and load</a:t>
            </a:r>
            <a:endParaRPr lang="en-DE" sz="12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E18F2CE-051D-803B-445A-D8114458BAB3}"/>
                  </a:ext>
                </a:extLst>
              </p:cNvPr>
              <p:cNvSpPr txBox="1"/>
              <p:nvPr/>
            </p:nvSpPr>
            <p:spPr>
              <a:xfrm>
                <a:off x="1324536" y="3171377"/>
                <a:ext cx="1765291" cy="1989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𝐽</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h𝑝</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𝑝𝑣</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𝑒𝑣</m:t>
                          </m:r>
                        </m:sub>
                      </m:sSub>
                    </m:oMath>
                  </m:oMathPara>
                </a14:m>
                <a:endParaRPr lang="en-DE" sz="1200" dirty="0"/>
              </a:p>
            </p:txBody>
          </p:sp>
        </mc:Choice>
        <mc:Fallback xmlns="">
          <p:sp>
            <p:nvSpPr>
              <p:cNvPr id="7" name="TextBox 6">
                <a:extLst>
                  <a:ext uri="{FF2B5EF4-FFF2-40B4-BE49-F238E27FC236}">
                    <a16:creationId xmlns:a16="http://schemas.microsoft.com/office/drawing/2014/main" id="{8E18F2CE-051D-803B-445A-D8114458BAB3}"/>
                  </a:ext>
                </a:extLst>
              </p:cNvPr>
              <p:cNvSpPr txBox="1">
                <a:spLocks noRot="1" noChangeAspect="1" noMove="1" noResize="1" noEditPoints="1" noAdjustHandles="1" noChangeArrowheads="1" noChangeShapeType="1" noTextEdit="1"/>
              </p:cNvSpPr>
              <p:nvPr/>
            </p:nvSpPr>
            <p:spPr>
              <a:xfrm>
                <a:off x="1324536" y="3171377"/>
                <a:ext cx="1765291" cy="198965"/>
              </a:xfrm>
              <a:prstGeom prst="rect">
                <a:avLst/>
              </a:prstGeom>
              <a:blipFill>
                <a:blip r:embed="rId4"/>
                <a:stretch>
                  <a:fillRect l="-2414" b="-21212"/>
                </a:stretch>
              </a:blipFill>
            </p:spPr>
            <p:txBody>
              <a:bodyPr/>
              <a:lstStyle/>
              <a:p>
                <a:r>
                  <a:rPr lang="en-DE">
                    <a:noFill/>
                  </a:rPr>
                  <a:t> </a:t>
                </a:r>
              </a:p>
            </p:txBody>
          </p:sp>
        </mc:Fallback>
      </mc:AlternateContent>
      <p:sp>
        <p:nvSpPr>
          <p:cNvPr id="10" name="Arrow: Right 9">
            <a:hlinkClick r:id="rId5" action="ppaction://hlinksldjump"/>
            <a:extLst>
              <a:ext uri="{FF2B5EF4-FFF2-40B4-BE49-F238E27FC236}">
                <a16:creationId xmlns:a16="http://schemas.microsoft.com/office/drawing/2014/main" id="{1789191B-150A-DB6D-53ED-AF8B574F997D}"/>
              </a:ext>
            </a:extLst>
          </p:cNvPr>
          <p:cNvSpPr/>
          <p:nvPr/>
        </p:nvSpPr>
        <p:spPr>
          <a:xfrm>
            <a:off x="8511540" y="4183380"/>
            <a:ext cx="365760" cy="29718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1649218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59EFEAC6-08FE-328F-9DD7-B35E3E318831}"/>
              </a:ext>
            </a:extLst>
          </p:cNvPr>
          <p:cNvSpPr/>
          <p:nvPr/>
        </p:nvSpPr>
        <p:spPr>
          <a:xfrm>
            <a:off x="5331759" y="2716306"/>
            <a:ext cx="2292496" cy="179518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DE"/>
          </a:p>
        </p:txBody>
      </p:sp>
      <p:sp>
        <p:nvSpPr>
          <p:cNvPr id="43" name="Rectangle 42">
            <a:extLst>
              <a:ext uri="{FF2B5EF4-FFF2-40B4-BE49-F238E27FC236}">
                <a16:creationId xmlns:a16="http://schemas.microsoft.com/office/drawing/2014/main" id="{A260454F-A74E-0ACC-62EF-25D947AED26E}"/>
              </a:ext>
            </a:extLst>
          </p:cNvPr>
          <p:cNvSpPr/>
          <p:nvPr/>
        </p:nvSpPr>
        <p:spPr>
          <a:xfrm>
            <a:off x="5331759" y="786653"/>
            <a:ext cx="2796979" cy="168088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DE"/>
          </a:p>
        </p:txBody>
      </p:sp>
      <p:sp>
        <p:nvSpPr>
          <p:cNvPr id="3" name="Title 2">
            <a:extLst>
              <a:ext uri="{FF2B5EF4-FFF2-40B4-BE49-F238E27FC236}">
                <a16:creationId xmlns:a16="http://schemas.microsoft.com/office/drawing/2014/main" id="{85CC1F3F-F746-05C9-AC0B-62EE3297C32D}"/>
              </a:ext>
            </a:extLst>
          </p:cNvPr>
          <p:cNvSpPr>
            <a:spLocks noGrp="1"/>
          </p:cNvSpPr>
          <p:nvPr>
            <p:ph type="title"/>
          </p:nvPr>
        </p:nvSpPr>
        <p:spPr/>
        <p:txBody>
          <a:bodyPr/>
          <a:lstStyle/>
          <a:p>
            <a:r>
              <a:rPr lang="en-GB" dirty="0"/>
              <a:t>Modular MPC</a:t>
            </a:r>
            <a:endParaRPr lang="en-DE" dirty="0"/>
          </a:p>
        </p:txBody>
      </p:sp>
      <p:grpSp>
        <p:nvGrpSpPr>
          <p:cNvPr id="34" name="Group 33">
            <a:extLst>
              <a:ext uri="{FF2B5EF4-FFF2-40B4-BE49-F238E27FC236}">
                <a16:creationId xmlns:a16="http://schemas.microsoft.com/office/drawing/2014/main" id="{0186969C-A6A1-6D81-E00D-DE31209A9345}"/>
              </a:ext>
            </a:extLst>
          </p:cNvPr>
          <p:cNvGrpSpPr/>
          <p:nvPr/>
        </p:nvGrpSpPr>
        <p:grpSpPr>
          <a:xfrm>
            <a:off x="5425319" y="929394"/>
            <a:ext cx="2611804" cy="607932"/>
            <a:chOff x="1859127" y="2029935"/>
            <a:chExt cx="2611804" cy="607932"/>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BC35C6E-0F89-744C-4CF1-4270878EB414}"/>
                    </a:ext>
                  </a:extLst>
                </p:cNvPr>
                <p:cNvSpPr txBox="1"/>
                <p:nvPr/>
              </p:nvSpPr>
              <p:spPr>
                <a:xfrm>
                  <a:off x="1859127" y="2029935"/>
                  <a:ext cx="2611804" cy="1858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d>
                              <m:dPr>
                                <m:begChr m:val="["/>
                                <m:endChr m:val="]"/>
                                <m:ctrlPr>
                                  <a:rPr lang="en-GB" sz="1200" b="0" i="1" smtClean="0">
                                    <a:latin typeface="Cambria Math" panose="02040503050406030204" pitchFamily="18" charset="0"/>
                                  </a:rPr>
                                </m:ctrlPr>
                              </m:dPr>
                              <m:e>
                                <m:m>
                                  <m:mPr>
                                    <m:mcs>
                                      <m:mc>
                                        <m:mcPr>
                                          <m:count m:val="3"/>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𝑏𝑎𝑡</m:t>
                                          </m:r>
                                          <m:r>
                                            <a:rPr lang="en-GB" sz="1200" b="0" i="1" smtClean="0">
                                              <a:latin typeface="Cambria Math" panose="02040503050406030204" pitchFamily="18" charset="0"/>
                                            </a:rPr>
                                            <m:t>,1</m:t>
                                          </m:r>
                                        </m:sub>
                                      </m:sSub>
                                    </m:e>
                                    <m:e>
                                      <m:r>
                                        <a:rPr lang="en-GB" sz="1200" b="0" i="1" smtClean="0">
                                          <a:latin typeface="Cambria Math" panose="02040503050406030204" pitchFamily="18" charset="0"/>
                                        </a:rPr>
                                        <m:t>⋯</m:t>
                                      </m:r>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𝑏𝑎𝑡</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𝑛</m:t>
                                              </m:r>
                                            </m:e>
                                            <m:sub>
                                              <m:r>
                                                <a:rPr lang="en-GB" sz="1200" b="0" i="1" smtClean="0">
                                                  <a:latin typeface="Cambria Math" panose="02040503050406030204" pitchFamily="18" charset="0"/>
                                                </a:rPr>
                                                <m:t>𝑏𝑎𝑡</m:t>
                                              </m:r>
                                            </m:sub>
                                          </m:sSub>
                                        </m:sub>
                                      </m:sSub>
                                    </m:e>
                                  </m:mr>
                                </m:m>
                              </m:e>
                            </m:d>
                          </m:e>
                          <m:sup>
                            <m:r>
                              <a:rPr lang="en-GB" sz="1200" b="0" i="1" smtClean="0">
                                <a:latin typeface="Cambria Math" panose="02040503050406030204" pitchFamily="18" charset="0"/>
                              </a:rPr>
                              <m:t>𝑇</m:t>
                            </m:r>
                          </m:sup>
                        </m:sSup>
                      </m:oMath>
                    </m:oMathPara>
                  </a14:m>
                  <a:endParaRPr lang="en-DE" sz="1200" dirty="0"/>
                </a:p>
              </p:txBody>
            </p:sp>
          </mc:Choice>
          <mc:Fallback xmlns="">
            <p:sp>
              <p:nvSpPr>
                <p:cNvPr id="5" name="TextBox 4">
                  <a:extLst>
                    <a:ext uri="{FF2B5EF4-FFF2-40B4-BE49-F238E27FC236}">
                      <a16:creationId xmlns:a16="http://schemas.microsoft.com/office/drawing/2014/main" id="{2BC35C6E-0F89-744C-4CF1-4270878EB414}"/>
                    </a:ext>
                  </a:extLst>
                </p:cNvPr>
                <p:cNvSpPr txBox="1">
                  <a:spLocks noRot="1" noChangeAspect="1" noMove="1" noResize="1" noEditPoints="1" noAdjustHandles="1" noChangeArrowheads="1" noChangeShapeType="1" noTextEdit="1"/>
                </p:cNvSpPr>
                <p:nvPr/>
              </p:nvSpPr>
              <p:spPr>
                <a:xfrm>
                  <a:off x="1859127" y="2029935"/>
                  <a:ext cx="2611804" cy="185885"/>
                </a:xfrm>
                <a:prstGeom prst="rect">
                  <a:avLst/>
                </a:prstGeom>
                <a:blipFill>
                  <a:blip r:embed="rId2"/>
                  <a:stretch>
                    <a:fillRect l="-935" r="-234" b="-16129"/>
                  </a:stretch>
                </a:blipFill>
              </p:spPr>
              <p:txBody>
                <a:bodyPr/>
                <a:lstStyle/>
                <a:p>
                  <a:r>
                    <a:rPr lang="en-DE">
                      <a:noFill/>
                    </a:rPr>
                    <a:t> </a:t>
                  </a:r>
                </a:p>
              </p:txBody>
            </p:sp>
          </mc:Fallback>
        </mc:AlternateContent>
        <p:sp>
          <p:nvSpPr>
            <p:cNvPr id="13" name="Left Brace 12">
              <a:extLst>
                <a:ext uri="{FF2B5EF4-FFF2-40B4-BE49-F238E27FC236}">
                  <a16:creationId xmlns:a16="http://schemas.microsoft.com/office/drawing/2014/main" id="{43A218E3-5570-2904-BCA1-C0168B7091B0}"/>
                </a:ext>
              </a:extLst>
            </p:cNvPr>
            <p:cNvSpPr/>
            <p:nvPr/>
          </p:nvSpPr>
          <p:spPr>
            <a:xfrm rot="16200000">
              <a:off x="3405903" y="1446418"/>
              <a:ext cx="86213" cy="178453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sz="120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836B377-4BF2-428C-0065-76D643B276A1}"/>
                    </a:ext>
                  </a:extLst>
                </p:cNvPr>
                <p:cNvSpPr txBox="1"/>
                <p:nvPr/>
              </p:nvSpPr>
              <p:spPr>
                <a:xfrm>
                  <a:off x="3288805" y="2453201"/>
                  <a:ext cx="331694"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oMath>
                    </m:oMathPara>
                  </a14:m>
                  <a:endParaRPr lang="en-DE" sz="1200" dirty="0"/>
                </a:p>
              </p:txBody>
            </p:sp>
          </mc:Choice>
          <mc:Fallback xmlns="">
            <p:sp>
              <p:nvSpPr>
                <p:cNvPr id="14" name="TextBox 13">
                  <a:extLst>
                    <a:ext uri="{FF2B5EF4-FFF2-40B4-BE49-F238E27FC236}">
                      <a16:creationId xmlns:a16="http://schemas.microsoft.com/office/drawing/2014/main" id="{0836B377-4BF2-428C-0065-76D643B276A1}"/>
                    </a:ext>
                  </a:extLst>
                </p:cNvPr>
                <p:cNvSpPr txBox="1">
                  <a:spLocks noRot="1" noChangeAspect="1" noMove="1" noResize="1" noEditPoints="1" noAdjustHandles="1" noChangeArrowheads="1" noChangeShapeType="1" noTextEdit="1"/>
                </p:cNvSpPr>
                <p:nvPr/>
              </p:nvSpPr>
              <p:spPr>
                <a:xfrm>
                  <a:off x="3288805" y="2453201"/>
                  <a:ext cx="331694" cy="184666"/>
                </a:xfrm>
                <a:prstGeom prst="rect">
                  <a:avLst/>
                </a:prstGeom>
                <a:blipFill>
                  <a:blip r:embed="rId3"/>
                  <a:stretch>
                    <a:fillRect l="-11111" r="-1852" b="-13333"/>
                  </a:stretch>
                </a:blipFill>
              </p:spPr>
              <p:txBody>
                <a:bodyPr/>
                <a:lstStyle/>
                <a:p>
                  <a:r>
                    <a:rPr lang="en-DE">
                      <a:noFill/>
                    </a:rPr>
                    <a:t> </a:t>
                  </a:r>
                </a:p>
              </p:txBody>
            </p:sp>
          </mc:Fallback>
        </mc:AlternateContent>
      </p:grpSp>
      <p:grpSp>
        <p:nvGrpSpPr>
          <p:cNvPr id="36" name="Group 35">
            <a:extLst>
              <a:ext uri="{FF2B5EF4-FFF2-40B4-BE49-F238E27FC236}">
                <a16:creationId xmlns:a16="http://schemas.microsoft.com/office/drawing/2014/main" id="{76F92A6E-EC0B-C912-F70E-B0650B7E29B5}"/>
              </a:ext>
            </a:extLst>
          </p:cNvPr>
          <p:cNvGrpSpPr/>
          <p:nvPr/>
        </p:nvGrpSpPr>
        <p:grpSpPr>
          <a:xfrm>
            <a:off x="5425319" y="3758847"/>
            <a:ext cx="1771382" cy="668531"/>
            <a:chOff x="4901002" y="3553742"/>
            <a:chExt cx="1771382" cy="668531"/>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0D98416-0DA3-7B4E-BF74-512FCDFD33FB}"/>
                    </a:ext>
                  </a:extLst>
                </p:cNvPr>
                <p:cNvSpPr txBox="1"/>
                <p:nvPr/>
              </p:nvSpPr>
              <p:spPr>
                <a:xfrm>
                  <a:off x="4901002" y="3553742"/>
                  <a:ext cx="1771382" cy="1850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𝑒𝑣</m:t>
                            </m:r>
                          </m:sub>
                        </m:sSub>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d>
                              <m:dPr>
                                <m:begChr m:val="["/>
                                <m:endChr m:val="]"/>
                                <m:ctrlPr>
                                  <a:rPr lang="en-GB" sz="1200" b="0" i="1" smtClean="0">
                                    <a:latin typeface="Cambria Math" panose="02040503050406030204" pitchFamily="18" charset="0"/>
                                  </a:rPr>
                                </m:ctrlPr>
                              </m:dPr>
                              <m:e>
                                <m:m>
                                  <m:mPr>
                                    <m:mcs>
                                      <m:mc>
                                        <m:mcPr>
                                          <m:count m:val="3"/>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𝑒𝑣</m:t>
                                          </m:r>
                                          <m:r>
                                            <a:rPr lang="en-GB" sz="1200" b="0" i="1" smtClean="0">
                                              <a:latin typeface="Cambria Math" panose="02040503050406030204" pitchFamily="18" charset="0"/>
                                            </a:rPr>
                                            <m:t>,1</m:t>
                                          </m:r>
                                        </m:sub>
                                      </m:sSub>
                                    </m:e>
                                    <m:e>
                                      <m:r>
                                        <a:rPr lang="en-GB" sz="1200" b="0" i="1" smtClean="0">
                                          <a:latin typeface="Cambria Math" panose="02040503050406030204" pitchFamily="18" charset="0"/>
                                        </a:rPr>
                                        <m:t>⋯</m:t>
                                      </m:r>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𝑒𝑣</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𝑛</m:t>
                                              </m:r>
                                            </m:e>
                                            <m:sub>
                                              <m:r>
                                                <a:rPr lang="en-GB" sz="1200" b="0" i="1" smtClean="0">
                                                  <a:latin typeface="Cambria Math" panose="02040503050406030204" pitchFamily="18" charset="0"/>
                                                </a:rPr>
                                                <m:t>𝑒𝑣</m:t>
                                              </m:r>
                                            </m:sub>
                                          </m:sSub>
                                        </m:sub>
                                      </m:sSub>
                                    </m:e>
                                  </m:mr>
                                </m:m>
                              </m:e>
                            </m:d>
                          </m:e>
                          <m:sup>
                            <m:r>
                              <a:rPr lang="en-GB" sz="1200" b="0" i="1" smtClean="0">
                                <a:latin typeface="Cambria Math" panose="02040503050406030204" pitchFamily="18" charset="0"/>
                              </a:rPr>
                              <m:t>𝑇</m:t>
                            </m:r>
                          </m:sup>
                        </m:sSup>
                      </m:oMath>
                    </m:oMathPara>
                  </a14:m>
                  <a:endParaRPr lang="en-DE" sz="1200" dirty="0"/>
                </a:p>
              </p:txBody>
            </p:sp>
          </mc:Choice>
          <mc:Fallback xmlns="">
            <p:sp>
              <p:nvSpPr>
                <p:cNvPr id="6" name="TextBox 5">
                  <a:extLst>
                    <a:ext uri="{FF2B5EF4-FFF2-40B4-BE49-F238E27FC236}">
                      <a16:creationId xmlns:a16="http://schemas.microsoft.com/office/drawing/2014/main" id="{10D98416-0DA3-7B4E-BF74-512FCDFD33FB}"/>
                    </a:ext>
                  </a:extLst>
                </p:cNvPr>
                <p:cNvSpPr txBox="1">
                  <a:spLocks noRot="1" noChangeAspect="1" noMove="1" noResize="1" noEditPoints="1" noAdjustHandles="1" noChangeArrowheads="1" noChangeShapeType="1" noTextEdit="1"/>
                </p:cNvSpPr>
                <p:nvPr/>
              </p:nvSpPr>
              <p:spPr>
                <a:xfrm>
                  <a:off x="4901002" y="3553742"/>
                  <a:ext cx="1771382" cy="185051"/>
                </a:xfrm>
                <a:prstGeom prst="rect">
                  <a:avLst/>
                </a:prstGeom>
                <a:blipFill>
                  <a:blip r:embed="rId4"/>
                  <a:stretch>
                    <a:fillRect l="-1718" t="-3333" b="-13333"/>
                  </a:stretch>
                </a:blipFill>
              </p:spPr>
              <p:txBody>
                <a:bodyPr/>
                <a:lstStyle/>
                <a:p>
                  <a:r>
                    <a:rPr lang="en-DE">
                      <a:noFill/>
                    </a:rPr>
                    <a:t> </a:t>
                  </a:r>
                </a:p>
              </p:txBody>
            </p:sp>
          </mc:Fallback>
        </mc:AlternateContent>
        <p:sp>
          <p:nvSpPr>
            <p:cNvPr id="15" name="Left Brace 14">
              <a:extLst>
                <a:ext uri="{FF2B5EF4-FFF2-40B4-BE49-F238E27FC236}">
                  <a16:creationId xmlns:a16="http://schemas.microsoft.com/office/drawing/2014/main" id="{FA576159-DB9B-D8E5-7149-86B408E86ECF}"/>
                </a:ext>
              </a:extLst>
            </p:cNvPr>
            <p:cNvSpPr/>
            <p:nvPr/>
          </p:nvSpPr>
          <p:spPr>
            <a:xfrm rot="16200000">
              <a:off x="5910990" y="3303936"/>
              <a:ext cx="96717" cy="118231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sz="120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E893F92-5174-4F1A-44C5-144E0F1FEC55}"/>
                    </a:ext>
                  </a:extLst>
                </p:cNvPr>
                <p:cNvSpPr txBox="1"/>
                <p:nvPr/>
              </p:nvSpPr>
              <p:spPr>
                <a:xfrm>
                  <a:off x="5769070" y="4037607"/>
                  <a:ext cx="428239" cy="1846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𝑒𝑣</m:t>
                            </m:r>
                          </m:sub>
                        </m:sSub>
                      </m:oMath>
                    </m:oMathPara>
                  </a14:m>
                  <a:endParaRPr lang="en-DE" sz="1200" dirty="0"/>
                </a:p>
              </p:txBody>
            </p:sp>
          </mc:Choice>
          <mc:Fallback xmlns="">
            <p:sp>
              <p:nvSpPr>
                <p:cNvPr id="16" name="TextBox 15">
                  <a:extLst>
                    <a:ext uri="{FF2B5EF4-FFF2-40B4-BE49-F238E27FC236}">
                      <a16:creationId xmlns:a16="http://schemas.microsoft.com/office/drawing/2014/main" id="{AE893F92-5174-4F1A-44C5-144E0F1FEC55}"/>
                    </a:ext>
                  </a:extLst>
                </p:cNvPr>
                <p:cNvSpPr txBox="1">
                  <a:spLocks noRot="1" noChangeAspect="1" noMove="1" noResize="1" noEditPoints="1" noAdjustHandles="1" noChangeArrowheads="1" noChangeShapeType="1" noTextEdit="1"/>
                </p:cNvSpPr>
                <p:nvPr/>
              </p:nvSpPr>
              <p:spPr>
                <a:xfrm>
                  <a:off x="5769070" y="4037607"/>
                  <a:ext cx="428239" cy="184666"/>
                </a:xfrm>
                <a:prstGeom prst="rect">
                  <a:avLst/>
                </a:prstGeom>
                <a:blipFill>
                  <a:blip r:embed="rId5"/>
                  <a:stretch>
                    <a:fillRect b="-10000"/>
                  </a:stretch>
                </a:blipFill>
              </p:spPr>
              <p:txBody>
                <a:bodyPr/>
                <a:lstStyle/>
                <a:p>
                  <a:r>
                    <a:rPr lang="en-DE">
                      <a:noFill/>
                    </a:rPr>
                    <a:t> </a:t>
                  </a:r>
                </a:p>
              </p:txBody>
            </p:sp>
          </mc:Fallback>
        </mc:AlternateContent>
      </p:grpSp>
      <p:grpSp>
        <p:nvGrpSpPr>
          <p:cNvPr id="37" name="Group 36">
            <a:extLst>
              <a:ext uri="{FF2B5EF4-FFF2-40B4-BE49-F238E27FC236}">
                <a16:creationId xmlns:a16="http://schemas.microsoft.com/office/drawing/2014/main" id="{E5AF5DC6-32CD-46B2-1DDB-2720B315E785}"/>
              </a:ext>
            </a:extLst>
          </p:cNvPr>
          <p:cNvGrpSpPr/>
          <p:nvPr/>
        </p:nvGrpSpPr>
        <p:grpSpPr>
          <a:xfrm>
            <a:off x="5425319" y="2815876"/>
            <a:ext cx="2045881" cy="673704"/>
            <a:chOff x="1373390" y="3553742"/>
            <a:chExt cx="2045881" cy="673704"/>
          </a:xfrm>
        </p:grpSpPr>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537AEF6-C553-6173-2B7A-15F373C143E6}"/>
                    </a:ext>
                  </a:extLst>
                </p:cNvPr>
                <p:cNvSpPr txBox="1"/>
                <p:nvPr/>
              </p:nvSpPr>
              <p:spPr>
                <a:xfrm>
                  <a:off x="1373390" y="3553742"/>
                  <a:ext cx="2045881" cy="1853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d>
                              <m:dPr>
                                <m:begChr m:val="["/>
                                <m:endChr m:val="]"/>
                                <m:ctrlPr>
                                  <a:rPr lang="en-GB" sz="1200" b="0" i="1" smtClean="0">
                                    <a:latin typeface="Cambria Math" panose="02040503050406030204" pitchFamily="18" charset="0"/>
                                  </a:rPr>
                                </m:ctrlPr>
                              </m:dPr>
                              <m:e>
                                <m:m>
                                  <m:mPr>
                                    <m:mcs>
                                      <m:mc>
                                        <m:mcPr>
                                          <m:count m:val="3"/>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𝑏𝑎𝑡</m:t>
                                          </m:r>
                                          <m:r>
                                            <a:rPr lang="en-GB" sz="1200" b="0" i="1" smtClean="0">
                                              <a:latin typeface="Cambria Math" panose="02040503050406030204" pitchFamily="18" charset="0"/>
                                            </a:rPr>
                                            <m:t>,1</m:t>
                                          </m:r>
                                        </m:sub>
                                      </m:sSub>
                                    </m:e>
                                    <m:e>
                                      <m:r>
                                        <a:rPr lang="en-GB" sz="1200" b="0" i="1" smtClean="0">
                                          <a:latin typeface="Cambria Math" panose="02040503050406030204" pitchFamily="18" charset="0"/>
                                        </a:rPr>
                                        <m:t>⋯</m:t>
                                      </m:r>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𝑏𝑎𝑡</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𝑛</m:t>
                                              </m:r>
                                            </m:e>
                                            <m:sub>
                                              <m:r>
                                                <a:rPr lang="en-GB" sz="1200" b="0" i="1" smtClean="0">
                                                  <a:latin typeface="Cambria Math" panose="02040503050406030204" pitchFamily="18" charset="0"/>
                                                </a:rPr>
                                                <m:t>𝑏𝑎𝑡</m:t>
                                              </m:r>
                                            </m:sub>
                                          </m:sSub>
                                        </m:sub>
                                      </m:sSub>
                                    </m:e>
                                  </m:mr>
                                </m:m>
                              </m:e>
                            </m:d>
                          </m:e>
                          <m:sup>
                            <m:r>
                              <a:rPr lang="en-GB" sz="1200" b="0" i="1" smtClean="0">
                                <a:latin typeface="Cambria Math" panose="02040503050406030204" pitchFamily="18" charset="0"/>
                              </a:rPr>
                              <m:t>𝑇</m:t>
                            </m:r>
                          </m:sup>
                        </m:sSup>
                      </m:oMath>
                    </m:oMathPara>
                  </a14:m>
                  <a:endParaRPr lang="en-DE" sz="1200" dirty="0"/>
                </a:p>
              </p:txBody>
            </p:sp>
          </mc:Choice>
          <mc:Fallback xmlns="">
            <p:sp>
              <p:nvSpPr>
                <p:cNvPr id="18" name="TextBox 17">
                  <a:extLst>
                    <a:ext uri="{FF2B5EF4-FFF2-40B4-BE49-F238E27FC236}">
                      <a16:creationId xmlns:a16="http://schemas.microsoft.com/office/drawing/2014/main" id="{2537AEF6-C553-6173-2B7A-15F373C143E6}"/>
                    </a:ext>
                  </a:extLst>
                </p:cNvPr>
                <p:cNvSpPr txBox="1">
                  <a:spLocks noRot="1" noChangeAspect="1" noMove="1" noResize="1" noEditPoints="1" noAdjustHandles="1" noChangeArrowheads="1" noChangeShapeType="1" noTextEdit="1"/>
                </p:cNvSpPr>
                <p:nvPr/>
              </p:nvSpPr>
              <p:spPr>
                <a:xfrm>
                  <a:off x="1373390" y="3553742"/>
                  <a:ext cx="2045881" cy="185307"/>
                </a:xfrm>
                <a:prstGeom prst="rect">
                  <a:avLst/>
                </a:prstGeom>
                <a:blipFill>
                  <a:blip r:embed="rId6"/>
                  <a:stretch>
                    <a:fillRect l="-1488" t="-3333" b="-20000"/>
                  </a:stretch>
                </a:blipFill>
              </p:spPr>
              <p:txBody>
                <a:bodyPr/>
                <a:lstStyle/>
                <a:p>
                  <a:r>
                    <a:rPr lang="en-DE">
                      <a:noFill/>
                    </a:rPr>
                    <a:t> </a:t>
                  </a:r>
                </a:p>
              </p:txBody>
            </p:sp>
          </mc:Fallback>
        </mc:AlternateContent>
        <p:sp>
          <p:nvSpPr>
            <p:cNvPr id="19" name="Left Brace 18">
              <a:extLst>
                <a:ext uri="{FF2B5EF4-FFF2-40B4-BE49-F238E27FC236}">
                  <a16:creationId xmlns:a16="http://schemas.microsoft.com/office/drawing/2014/main" id="{67644930-DCFD-E4B5-197F-8612B7ED3976}"/>
                </a:ext>
              </a:extLst>
            </p:cNvPr>
            <p:cNvSpPr/>
            <p:nvPr/>
          </p:nvSpPr>
          <p:spPr>
            <a:xfrm rot="16200000">
              <a:off x="2537578" y="3205178"/>
              <a:ext cx="96717" cy="138608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sz="120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1CE1D61-3576-AC6A-FBB5-5F0BA2B0C887}"/>
                    </a:ext>
                  </a:extLst>
                </p:cNvPr>
                <p:cNvSpPr txBox="1"/>
                <p:nvPr/>
              </p:nvSpPr>
              <p:spPr>
                <a:xfrm>
                  <a:off x="2425733" y="4042780"/>
                  <a:ext cx="331694"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oMath>
                    </m:oMathPara>
                  </a14:m>
                  <a:endParaRPr lang="en-DE" sz="1200" dirty="0"/>
                </a:p>
              </p:txBody>
            </p:sp>
          </mc:Choice>
          <mc:Fallback xmlns="">
            <p:sp>
              <p:nvSpPr>
                <p:cNvPr id="20" name="TextBox 19">
                  <a:extLst>
                    <a:ext uri="{FF2B5EF4-FFF2-40B4-BE49-F238E27FC236}">
                      <a16:creationId xmlns:a16="http://schemas.microsoft.com/office/drawing/2014/main" id="{91CE1D61-3576-AC6A-FBB5-5F0BA2B0C887}"/>
                    </a:ext>
                  </a:extLst>
                </p:cNvPr>
                <p:cNvSpPr txBox="1">
                  <a:spLocks noRot="1" noChangeAspect="1" noMove="1" noResize="1" noEditPoints="1" noAdjustHandles="1" noChangeArrowheads="1" noChangeShapeType="1" noTextEdit="1"/>
                </p:cNvSpPr>
                <p:nvPr/>
              </p:nvSpPr>
              <p:spPr>
                <a:xfrm>
                  <a:off x="2425733" y="4042780"/>
                  <a:ext cx="331694" cy="184666"/>
                </a:xfrm>
                <a:prstGeom prst="rect">
                  <a:avLst/>
                </a:prstGeom>
                <a:blipFill>
                  <a:blip r:embed="rId7"/>
                  <a:stretch>
                    <a:fillRect l="-11111" r="-1852" b="-16667"/>
                  </a:stretch>
                </a:blipFill>
              </p:spPr>
              <p:txBody>
                <a:bodyPr/>
                <a:lstStyle/>
                <a:p>
                  <a:r>
                    <a:rPr lang="en-DE">
                      <a:noFill/>
                    </a:rPr>
                    <a:t> </a:t>
                  </a:r>
                </a:p>
              </p:txBody>
            </p:sp>
          </mc:Fallback>
        </mc:AlternateContent>
      </p:grpSp>
      <p:grpSp>
        <p:nvGrpSpPr>
          <p:cNvPr id="33" name="Group 32">
            <a:extLst>
              <a:ext uri="{FF2B5EF4-FFF2-40B4-BE49-F238E27FC236}">
                <a16:creationId xmlns:a16="http://schemas.microsoft.com/office/drawing/2014/main" id="{36E67491-0BCF-1313-993F-26393940A774}"/>
              </a:ext>
            </a:extLst>
          </p:cNvPr>
          <p:cNvGrpSpPr/>
          <p:nvPr/>
        </p:nvGrpSpPr>
        <p:grpSpPr>
          <a:xfrm>
            <a:off x="5425319" y="1741646"/>
            <a:ext cx="2364365" cy="639077"/>
            <a:chOff x="5235728" y="2034746"/>
            <a:chExt cx="2364365" cy="639077"/>
          </a:xfrm>
        </p:grpSpPr>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BECEAA2-ABD1-A083-FA14-057F07DC5D1B}"/>
                    </a:ext>
                  </a:extLst>
                </p:cNvPr>
                <p:cNvSpPr txBox="1"/>
                <p:nvPr/>
              </p:nvSpPr>
              <p:spPr>
                <a:xfrm>
                  <a:off x="5235728" y="2034746"/>
                  <a:ext cx="2364365" cy="1856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𝑒𝑣</m:t>
                            </m:r>
                          </m:sub>
                        </m:sSub>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d>
                              <m:dPr>
                                <m:begChr m:val="["/>
                                <m:endChr m:val="]"/>
                                <m:ctrlPr>
                                  <a:rPr lang="en-GB" sz="1200" b="0" i="1" smtClean="0">
                                    <a:latin typeface="Cambria Math" panose="02040503050406030204" pitchFamily="18" charset="0"/>
                                  </a:rPr>
                                </m:ctrlPr>
                              </m:dPr>
                              <m:e>
                                <m:m>
                                  <m:mPr>
                                    <m:mcs>
                                      <m:mc>
                                        <m:mcPr>
                                          <m:count m:val="3"/>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𝑒𝑣</m:t>
                                          </m:r>
                                          <m:r>
                                            <a:rPr lang="en-GB" sz="1200" b="0" i="1" smtClean="0">
                                              <a:latin typeface="Cambria Math" panose="02040503050406030204" pitchFamily="18" charset="0"/>
                                            </a:rPr>
                                            <m:t>,1</m:t>
                                          </m:r>
                                        </m:sub>
                                      </m:sSub>
                                    </m:e>
                                    <m:e>
                                      <m:r>
                                        <a:rPr lang="en-GB" sz="1200" b="0" i="1" smtClean="0">
                                          <a:latin typeface="Cambria Math" panose="02040503050406030204" pitchFamily="18" charset="0"/>
                                        </a:rPr>
                                        <m:t>⋯</m:t>
                                      </m:r>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𝑒𝑣</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𝑛</m:t>
                                              </m:r>
                                            </m:e>
                                            <m:sub>
                                              <m:r>
                                                <a:rPr lang="en-GB" sz="1200" b="0" i="1" smtClean="0">
                                                  <a:latin typeface="Cambria Math" panose="02040503050406030204" pitchFamily="18" charset="0"/>
                                                </a:rPr>
                                                <m:t>𝑒𝑣</m:t>
                                              </m:r>
                                            </m:sub>
                                          </m:sSub>
                                        </m:sub>
                                      </m:sSub>
                                    </m:e>
                                  </m:mr>
                                </m:m>
                              </m:e>
                            </m:d>
                          </m:e>
                          <m:sup>
                            <m:r>
                              <a:rPr lang="en-GB" sz="1200" b="0" i="1" smtClean="0">
                                <a:latin typeface="Cambria Math" panose="02040503050406030204" pitchFamily="18" charset="0"/>
                              </a:rPr>
                              <m:t>𝑇</m:t>
                            </m:r>
                          </m:sup>
                        </m:sSup>
                      </m:oMath>
                    </m:oMathPara>
                  </a14:m>
                  <a:endParaRPr lang="en-DE" sz="1200" dirty="0"/>
                </a:p>
              </p:txBody>
            </p:sp>
          </mc:Choice>
          <mc:Fallback xmlns="">
            <p:sp>
              <p:nvSpPr>
                <p:cNvPr id="21" name="TextBox 20">
                  <a:extLst>
                    <a:ext uri="{FF2B5EF4-FFF2-40B4-BE49-F238E27FC236}">
                      <a16:creationId xmlns:a16="http://schemas.microsoft.com/office/drawing/2014/main" id="{2BECEAA2-ABD1-A083-FA14-057F07DC5D1B}"/>
                    </a:ext>
                  </a:extLst>
                </p:cNvPr>
                <p:cNvSpPr txBox="1">
                  <a:spLocks noRot="1" noChangeAspect="1" noMove="1" noResize="1" noEditPoints="1" noAdjustHandles="1" noChangeArrowheads="1" noChangeShapeType="1" noTextEdit="1"/>
                </p:cNvSpPr>
                <p:nvPr/>
              </p:nvSpPr>
              <p:spPr>
                <a:xfrm>
                  <a:off x="5235728" y="2034746"/>
                  <a:ext cx="2364365" cy="185628"/>
                </a:xfrm>
                <a:prstGeom prst="rect">
                  <a:avLst/>
                </a:prstGeom>
                <a:blipFill>
                  <a:blip r:embed="rId8"/>
                  <a:stretch>
                    <a:fillRect l="-1031" t="-3333" b="-13333"/>
                  </a:stretch>
                </a:blipFill>
              </p:spPr>
              <p:txBody>
                <a:bodyPr/>
                <a:lstStyle/>
                <a:p>
                  <a:r>
                    <a:rPr lang="en-DE">
                      <a:noFill/>
                    </a:rPr>
                    <a:t> </a:t>
                  </a:r>
                </a:p>
              </p:txBody>
            </p:sp>
          </mc:Fallback>
        </mc:AlternateContent>
        <p:sp>
          <p:nvSpPr>
            <p:cNvPr id="22" name="Left Brace 21">
              <a:extLst>
                <a:ext uri="{FF2B5EF4-FFF2-40B4-BE49-F238E27FC236}">
                  <a16:creationId xmlns:a16="http://schemas.microsoft.com/office/drawing/2014/main" id="{73F8ADAC-C4C6-3588-CA09-8CCE1EA5C68C}"/>
                </a:ext>
              </a:extLst>
            </p:cNvPr>
            <p:cNvSpPr/>
            <p:nvPr/>
          </p:nvSpPr>
          <p:spPr>
            <a:xfrm rot="16200000">
              <a:off x="6697655" y="1589434"/>
              <a:ext cx="54050" cy="153066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sz="120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AD7AC82-F583-F138-1352-E78E16609434}"/>
                    </a:ext>
                  </a:extLst>
                </p:cNvPr>
                <p:cNvSpPr txBox="1"/>
                <p:nvPr/>
              </p:nvSpPr>
              <p:spPr>
                <a:xfrm>
                  <a:off x="6546427" y="2489157"/>
                  <a:ext cx="428239" cy="1846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𝑒𝑣</m:t>
                            </m:r>
                          </m:sub>
                        </m:sSub>
                      </m:oMath>
                    </m:oMathPara>
                  </a14:m>
                  <a:endParaRPr lang="en-DE" sz="1200" dirty="0"/>
                </a:p>
              </p:txBody>
            </p:sp>
          </mc:Choice>
          <mc:Fallback xmlns="">
            <p:sp>
              <p:nvSpPr>
                <p:cNvPr id="23" name="TextBox 22">
                  <a:extLst>
                    <a:ext uri="{FF2B5EF4-FFF2-40B4-BE49-F238E27FC236}">
                      <a16:creationId xmlns:a16="http://schemas.microsoft.com/office/drawing/2014/main" id="{1AD7AC82-F583-F138-1352-E78E16609434}"/>
                    </a:ext>
                  </a:extLst>
                </p:cNvPr>
                <p:cNvSpPr txBox="1">
                  <a:spLocks noRot="1" noChangeAspect="1" noMove="1" noResize="1" noEditPoints="1" noAdjustHandles="1" noChangeArrowheads="1" noChangeShapeType="1" noTextEdit="1"/>
                </p:cNvSpPr>
                <p:nvPr/>
              </p:nvSpPr>
              <p:spPr>
                <a:xfrm>
                  <a:off x="6546427" y="2489157"/>
                  <a:ext cx="428239" cy="184666"/>
                </a:xfrm>
                <a:prstGeom prst="rect">
                  <a:avLst/>
                </a:prstGeom>
                <a:blipFill>
                  <a:blip r:embed="rId9"/>
                  <a:stretch>
                    <a:fillRect b="-6452"/>
                  </a:stretch>
                </a:blipFill>
              </p:spPr>
              <p:txBody>
                <a:bodyPr/>
                <a:lstStyle/>
                <a:p>
                  <a:r>
                    <a:rPr lang="en-DE">
                      <a:noFill/>
                    </a:rPr>
                    <a:t> </a:t>
                  </a:r>
                </a:p>
              </p:txBody>
            </p:sp>
          </mc:Fallback>
        </mc:AlternateContent>
      </p:grpSp>
      <p:sp>
        <p:nvSpPr>
          <p:cNvPr id="24" name="Rectangle 23">
            <a:extLst>
              <a:ext uri="{FF2B5EF4-FFF2-40B4-BE49-F238E27FC236}">
                <a16:creationId xmlns:a16="http://schemas.microsoft.com/office/drawing/2014/main" id="{8BC381B1-5989-6151-A19B-41C35206FC75}"/>
              </a:ext>
            </a:extLst>
          </p:cNvPr>
          <p:cNvSpPr/>
          <p:nvPr/>
        </p:nvSpPr>
        <p:spPr>
          <a:xfrm>
            <a:off x="1446945" y="1267799"/>
            <a:ext cx="3328650" cy="34040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1F05BB0-0959-B580-53B7-FC20D3014778}"/>
                  </a:ext>
                </a:extLst>
              </p:cNvPr>
              <p:cNvSpPr txBox="1"/>
              <p:nvPr/>
            </p:nvSpPr>
            <p:spPr>
              <a:xfrm>
                <a:off x="1507456" y="1365160"/>
                <a:ext cx="3268138"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𝑥</m:t>
                      </m:r>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d>
                            <m:dPr>
                              <m:begChr m:val="["/>
                              <m:endChr m:val="]"/>
                              <m:ctrlPr>
                                <a:rPr lang="en-GB" sz="1200" b="0" i="1" smtClean="0">
                                  <a:latin typeface="Cambria Math" panose="02040503050406030204" pitchFamily="18" charset="0"/>
                                </a:rPr>
                              </m:ctrlPr>
                            </m:dPr>
                            <m:e>
                              <m:m>
                                <m:mPr>
                                  <m:mcs>
                                    <m:mc>
                                      <m:mcPr>
                                        <m:count m:val="2"/>
                                        <m:mcJc m:val="center"/>
                                      </m:mcPr>
                                    </m:mc>
                                  </m:mcs>
                                  <m:ctrlPr>
                                    <a:rPr lang="en-GB" sz="1200" b="0" i="1" smtClean="0">
                                      <a:latin typeface="Cambria Math" panose="02040503050406030204" pitchFamily="18" charset="0"/>
                                    </a:rPr>
                                  </m:ctrlPr>
                                </m:mPr>
                                <m:mr>
                                  <m:e>
                                    <m:m>
                                      <m:mPr>
                                        <m:mcs>
                                          <m:mc>
                                            <m:mcPr>
                                              <m:count m:val="3"/>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1</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2</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3</m:t>
                                              </m:r>
                                            </m:sub>
                                          </m:sSub>
                                        </m:e>
                                      </m:mr>
                                    </m:m>
                                  </m:e>
                                  <m:e>
                                    <m:m>
                                      <m:mPr>
                                        <m:mcs>
                                          <m:mc>
                                            <m:mcPr>
                                              <m:count m:val="3"/>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4</m:t>
                                              </m:r>
                                            </m:sub>
                                          </m:sSub>
                                        </m:e>
                                        <m:e>
                                          <m:r>
                                            <a:rPr lang="en-GB" sz="1200" b="0" i="1" smtClean="0">
                                              <a:latin typeface="Cambria Math" panose="02040503050406030204" pitchFamily="18" charset="0"/>
                                            </a:rPr>
                                            <m:t>𝑡𝑖𝑚𝑒</m:t>
                                          </m:r>
                                        </m:e>
                                        <m:e>
                                          <m:m>
                                            <m:mPr>
                                              <m:mcs>
                                                <m:mc>
                                                  <m:mcPr>
                                                    <m:count m:val="2"/>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𝑏𝑎𝑡</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𝑒𝑣</m:t>
                                                    </m:r>
                                                  </m:sub>
                                                </m:sSub>
                                              </m:e>
                                            </m:mr>
                                          </m:m>
                                        </m:e>
                                      </m:mr>
                                    </m:m>
                                  </m:e>
                                </m:mr>
                              </m:m>
                            </m:e>
                          </m:d>
                        </m:e>
                        <m:sup>
                          <m:r>
                            <a:rPr lang="en-GB" sz="1200" b="0" i="1" smtClean="0">
                              <a:latin typeface="Cambria Math" panose="02040503050406030204" pitchFamily="18" charset="0"/>
                            </a:rPr>
                            <m:t>𝑇</m:t>
                          </m:r>
                        </m:sup>
                      </m:sSup>
                    </m:oMath>
                  </m:oMathPara>
                </a14:m>
                <a:endParaRPr lang="en-DE" sz="1200" dirty="0"/>
              </a:p>
            </p:txBody>
          </p:sp>
        </mc:Choice>
        <mc:Fallback xmlns="">
          <p:sp>
            <p:nvSpPr>
              <p:cNvPr id="4" name="TextBox 3">
                <a:extLst>
                  <a:ext uri="{FF2B5EF4-FFF2-40B4-BE49-F238E27FC236}">
                    <a16:creationId xmlns:a16="http://schemas.microsoft.com/office/drawing/2014/main" id="{A1F05BB0-0959-B580-53B7-FC20D3014778}"/>
                  </a:ext>
                </a:extLst>
              </p:cNvPr>
              <p:cNvSpPr txBox="1">
                <a:spLocks noRot="1" noChangeAspect="1" noMove="1" noResize="1" noEditPoints="1" noAdjustHandles="1" noChangeArrowheads="1" noChangeShapeType="1" noTextEdit="1"/>
              </p:cNvSpPr>
              <p:nvPr/>
            </p:nvSpPr>
            <p:spPr>
              <a:xfrm>
                <a:off x="1507456" y="1365160"/>
                <a:ext cx="3268138" cy="184666"/>
              </a:xfrm>
              <a:prstGeom prst="rect">
                <a:avLst/>
              </a:prstGeom>
              <a:blipFill>
                <a:blip r:embed="rId10"/>
                <a:stretch>
                  <a:fillRect b="-13333"/>
                </a:stretch>
              </a:blipFill>
            </p:spPr>
            <p:txBody>
              <a:bodyPr/>
              <a:lstStyle/>
              <a:p>
                <a:r>
                  <a:rPr lang="en-DE">
                    <a:noFill/>
                  </a:rPr>
                  <a:t> </a:t>
                </a:r>
              </a:p>
            </p:txBody>
          </p:sp>
        </mc:Fallback>
      </mc:AlternateContent>
      <p:cxnSp>
        <p:nvCxnSpPr>
          <p:cNvPr id="12" name="Straight Connector 11">
            <a:extLst>
              <a:ext uri="{FF2B5EF4-FFF2-40B4-BE49-F238E27FC236}">
                <a16:creationId xmlns:a16="http://schemas.microsoft.com/office/drawing/2014/main" id="{C3B0EB01-8D58-9F24-E1F9-55535F8DBF7B}"/>
              </a:ext>
            </a:extLst>
          </p:cNvPr>
          <p:cNvCxnSpPr>
            <a:cxnSpLocks/>
          </p:cNvCxnSpPr>
          <p:nvPr/>
        </p:nvCxnSpPr>
        <p:spPr>
          <a:xfrm flipV="1">
            <a:off x="4093773" y="1126476"/>
            <a:ext cx="0" cy="65218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Connector 26">
            <a:extLst>
              <a:ext uri="{FF2B5EF4-FFF2-40B4-BE49-F238E27FC236}">
                <a16:creationId xmlns:a16="http://schemas.microsoft.com/office/drawing/2014/main" id="{0E0ABEF4-B83B-8324-14F4-0370D644DA26}"/>
              </a:ext>
            </a:extLst>
          </p:cNvPr>
          <p:cNvCxnSpPr>
            <a:cxnSpLocks/>
          </p:cNvCxnSpPr>
          <p:nvPr/>
        </p:nvCxnSpPr>
        <p:spPr>
          <a:xfrm flipV="1">
            <a:off x="3500861" y="1138805"/>
            <a:ext cx="0" cy="65218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TextBox 37">
            <a:extLst>
              <a:ext uri="{FF2B5EF4-FFF2-40B4-BE49-F238E27FC236}">
                <a16:creationId xmlns:a16="http://schemas.microsoft.com/office/drawing/2014/main" id="{7D0F78FB-B0CA-C334-C6FE-4530D99D15F3}"/>
              </a:ext>
            </a:extLst>
          </p:cNvPr>
          <p:cNvSpPr txBox="1"/>
          <p:nvPr/>
        </p:nvSpPr>
        <p:spPr>
          <a:xfrm>
            <a:off x="531159" y="993229"/>
            <a:ext cx="752707" cy="369332"/>
          </a:xfrm>
          <a:prstGeom prst="rect">
            <a:avLst/>
          </a:prstGeom>
          <a:noFill/>
        </p:spPr>
        <p:txBody>
          <a:bodyPr wrap="none" rtlCol="0">
            <a:spAutoFit/>
          </a:bodyPr>
          <a:lstStyle/>
          <a:p>
            <a:r>
              <a:rPr lang="en-GB" u="sng" dirty="0"/>
              <a:t>States</a:t>
            </a:r>
            <a:endParaRPr lang="en-DE" u="sng" dirty="0"/>
          </a:p>
        </p:txBody>
      </p:sp>
      <p:sp>
        <p:nvSpPr>
          <p:cNvPr id="39" name="TextBox 38">
            <a:extLst>
              <a:ext uri="{FF2B5EF4-FFF2-40B4-BE49-F238E27FC236}">
                <a16:creationId xmlns:a16="http://schemas.microsoft.com/office/drawing/2014/main" id="{6F906B5A-5333-E30A-4218-5E27C0A63496}"/>
              </a:ext>
            </a:extLst>
          </p:cNvPr>
          <p:cNvSpPr txBox="1"/>
          <p:nvPr/>
        </p:nvSpPr>
        <p:spPr>
          <a:xfrm>
            <a:off x="531159" y="2631851"/>
            <a:ext cx="684803" cy="369332"/>
          </a:xfrm>
          <a:prstGeom prst="rect">
            <a:avLst/>
          </a:prstGeom>
          <a:noFill/>
        </p:spPr>
        <p:txBody>
          <a:bodyPr wrap="none" rtlCol="0">
            <a:spAutoFit/>
          </a:bodyPr>
          <a:lstStyle/>
          <a:p>
            <a:r>
              <a:rPr lang="en-GB" u="sng" dirty="0"/>
              <a:t>Input</a:t>
            </a:r>
            <a:endParaRPr lang="en-DE" u="sng" dirty="0"/>
          </a:p>
        </p:txBody>
      </p:sp>
      <p:grpSp>
        <p:nvGrpSpPr>
          <p:cNvPr id="51" name="Group 50">
            <a:extLst>
              <a:ext uri="{FF2B5EF4-FFF2-40B4-BE49-F238E27FC236}">
                <a16:creationId xmlns:a16="http://schemas.microsoft.com/office/drawing/2014/main" id="{A65C9DC4-43DA-1405-B3F1-CCCD3425423A}"/>
              </a:ext>
            </a:extLst>
          </p:cNvPr>
          <p:cNvGrpSpPr/>
          <p:nvPr/>
        </p:nvGrpSpPr>
        <p:grpSpPr>
          <a:xfrm>
            <a:off x="1619450" y="3069686"/>
            <a:ext cx="2056222" cy="652182"/>
            <a:chOff x="1444639" y="2658316"/>
            <a:chExt cx="2056222" cy="652182"/>
          </a:xfrm>
        </p:grpSpPr>
        <p:sp>
          <p:nvSpPr>
            <p:cNvPr id="28" name="Rectangle 27">
              <a:extLst>
                <a:ext uri="{FF2B5EF4-FFF2-40B4-BE49-F238E27FC236}">
                  <a16:creationId xmlns:a16="http://schemas.microsoft.com/office/drawing/2014/main" id="{2978C55A-3821-463B-EC66-02F41941C75C}"/>
                </a:ext>
              </a:extLst>
            </p:cNvPr>
            <p:cNvSpPr/>
            <p:nvPr/>
          </p:nvSpPr>
          <p:spPr>
            <a:xfrm>
              <a:off x="1444639" y="2798580"/>
              <a:ext cx="2056222" cy="41013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DB929B7-F8DD-3BDB-2526-637F638A2EA1}"/>
                    </a:ext>
                  </a:extLst>
                </p:cNvPr>
                <p:cNvSpPr txBox="1"/>
                <p:nvPr/>
              </p:nvSpPr>
              <p:spPr>
                <a:xfrm>
                  <a:off x="1519735" y="2909510"/>
                  <a:ext cx="1939762" cy="1847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𝑢</m:t>
                        </m:r>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d>
                              <m:dPr>
                                <m:begChr m:val="["/>
                                <m:endChr m:val="]"/>
                                <m:ctrlPr>
                                  <a:rPr lang="en-GB" sz="1200" b="0" i="1" smtClean="0">
                                    <a:latin typeface="Cambria Math" panose="02040503050406030204" pitchFamily="18" charset="0"/>
                                  </a:rPr>
                                </m:ctrlPr>
                              </m:dPr>
                              <m:e>
                                <m:m>
                                  <m:mPr>
                                    <m:mcs>
                                      <m:mc>
                                        <m:mcPr>
                                          <m:count m:val="2"/>
                                          <m:mcJc m:val="center"/>
                                        </m:mcPr>
                                      </m:mc>
                                    </m:mcs>
                                    <m:ctrlPr>
                                      <a:rPr lang="en-GB" sz="1200" b="0" i="1" smtClean="0">
                                        <a:latin typeface="Cambria Math" panose="02040503050406030204" pitchFamily="18" charset="0"/>
                                      </a:rPr>
                                    </m:ctrlPr>
                                  </m:mPr>
                                  <m:mr>
                                    <m:e>
                                      <m:m>
                                        <m:mPr>
                                          <m:mcs>
                                            <m:mc>
                                              <m:mcPr>
                                                <m:count m:val="2"/>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h𝑝</m:t>
                                                </m:r>
                                              </m:sub>
                                            </m:sSub>
                                          </m:e>
                                          <m:e>
                                            <m:sSub>
                                              <m:sSubPr>
                                                <m:ctrlPr>
                                                  <a:rPr lang="en-GB" sz="1200" b="0" i="1" smtClean="0">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𝑡</m:t>
                                                </m:r>
                                              </m:sub>
                                            </m:sSub>
                                          </m:e>
                                        </m:mr>
                                      </m:m>
                                    </m:e>
                                    <m:e>
                                      <m:m>
                                        <m:mPr>
                                          <m:mcs>
                                            <m:mc>
                                              <m:mcPr>
                                                <m:count m:val="2"/>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𝑏𝑎𝑡</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𝑒𝑣</m:t>
                                                </m:r>
                                              </m:sub>
                                            </m:sSub>
                                          </m:e>
                                        </m:mr>
                                      </m:m>
                                    </m:e>
                                  </m:mr>
                                </m:m>
                              </m:e>
                            </m:d>
                          </m:e>
                          <m:sup>
                            <m:r>
                              <a:rPr lang="en-GB" sz="1200" b="0" i="1" smtClean="0">
                                <a:latin typeface="Cambria Math" panose="02040503050406030204" pitchFamily="18" charset="0"/>
                              </a:rPr>
                              <m:t>𝑇</m:t>
                            </m:r>
                          </m:sup>
                        </m:sSup>
                      </m:oMath>
                    </m:oMathPara>
                  </a14:m>
                  <a:endParaRPr lang="en-DE" sz="1200" dirty="0"/>
                </a:p>
              </p:txBody>
            </p:sp>
          </mc:Choice>
          <mc:Fallback xmlns="">
            <p:sp>
              <p:nvSpPr>
                <p:cNvPr id="17" name="TextBox 16">
                  <a:extLst>
                    <a:ext uri="{FF2B5EF4-FFF2-40B4-BE49-F238E27FC236}">
                      <a16:creationId xmlns:a16="http://schemas.microsoft.com/office/drawing/2014/main" id="{2DB929B7-F8DD-3BDB-2526-637F638A2EA1}"/>
                    </a:ext>
                  </a:extLst>
                </p:cNvPr>
                <p:cNvSpPr txBox="1">
                  <a:spLocks noRot="1" noChangeAspect="1" noMove="1" noResize="1" noEditPoints="1" noAdjustHandles="1" noChangeArrowheads="1" noChangeShapeType="1" noTextEdit="1"/>
                </p:cNvSpPr>
                <p:nvPr/>
              </p:nvSpPr>
              <p:spPr>
                <a:xfrm>
                  <a:off x="1519735" y="2909510"/>
                  <a:ext cx="1939762" cy="184731"/>
                </a:xfrm>
                <a:prstGeom prst="rect">
                  <a:avLst/>
                </a:prstGeom>
                <a:blipFill>
                  <a:blip r:embed="rId11"/>
                  <a:stretch>
                    <a:fillRect t="-13333" b="-23333"/>
                  </a:stretch>
                </a:blipFill>
              </p:spPr>
              <p:txBody>
                <a:bodyPr/>
                <a:lstStyle/>
                <a:p>
                  <a:r>
                    <a:rPr lang="en-DE">
                      <a:noFill/>
                    </a:rPr>
                    <a:t> </a:t>
                  </a:r>
                </a:p>
              </p:txBody>
            </p:sp>
          </mc:Fallback>
        </mc:AlternateContent>
        <p:cxnSp>
          <p:nvCxnSpPr>
            <p:cNvPr id="41" name="Straight Connector 40">
              <a:extLst>
                <a:ext uri="{FF2B5EF4-FFF2-40B4-BE49-F238E27FC236}">
                  <a16:creationId xmlns:a16="http://schemas.microsoft.com/office/drawing/2014/main" id="{9B928D63-4845-8782-0DDF-CDDCA2C07285}"/>
                </a:ext>
              </a:extLst>
            </p:cNvPr>
            <p:cNvCxnSpPr>
              <a:cxnSpLocks/>
            </p:cNvCxnSpPr>
            <p:nvPr/>
          </p:nvCxnSpPr>
          <p:spPr>
            <a:xfrm flipV="1">
              <a:off x="2564049" y="2658316"/>
              <a:ext cx="0" cy="65218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Straight Connector 41">
              <a:extLst>
                <a:ext uri="{FF2B5EF4-FFF2-40B4-BE49-F238E27FC236}">
                  <a16:creationId xmlns:a16="http://schemas.microsoft.com/office/drawing/2014/main" id="{605ED578-F0D5-A123-5287-0032E8A8897F}"/>
                </a:ext>
              </a:extLst>
            </p:cNvPr>
            <p:cNvCxnSpPr>
              <a:cxnSpLocks/>
            </p:cNvCxnSpPr>
            <p:nvPr/>
          </p:nvCxnSpPr>
          <p:spPr>
            <a:xfrm flipV="1">
              <a:off x="3002320" y="2658316"/>
              <a:ext cx="0" cy="65218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cxnSp>
        <p:nvCxnSpPr>
          <p:cNvPr id="46" name="Connector: Elbow 45">
            <a:extLst>
              <a:ext uri="{FF2B5EF4-FFF2-40B4-BE49-F238E27FC236}">
                <a16:creationId xmlns:a16="http://schemas.microsoft.com/office/drawing/2014/main" id="{7558216D-CC83-61B3-51B1-62FA6B47D935}"/>
              </a:ext>
            </a:extLst>
          </p:cNvPr>
          <p:cNvCxnSpPr/>
          <p:nvPr/>
        </p:nvCxnSpPr>
        <p:spPr>
          <a:xfrm flipV="1">
            <a:off x="3825688" y="993229"/>
            <a:ext cx="1378324" cy="201808"/>
          </a:xfrm>
          <a:prstGeom prst="bentConnector3">
            <a:avLst>
              <a:gd name="adj1" fmla="val 244"/>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DE1D6EA1-4477-C84C-387B-FCFB85928E4C}"/>
              </a:ext>
            </a:extLst>
          </p:cNvPr>
          <p:cNvCxnSpPr/>
          <p:nvPr/>
        </p:nvCxnSpPr>
        <p:spPr>
          <a:xfrm>
            <a:off x="4397188" y="1694329"/>
            <a:ext cx="806824" cy="154642"/>
          </a:xfrm>
          <a:prstGeom prst="bentConnector3">
            <a:avLst>
              <a:gd name="adj1" fmla="val 833"/>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94FFEBD1-CBEA-CAA8-B3A2-0671C7A75803}"/>
              </a:ext>
            </a:extLst>
          </p:cNvPr>
          <p:cNvCxnSpPr/>
          <p:nvPr/>
        </p:nvCxnSpPr>
        <p:spPr>
          <a:xfrm flipV="1">
            <a:off x="2924735" y="2908529"/>
            <a:ext cx="2279277" cy="203468"/>
          </a:xfrm>
          <a:prstGeom prst="bentConnector3">
            <a:avLst>
              <a:gd name="adj1" fmla="val 443"/>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56" name="Connector: Elbow 55">
            <a:extLst>
              <a:ext uri="{FF2B5EF4-FFF2-40B4-BE49-F238E27FC236}">
                <a16:creationId xmlns:a16="http://schemas.microsoft.com/office/drawing/2014/main" id="{85F7F480-3471-E65F-61C9-EA3E0122DAEA}"/>
              </a:ext>
            </a:extLst>
          </p:cNvPr>
          <p:cNvCxnSpPr/>
          <p:nvPr/>
        </p:nvCxnSpPr>
        <p:spPr>
          <a:xfrm>
            <a:off x="3375212" y="3721868"/>
            <a:ext cx="1828800" cy="129504"/>
          </a:xfrm>
          <a:prstGeom prst="bentConnector3">
            <a:avLst>
              <a:gd name="adj1" fmla="val 368"/>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767FC864-ADE4-8970-851C-F1820423003A}"/>
              </a:ext>
            </a:extLst>
          </p:cNvPr>
          <p:cNvSpPr txBox="1"/>
          <p:nvPr/>
        </p:nvSpPr>
        <p:spPr>
          <a:xfrm>
            <a:off x="2099809" y="2117541"/>
            <a:ext cx="1544334" cy="276999"/>
          </a:xfrm>
          <a:prstGeom prst="rect">
            <a:avLst/>
          </a:prstGeom>
          <a:noFill/>
        </p:spPr>
        <p:txBody>
          <a:bodyPr wrap="none" rtlCol="0">
            <a:spAutoFit/>
          </a:bodyPr>
          <a:lstStyle/>
          <a:p>
            <a:r>
              <a:rPr lang="en-GB" sz="1200" dirty="0">
                <a:highlight>
                  <a:srgbClr val="FFFF00"/>
                </a:highlight>
              </a:rPr>
              <a:t>Guarded by a for loop</a:t>
            </a:r>
            <a:endParaRPr lang="en-DE" sz="1200" dirty="0">
              <a:highlight>
                <a:srgbClr val="FFFF00"/>
              </a:highlight>
            </a:endParaRPr>
          </a:p>
        </p:txBody>
      </p:sp>
      <p:cxnSp>
        <p:nvCxnSpPr>
          <p:cNvPr id="60" name="Straight Arrow Connector 59">
            <a:extLst>
              <a:ext uri="{FF2B5EF4-FFF2-40B4-BE49-F238E27FC236}">
                <a16:creationId xmlns:a16="http://schemas.microsoft.com/office/drawing/2014/main" id="{B9396B3F-9D21-E033-5B19-9F880DF4443C}"/>
              </a:ext>
            </a:extLst>
          </p:cNvPr>
          <p:cNvCxnSpPr>
            <a:cxnSpLocks/>
          </p:cNvCxnSpPr>
          <p:nvPr/>
        </p:nvCxnSpPr>
        <p:spPr>
          <a:xfrm flipV="1">
            <a:off x="3307976" y="1834460"/>
            <a:ext cx="192885" cy="218327"/>
          </a:xfrm>
          <a:prstGeom prst="straightConnector1">
            <a:avLst/>
          </a:prstGeom>
          <a:ln>
            <a:solidFill>
              <a:srgbClr val="00B0F0"/>
            </a:solidFill>
            <a:tailEnd type="triangle"/>
          </a:ln>
        </p:spPr>
        <p:style>
          <a:lnRef idx="2">
            <a:schemeClr val="accent2"/>
          </a:lnRef>
          <a:fillRef idx="0">
            <a:schemeClr val="accent2"/>
          </a:fillRef>
          <a:effectRef idx="1">
            <a:schemeClr val="accent2"/>
          </a:effectRef>
          <a:fontRef idx="minor">
            <a:schemeClr val="tx1"/>
          </a:fontRef>
        </p:style>
      </p:cxnSp>
      <p:cxnSp>
        <p:nvCxnSpPr>
          <p:cNvPr id="61" name="Straight Arrow Connector 60">
            <a:extLst>
              <a:ext uri="{FF2B5EF4-FFF2-40B4-BE49-F238E27FC236}">
                <a16:creationId xmlns:a16="http://schemas.microsoft.com/office/drawing/2014/main" id="{BFB93D96-9C92-319E-982D-C67406391B1D}"/>
              </a:ext>
            </a:extLst>
          </p:cNvPr>
          <p:cNvCxnSpPr>
            <a:cxnSpLocks/>
          </p:cNvCxnSpPr>
          <p:nvPr/>
        </p:nvCxnSpPr>
        <p:spPr>
          <a:xfrm flipV="1">
            <a:off x="3594421" y="1832709"/>
            <a:ext cx="505882" cy="284832"/>
          </a:xfrm>
          <a:prstGeom prst="straightConnector1">
            <a:avLst/>
          </a:prstGeom>
          <a:ln>
            <a:solidFill>
              <a:srgbClr val="00B0F0"/>
            </a:solidFill>
            <a:tailEnd type="triangle"/>
          </a:ln>
        </p:spPr>
        <p:style>
          <a:lnRef idx="2">
            <a:schemeClr val="accent2"/>
          </a:lnRef>
          <a:fillRef idx="0">
            <a:schemeClr val="accent2"/>
          </a:fillRef>
          <a:effectRef idx="1">
            <a:schemeClr val="accent2"/>
          </a:effectRef>
          <a:fontRef idx="minor">
            <a:schemeClr val="tx1"/>
          </a:fontRef>
        </p:style>
      </p:cxnSp>
      <p:cxnSp>
        <p:nvCxnSpPr>
          <p:cNvPr id="64" name="Straight Arrow Connector 63">
            <a:extLst>
              <a:ext uri="{FF2B5EF4-FFF2-40B4-BE49-F238E27FC236}">
                <a16:creationId xmlns:a16="http://schemas.microsoft.com/office/drawing/2014/main" id="{D944AC1C-B821-0AA3-52AC-24C2B2AAFA26}"/>
              </a:ext>
            </a:extLst>
          </p:cNvPr>
          <p:cNvCxnSpPr>
            <a:cxnSpLocks/>
          </p:cNvCxnSpPr>
          <p:nvPr/>
        </p:nvCxnSpPr>
        <p:spPr>
          <a:xfrm>
            <a:off x="2727203" y="2394540"/>
            <a:ext cx="11657" cy="606643"/>
          </a:xfrm>
          <a:prstGeom prst="straightConnector1">
            <a:avLst/>
          </a:prstGeom>
          <a:ln>
            <a:solidFill>
              <a:srgbClr val="00B0F0"/>
            </a:solidFill>
            <a:tailEnd type="triangle"/>
          </a:ln>
        </p:spPr>
        <p:style>
          <a:lnRef idx="2">
            <a:schemeClr val="accent2"/>
          </a:lnRef>
          <a:fillRef idx="0">
            <a:schemeClr val="accent2"/>
          </a:fillRef>
          <a:effectRef idx="1">
            <a:schemeClr val="accent2"/>
          </a:effectRef>
          <a:fontRef idx="minor">
            <a:schemeClr val="tx1"/>
          </a:fontRef>
        </p:style>
      </p:cxnSp>
      <p:cxnSp>
        <p:nvCxnSpPr>
          <p:cNvPr id="67" name="Straight Arrow Connector 66">
            <a:extLst>
              <a:ext uri="{FF2B5EF4-FFF2-40B4-BE49-F238E27FC236}">
                <a16:creationId xmlns:a16="http://schemas.microsoft.com/office/drawing/2014/main" id="{A15CA97D-4900-0929-39C7-2D3B58705378}"/>
              </a:ext>
            </a:extLst>
          </p:cNvPr>
          <p:cNvCxnSpPr>
            <a:cxnSpLocks/>
          </p:cNvCxnSpPr>
          <p:nvPr/>
        </p:nvCxnSpPr>
        <p:spPr>
          <a:xfrm>
            <a:off x="3154971" y="2423617"/>
            <a:ext cx="11657" cy="392259"/>
          </a:xfrm>
          <a:prstGeom prst="straightConnector1">
            <a:avLst/>
          </a:prstGeom>
          <a:ln>
            <a:solidFill>
              <a:srgbClr val="00B0F0"/>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780648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ACC390-5724-9345-0DC1-65A273AA4485}"/>
              </a:ext>
            </a:extLst>
          </p:cNvPr>
          <p:cNvSpPr/>
          <p:nvPr/>
        </p:nvSpPr>
        <p:spPr>
          <a:xfrm>
            <a:off x="981635" y="3072653"/>
            <a:ext cx="4000500" cy="95063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p:sp>
        <p:nvSpPr>
          <p:cNvPr id="15" name="Rectangle 14">
            <a:extLst>
              <a:ext uri="{FF2B5EF4-FFF2-40B4-BE49-F238E27FC236}">
                <a16:creationId xmlns:a16="http://schemas.microsoft.com/office/drawing/2014/main" id="{617FFC3C-8391-79A3-98B6-D38FFB9240FE}"/>
              </a:ext>
            </a:extLst>
          </p:cNvPr>
          <p:cNvSpPr/>
          <p:nvPr/>
        </p:nvSpPr>
        <p:spPr>
          <a:xfrm>
            <a:off x="923304" y="1557238"/>
            <a:ext cx="4327772" cy="95063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p:sp>
        <p:nvSpPr>
          <p:cNvPr id="3" name="Title 2">
            <a:extLst>
              <a:ext uri="{FF2B5EF4-FFF2-40B4-BE49-F238E27FC236}">
                <a16:creationId xmlns:a16="http://schemas.microsoft.com/office/drawing/2014/main" id="{0E3AE6F3-CB1A-2A54-0DFD-F282612B91D7}"/>
              </a:ext>
            </a:extLst>
          </p:cNvPr>
          <p:cNvSpPr>
            <a:spLocks noGrp="1"/>
          </p:cNvSpPr>
          <p:nvPr>
            <p:ph type="title"/>
          </p:nvPr>
        </p:nvSpPr>
        <p:spPr/>
        <p:txBody>
          <a:bodyPr/>
          <a:lstStyle/>
          <a:p>
            <a:r>
              <a:rPr lang="en-GB" dirty="0"/>
              <a:t>Modular MPC</a:t>
            </a:r>
            <a:endParaRPr lang="en-DE" dirty="0"/>
          </a:p>
        </p:txBody>
      </p:sp>
      <p:sp>
        <p:nvSpPr>
          <p:cNvPr id="4" name="TextBox 3">
            <a:extLst>
              <a:ext uri="{FF2B5EF4-FFF2-40B4-BE49-F238E27FC236}">
                <a16:creationId xmlns:a16="http://schemas.microsoft.com/office/drawing/2014/main" id="{2E2C5E13-195B-4B99-032E-B25F4CEB70EC}"/>
              </a:ext>
            </a:extLst>
          </p:cNvPr>
          <p:cNvSpPr txBox="1"/>
          <p:nvPr/>
        </p:nvSpPr>
        <p:spPr>
          <a:xfrm>
            <a:off x="558053" y="1062318"/>
            <a:ext cx="1744837" cy="369332"/>
          </a:xfrm>
          <a:prstGeom prst="rect">
            <a:avLst/>
          </a:prstGeom>
          <a:noFill/>
        </p:spPr>
        <p:txBody>
          <a:bodyPr wrap="none" rtlCol="0">
            <a:spAutoFit/>
          </a:bodyPr>
          <a:lstStyle/>
          <a:p>
            <a:r>
              <a:rPr lang="en-GB" u="sng" dirty="0"/>
              <a:t>State constraints</a:t>
            </a:r>
            <a:endParaRPr lang="en-DE" u="sng"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1C355DC-63AF-E945-EAE6-F94AFA39F945}"/>
                  </a:ext>
                </a:extLst>
              </p:cNvPr>
              <p:cNvSpPr txBox="1"/>
              <p:nvPr/>
            </p:nvSpPr>
            <p:spPr>
              <a:xfrm>
                <a:off x="1055595" y="1677401"/>
                <a:ext cx="4091953" cy="2152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DE" sz="1200" i="1" smtClean="0">
                              <a:latin typeface="Cambria Math" panose="02040503050406030204" pitchFamily="18" charset="0"/>
                            </a:rPr>
                          </m:ctrlPr>
                        </m:accPr>
                        <m:e>
                          <m:r>
                            <a:rPr lang="en-GB" sz="1200" b="0" i="1" smtClean="0">
                              <a:latin typeface="Cambria Math" panose="02040503050406030204" pitchFamily="18" charset="0"/>
                            </a:rPr>
                            <m:t>𝑥</m:t>
                          </m:r>
                        </m:e>
                      </m:acc>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m>
                            <m:mPr>
                              <m:mcs>
                                <m:mc>
                                  <m:mcPr>
                                    <m:count m:val="2"/>
                                    <m:mcJc m:val="center"/>
                                  </m:mcPr>
                                </m:mc>
                              </m:mcs>
                              <m:ctrlPr>
                                <a:rPr lang="en-GB" sz="1200" b="0" i="1" smtClean="0">
                                  <a:latin typeface="Cambria Math" panose="02040503050406030204" pitchFamily="18" charset="0"/>
                                </a:rPr>
                              </m:ctrlPr>
                            </m:mPr>
                            <m:mr>
                              <m:e>
                                <m:m>
                                  <m:mPr>
                                    <m:mcs>
                                      <m:mc>
                                        <m:mcPr>
                                          <m:count m:val="2"/>
                                          <m:mcJc m:val="center"/>
                                        </m:mcPr>
                                      </m:mc>
                                    </m:mcs>
                                    <m:ctrlPr>
                                      <a:rPr lang="en-GB" sz="1200" b="0" i="1" smtClean="0">
                                        <a:latin typeface="Cambria Math" panose="02040503050406030204" pitchFamily="18" charset="0"/>
                                      </a:rPr>
                                    </m:ctrlPr>
                                  </m:mPr>
                                  <m:mr>
                                    <m:e>
                                      <m:sSub>
                                        <m:sSubPr>
                                          <m:ctrlPr>
                                            <a:rPr lang="en-GB" sz="1200" i="1">
                                              <a:latin typeface="Cambria Math" panose="02040503050406030204" pitchFamily="18" charset="0"/>
                                            </a:rPr>
                                          </m:ctrlPr>
                                        </m:sSubPr>
                                        <m:e>
                                          <m:acc>
                                            <m:accPr>
                                              <m:chr m:val="̅"/>
                                              <m:ctrlPr>
                                                <a:rPr lang="en-GB" sz="1200" i="1">
                                                  <a:latin typeface="Cambria Math" panose="02040503050406030204" pitchFamily="18" charset="0"/>
                                                </a:rPr>
                                              </m:ctrlPr>
                                            </m:accPr>
                                            <m:e>
                                              <m:r>
                                                <a:rPr lang="en-GB" sz="1200" i="1">
                                                  <a:latin typeface="Cambria Math" panose="02040503050406030204" pitchFamily="18" charset="0"/>
                                                </a:rPr>
                                                <m:t>𝑥</m:t>
                                              </m:r>
                                            </m:e>
                                          </m:acc>
                                        </m:e>
                                        <m:sub>
                                          <m:r>
                                            <a:rPr lang="en-GB" sz="1200" i="1">
                                              <a:latin typeface="Cambria Math" panose="02040503050406030204" pitchFamily="18" charset="0"/>
                                            </a:rPr>
                                            <m:t>1</m:t>
                                          </m:r>
                                        </m:sub>
                                      </m:sSub>
                                    </m:e>
                                    <m:e>
                                      <m:sSub>
                                        <m:sSubPr>
                                          <m:ctrlPr>
                                            <a:rPr lang="en-GB" sz="1200" i="1">
                                              <a:latin typeface="Cambria Math" panose="02040503050406030204" pitchFamily="18" charset="0"/>
                                            </a:rPr>
                                          </m:ctrlPr>
                                        </m:sSubPr>
                                        <m:e>
                                          <m:acc>
                                            <m:accPr>
                                              <m:chr m:val="̅"/>
                                              <m:ctrlPr>
                                                <a:rPr lang="en-GB" sz="1200" i="1">
                                                  <a:latin typeface="Cambria Math" panose="02040503050406030204" pitchFamily="18" charset="0"/>
                                                </a:rPr>
                                              </m:ctrlPr>
                                            </m:accPr>
                                            <m:e>
                                              <m:r>
                                                <a:rPr lang="en-GB" sz="1200" i="1">
                                                  <a:latin typeface="Cambria Math" panose="02040503050406030204" pitchFamily="18" charset="0"/>
                                                </a:rPr>
                                                <m:t>𝑥</m:t>
                                              </m:r>
                                            </m:e>
                                          </m:acc>
                                        </m:e>
                                        <m:sub>
                                          <m:r>
                                            <a:rPr lang="en-GB" sz="1200" i="1">
                                              <a:latin typeface="Cambria Math" panose="02040503050406030204" pitchFamily="18" charset="0"/>
                                            </a:rPr>
                                            <m:t>2</m:t>
                                          </m:r>
                                        </m:sub>
                                      </m:sSub>
                                    </m:e>
                                  </m:mr>
                                </m:m>
                              </m:e>
                              <m:e>
                                <m:m>
                                  <m:mPr>
                                    <m:mcs>
                                      <m:mc>
                                        <m:mcPr>
                                          <m:count m:val="2"/>
                                          <m:mcJc m:val="center"/>
                                        </m:mcPr>
                                      </m:mc>
                                    </m:mcs>
                                    <m:ctrlPr>
                                      <a:rPr lang="en-GB" sz="1200" b="0" i="1" smtClean="0">
                                        <a:latin typeface="Cambria Math" panose="02040503050406030204" pitchFamily="18" charset="0"/>
                                      </a:rPr>
                                    </m:ctrlPr>
                                  </m:mPr>
                                  <m:mr>
                                    <m:e>
                                      <m:r>
                                        <m:rPr>
                                          <m:brk m:alnAt="7"/>
                                        </m:rPr>
                                        <a:rPr lang="en-GB" sz="1200" b="0" i="1" smtClean="0">
                                          <a:latin typeface="Cambria Math" panose="02040503050406030204" pitchFamily="18" charset="0"/>
                                        </a:rPr>
                                        <m:t>⋯</m:t>
                                      </m:r>
                                    </m:e>
                                    <m:e>
                                      <m:sSub>
                                        <m:sSubPr>
                                          <m:ctrlPr>
                                            <a:rPr lang="en-GB" sz="1200" i="1">
                                              <a:latin typeface="Cambria Math" panose="02040503050406030204" pitchFamily="18" charset="0"/>
                                            </a:rPr>
                                          </m:ctrlPr>
                                        </m:sSubPr>
                                        <m:e>
                                          <m:acc>
                                            <m:accPr>
                                              <m:chr m:val="̅"/>
                                              <m:ctrlPr>
                                                <a:rPr lang="en-GB" sz="1200" i="1">
                                                  <a:latin typeface="Cambria Math" panose="02040503050406030204" pitchFamily="18" charset="0"/>
                                                </a:rPr>
                                              </m:ctrlPr>
                                            </m:accPr>
                                            <m:e>
                                              <m:r>
                                                <a:rPr lang="en-GB" sz="1200" i="1">
                                                  <a:latin typeface="Cambria Math" panose="02040503050406030204" pitchFamily="18" charset="0"/>
                                                </a:rPr>
                                                <m:t>𝑥</m:t>
                                              </m:r>
                                            </m:e>
                                          </m:acc>
                                        </m:e>
                                        <m:sub>
                                          <m:r>
                                            <a:rPr lang="en-GB" sz="1200" b="0" i="1" smtClean="0">
                                              <a:latin typeface="Cambria Math" panose="02040503050406030204" pitchFamily="18" charset="0"/>
                                            </a:rPr>
                                            <m:t>𝑝</m:t>
                                          </m:r>
                                        </m:sub>
                                      </m:sSub>
                                    </m:e>
                                  </m:mr>
                                </m:m>
                              </m:e>
                            </m:mr>
                          </m:m>
                        </m:e>
                      </m:d>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𝑆𝑂𝐶</m:t>
                                  </m:r>
                                </m:e>
                              </m:acc>
                            </m:e>
                            <m:sub>
                              <m:r>
                                <a:rPr lang="en-GB" sz="1200" b="0" i="1" smtClean="0">
                                  <a:latin typeface="Cambria Math" panose="02040503050406030204" pitchFamily="18" charset="0"/>
                                </a:rPr>
                                <m:t>𝑏𝑎𝑡</m:t>
                              </m:r>
                              <m:r>
                                <a:rPr lang="en-GB" sz="1200" b="0" i="1" smtClean="0">
                                  <a:latin typeface="Cambria Math" panose="02040503050406030204" pitchFamily="18" charset="0"/>
                                </a:rPr>
                                <m:t>,</m:t>
                              </m:r>
                              <m:r>
                                <a:rPr lang="en-GB" sz="1200" b="0" i="1" smtClean="0">
                                  <a:highlight>
                                    <a:srgbClr val="00FF00"/>
                                  </a:highlight>
                                  <a:latin typeface="Cambria Math" panose="02040503050406030204" pitchFamily="18" charset="0"/>
                                </a:rPr>
                                <m:t>𝑝</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sub>
                          </m:sSub>
                        </m:e>
                      </m:d>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𝑆𝑂𝐶</m:t>
                                  </m:r>
                                </m:e>
                              </m:acc>
                            </m:e>
                            <m:sub>
                              <m:r>
                                <a:rPr lang="en-GB" sz="1200" b="0" i="1" smtClean="0">
                                  <a:latin typeface="Cambria Math" panose="02040503050406030204" pitchFamily="18" charset="0"/>
                                </a:rPr>
                                <m:t>𝑒𝑣</m:t>
                              </m:r>
                              <m:r>
                                <a:rPr lang="en-GB" sz="1200" b="0" i="1" smtClean="0">
                                  <a:latin typeface="Cambria Math" panose="02040503050406030204" pitchFamily="18" charset="0"/>
                                </a:rPr>
                                <m:t>,</m:t>
                              </m:r>
                              <m:r>
                                <a:rPr lang="en-GB" sz="1200" b="0" i="1" smtClean="0">
                                  <a:highlight>
                                    <a:srgbClr val="00FF00"/>
                                  </a:highlight>
                                  <a:latin typeface="Cambria Math" panose="02040503050406030204" pitchFamily="18" charset="0"/>
                                </a:rPr>
                                <m:t>𝑝</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𝑒𝑣</m:t>
                                  </m:r>
                                </m:sub>
                              </m:sSub>
                            </m:sub>
                          </m:sSub>
                        </m:e>
                      </m:d>
                    </m:oMath>
                  </m:oMathPara>
                </a14:m>
                <a:endParaRPr lang="en-DE" sz="1200" dirty="0"/>
              </a:p>
            </p:txBody>
          </p:sp>
        </mc:Choice>
        <mc:Fallback xmlns="">
          <p:sp>
            <p:nvSpPr>
              <p:cNvPr id="5" name="TextBox 4">
                <a:extLst>
                  <a:ext uri="{FF2B5EF4-FFF2-40B4-BE49-F238E27FC236}">
                    <a16:creationId xmlns:a16="http://schemas.microsoft.com/office/drawing/2014/main" id="{D1C355DC-63AF-E945-EAE6-F94AFA39F945}"/>
                  </a:ext>
                </a:extLst>
              </p:cNvPr>
              <p:cNvSpPr txBox="1">
                <a:spLocks noRot="1" noChangeAspect="1" noMove="1" noResize="1" noEditPoints="1" noAdjustHandles="1" noChangeArrowheads="1" noChangeShapeType="1" noTextEdit="1"/>
              </p:cNvSpPr>
              <p:nvPr/>
            </p:nvSpPr>
            <p:spPr>
              <a:xfrm>
                <a:off x="1055595" y="1677401"/>
                <a:ext cx="4091953" cy="215252"/>
              </a:xfrm>
              <a:prstGeom prst="rect">
                <a:avLst/>
              </a:prstGeom>
              <a:blipFill>
                <a:blip r:embed="rId2"/>
                <a:stretch>
                  <a:fillRect b="-1714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19A64F-E36F-4A6D-7AE5-45CFF2E0BB28}"/>
                  </a:ext>
                </a:extLst>
              </p:cNvPr>
              <p:cNvSpPr txBox="1"/>
              <p:nvPr/>
            </p:nvSpPr>
            <p:spPr>
              <a:xfrm>
                <a:off x="1055594" y="2121248"/>
                <a:ext cx="4091953" cy="2152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bar>
                        <m:barPr>
                          <m:ctrlPr>
                            <a:rPr lang="en-DE" sz="1200" i="1" smtClean="0">
                              <a:latin typeface="Cambria Math" panose="02040503050406030204" pitchFamily="18" charset="0"/>
                            </a:rPr>
                          </m:ctrlPr>
                        </m:barPr>
                        <m:e>
                          <m:r>
                            <a:rPr lang="en-GB" sz="1200" b="0" i="1" smtClean="0">
                              <a:latin typeface="Cambria Math" panose="02040503050406030204" pitchFamily="18" charset="0"/>
                            </a:rPr>
                            <m:t>𝑥</m:t>
                          </m:r>
                        </m:e>
                      </m:bar>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m>
                            <m:mPr>
                              <m:mcs>
                                <m:mc>
                                  <m:mcPr>
                                    <m:count m:val="2"/>
                                    <m:mcJc m:val="center"/>
                                  </m:mcPr>
                                </m:mc>
                              </m:mcs>
                              <m:ctrlPr>
                                <a:rPr lang="en-GB" sz="1200" b="0" i="1" smtClean="0">
                                  <a:latin typeface="Cambria Math" panose="02040503050406030204" pitchFamily="18" charset="0"/>
                                </a:rPr>
                              </m:ctrlPr>
                            </m:mPr>
                            <m:mr>
                              <m:e>
                                <m:m>
                                  <m:mPr>
                                    <m:mcs>
                                      <m:mc>
                                        <m:mcPr>
                                          <m:count m:val="2"/>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bar>
                                            <m:barPr>
                                              <m:ctrlPr>
                                                <a:rPr lang="en-GB" sz="1200" b="0" i="1" smtClean="0">
                                                  <a:latin typeface="Cambria Math" panose="02040503050406030204" pitchFamily="18" charset="0"/>
                                                </a:rPr>
                                              </m:ctrlPr>
                                            </m:barPr>
                                            <m:e>
                                              <m:r>
                                                <a:rPr lang="en-GB" sz="1200" b="0" i="1" smtClean="0">
                                                  <a:latin typeface="Cambria Math" panose="02040503050406030204" pitchFamily="18" charset="0"/>
                                                </a:rPr>
                                                <m:t>𝑥</m:t>
                                              </m:r>
                                            </m:e>
                                          </m:bar>
                                        </m:e>
                                        <m:sub>
                                          <m:r>
                                            <a:rPr lang="en-GB" sz="1200" b="0" i="1" smtClean="0">
                                              <a:latin typeface="Cambria Math" panose="02040503050406030204" pitchFamily="18" charset="0"/>
                                            </a:rPr>
                                            <m:t>1</m:t>
                                          </m:r>
                                        </m:sub>
                                      </m:sSub>
                                    </m:e>
                                    <m:e>
                                      <m:sSub>
                                        <m:sSubPr>
                                          <m:ctrlPr>
                                            <a:rPr lang="en-GB" sz="1200" b="0" i="1" smtClean="0">
                                              <a:latin typeface="Cambria Math" panose="02040503050406030204" pitchFamily="18" charset="0"/>
                                            </a:rPr>
                                          </m:ctrlPr>
                                        </m:sSubPr>
                                        <m:e>
                                          <m:bar>
                                            <m:barPr>
                                              <m:ctrlPr>
                                                <a:rPr lang="en-GB" sz="1200" b="0" i="1" smtClean="0">
                                                  <a:latin typeface="Cambria Math" panose="02040503050406030204" pitchFamily="18" charset="0"/>
                                                </a:rPr>
                                              </m:ctrlPr>
                                            </m:barPr>
                                            <m:e>
                                              <m:r>
                                                <a:rPr lang="en-GB" sz="1200" b="0" i="1" smtClean="0">
                                                  <a:latin typeface="Cambria Math" panose="02040503050406030204" pitchFamily="18" charset="0"/>
                                                </a:rPr>
                                                <m:t>𝑥</m:t>
                                              </m:r>
                                            </m:e>
                                          </m:bar>
                                        </m:e>
                                        <m:sub>
                                          <m:r>
                                            <a:rPr lang="en-GB" sz="1200" b="0" i="1" smtClean="0">
                                              <a:latin typeface="Cambria Math" panose="02040503050406030204" pitchFamily="18" charset="0"/>
                                            </a:rPr>
                                            <m:t>2</m:t>
                                          </m:r>
                                        </m:sub>
                                      </m:sSub>
                                    </m:e>
                                  </m:mr>
                                </m:m>
                              </m:e>
                              <m:e>
                                <m:m>
                                  <m:mPr>
                                    <m:mcs>
                                      <m:mc>
                                        <m:mcPr>
                                          <m:count m:val="2"/>
                                          <m:mcJc m:val="center"/>
                                        </m:mcPr>
                                      </m:mc>
                                    </m:mcs>
                                    <m:ctrlPr>
                                      <a:rPr lang="en-GB" sz="1200" b="0" i="1" smtClean="0">
                                        <a:latin typeface="Cambria Math" panose="02040503050406030204" pitchFamily="18" charset="0"/>
                                      </a:rPr>
                                    </m:ctrlPr>
                                  </m:mPr>
                                  <m:mr>
                                    <m:e>
                                      <m:r>
                                        <m:rPr>
                                          <m:brk m:alnAt="7"/>
                                        </m:rPr>
                                        <a:rPr lang="en-GB" sz="1200" b="0" i="1" smtClean="0">
                                          <a:latin typeface="Cambria Math" panose="02040503050406030204" pitchFamily="18" charset="0"/>
                                        </a:rPr>
                                        <m:t>⋯</m:t>
                                      </m:r>
                                    </m:e>
                                    <m:e>
                                      <m:sSub>
                                        <m:sSubPr>
                                          <m:ctrlPr>
                                            <a:rPr lang="en-GB" sz="1200" b="0" i="1" smtClean="0">
                                              <a:latin typeface="Cambria Math" panose="02040503050406030204" pitchFamily="18" charset="0"/>
                                            </a:rPr>
                                          </m:ctrlPr>
                                        </m:sSubPr>
                                        <m:e>
                                          <m:bar>
                                            <m:barPr>
                                              <m:ctrlPr>
                                                <a:rPr lang="en-GB" sz="1200" b="0" i="1" smtClean="0">
                                                  <a:latin typeface="Cambria Math" panose="02040503050406030204" pitchFamily="18" charset="0"/>
                                                </a:rPr>
                                              </m:ctrlPr>
                                            </m:barPr>
                                            <m:e>
                                              <m:r>
                                                <a:rPr lang="en-GB" sz="1200" b="0" i="1" smtClean="0">
                                                  <a:latin typeface="Cambria Math" panose="02040503050406030204" pitchFamily="18" charset="0"/>
                                                </a:rPr>
                                                <m:t>𝑥</m:t>
                                              </m:r>
                                            </m:e>
                                          </m:bar>
                                        </m:e>
                                        <m:sub>
                                          <m:r>
                                            <a:rPr lang="en-GB" sz="1200" b="0" i="1" smtClean="0">
                                              <a:latin typeface="Cambria Math" panose="02040503050406030204" pitchFamily="18" charset="0"/>
                                            </a:rPr>
                                            <m:t>𝑝</m:t>
                                          </m:r>
                                        </m:sub>
                                      </m:sSub>
                                    </m:e>
                                  </m:mr>
                                </m:m>
                              </m:e>
                            </m:mr>
                          </m:m>
                        </m:e>
                      </m:d>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bar>
                                <m:barPr>
                                  <m:ctrlPr>
                                    <a:rPr lang="en-GB" sz="1200" b="0" i="1" smtClean="0">
                                      <a:latin typeface="Cambria Math" panose="02040503050406030204" pitchFamily="18" charset="0"/>
                                    </a:rPr>
                                  </m:ctrlPr>
                                </m:barPr>
                                <m:e>
                                  <m:r>
                                    <a:rPr lang="en-GB" sz="1200" b="0" i="1" smtClean="0">
                                      <a:latin typeface="Cambria Math" panose="02040503050406030204" pitchFamily="18" charset="0"/>
                                    </a:rPr>
                                    <m:t>𝑆𝑂𝐶</m:t>
                                  </m:r>
                                </m:e>
                              </m:bar>
                            </m:e>
                            <m:sub>
                              <m:r>
                                <a:rPr lang="en-GB" sz="1200" b="0" i="1" smtClean="0">
                                  <a:latin typeface="Cambria Math" panose="02040503050406030204" pitchFamily="18" charset="0"/>
                                </a:rPr>
                                <m:t>𝑏𝑎𝑡</m:t>
                              </m:r>
                              <m:r>
                                <a:rPr lang="en-GB" sz="1200" b="0" i="1" smtClean="0">
                                  <a:latin typeface="Cambria Math" panose="02040503050406030204" pitchFamily="18" charset="0"/>
                                </a:rPr>
                                <m:t>,</m:t>
                              </m:r>
                              <m:r>
                                <a:rPr lang="en-GB" sz="1200" b="0" i="1" smtClean="0">
                                  <a:highlight>
                                    <a:srgbClr val="00FF00"/>
                                  </a:highlight>
                                  <a:latin typeface="Cambria Math" panose="02040503050406030204" pitchFamily="18" charset="0"/>
                                </a:rPr>
                                <m:t>𝑝</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sub>
                          </m:sSub>
                        </m:e>
                      </m:d>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bar>
                                <m:barPr>
                                  <m:ctrlPr>
                                    <a:rPr lang="en-GB" sz="1200" b="0" i="1" smtClean="0">
                                      <a:latin typeface="Cambria Math" panose="02040503050406030204" pitchFamily="18" charset="0"/>
                                    </a:rPr>
                                  </m:ctrlPr>
                                </m:barPr>
                                <m:e>
                                  <m:r>
                                    <a:rPr lang="en-GB" sz="1200" b="0" i="1" smtClean="0">
                                      <a:latin typeface="Cambria Math" panose="02040503050406030204" pitchFamily="18" charset="0"/>
                                    </a:rPr>
                                    <m:t>𝑆𝑂𝐶</m:t>
                                  </m:r>
                                </m:e>
                              </m:bar>
                            </m:e>
                            <m:sub>
                              <m:r>
                                <a:rPr lang="en-GB" sz="1200" b="0" i="1" smtClean="0">
                                  <a:latin typeface="Cambria Math" panose="02040503050406030204" pitchFamily="18" charset="0"/>
                                </a:rPr>
                                <m:t>𝑒𝑣</m:t>
                              </m:r>
                              <m:r>
                                <a:rPr lang="en-GB" sz="1200" b="0" i="1" smtClean="0">
                                  <a:latin typeface="Cambria Math" panose="02040503050406030204" pitchFamily="18" charset="0"/>
                                </a:rPr>
                                <m:t>,</m:t>
                              </m:r>
                              <m:r>
                                <a:rPr lang="en-GB" sz="1200" b="0" i="1" smtClean="0">
                                  <a:highlight>
                                    <a:srgbClr val="00FF00"/>
                                  </a:highlight>
                                  <a:latin typeface="Cambria Math" panose="02040503050406030204" pitchFamily="18" charset="0"/>
                                </a:rPr>
                                <m:t>𝑝</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𝑒𝑣</m:t>
                                  </m:r>
                                </m:sub>
                              </m:sSub>
                            </m:sub>
                          </m:sSub>
                        </m:e>
                      </m:d>
                    </m:oMath>
                  </m:oMathPara>
                </a14:m>
                <a:endParaRPr lang="en-DE" sz="1200" dirty="0"/>
              </a:p>
            </p:txBody>
          </p:sp>
        </mc:Choice>
        <mc:Fallback xmlns="">
          <p:sp>
            <p:nvSpPr>
              <p:cNvPr id="7" name="TextBox 6">
                <a:extLst>
                  <a:ext uri="{FF2B5EF4-FFF2-40B4-BE49-F238E27FC236}">
                    <a16:creationId xmlns:a16="http://schemas.microsoft.com/office/drawing/2014/main" id="{1C19A64F-E36F-4A6D-7AE5-45CFF2E0BB28}"/>
                  </a:ext>
                </a:extLst>
              </p:cNvPr>
              <p:cNvSpPr txBox="1">
                <a:spLocks noRot="1" noChangeAspect="1" noMove="1" noResize="1" noEditPoints="1" noAdjustHandles="1" noChangeArrowheads="1" noChangeShapeType="1" noTextEdit="1"/>
              </p:cNvSpPr>
              <p:nvPr/>
            </p:nvSpPr>
            <p:spPr>
              <a:xfrm>
                <a:off x="1055594" y="2121248"/>
                <a:ext cx="4091953" cy="215252"/>
              </a:xfrm>
              <a:prstGeom prst="rect">
                <a:avLst/>
              </a:prstGeom>
              <a:blipFill>
                <a:blip r:embed="rId3"/>
                <a:stretch>
                  <a:fillRect b="-17143"/>
                </a:stretch>
              </a:blipFill>
            </p:spPr>
            <p:txBody>
              <a:bodyPr/>
              <a:lstStyle/>
              <a:p>
                <a:r>
                  <a:rPr lang="en-DE">
                    <a:noFill/>
                  </a:rPr>
                  <a:t> </a:t>
                </a:r>
              </a:p>
            </p:txBody>
          </p:sp>
        </mc:Fallback>
      </mc:AlternateContent>
      <p:sp>
        <p:nvSpPr>
          <p:cNvPr id="8" name="TextBox 7">
            <a:extLst>
              <a:ext uri="{FF2B5EF4-FFF2-40B4-BE49-F238E27FC236}">
                <a16:creationId xmlns:a16="http://schemas.microsoft.com/office/drawing/2014/main" id="{A7B30B6A-7849-EE82-9C97-376BF2219D08}"/>
              </a:ext>
            </a:extLst>
          </p:cNvPr>
          <p:cNvSpPr txBox="1"/>
          <p:nvPr/>
        </p:nvSpPr>
        <p:spPr>
          <a:xfrm>
            <a:off x="558053" y="2565095"/>
            <a:ext cx="1766702" cy="369332"/>
          </a:xfrm>
          <a:prstGeom prst="rect">
            <a:avLst/>
          </a:prstGeom>
          <a:noFill/>
        </p:spPr>
        <p:txBody>
          <a:bodyPr wrap="none" rtlCol="0">
            <a:spAutoFit/>
          </a:bodyPr>
          <a:lstStyle/>
          <a:p>
            <a:r>
              <a:rPr lang="en-GB" u="sng" dirty="0"/>
              <a:t>Input constraints</a:t>
            </a:r>
            <a:endParaRPr lang="en-DE" u="sng"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6131FA0-7A70-05F8-80E2-4FFEB392040C}"/>
                  </a:ext>
                </a:extLst>
              </p:cNvPr>
              <p:cNvSpPr txBox="1"/>
              <p:nvPr/>
            </p:nvSpPr>
            <p:spPr>
              <a:xfrm>
                <a:off x="1055594" y="3150769"/>
                <a:ext cx="3753976" cy="2226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DE" sz="1200" i="1" smtClean="0">
                              <a:latin typeface="Cambria Math" panose="02040503050406030204" pitchFamily="18" charset="0"/>
                            </a:rPr>
                          </m:ctrlPr>
                        </m:accPr>
                        <m:e>
                          <m:r>
                            <a:rPr lang="en-GB" sz="1200" b="0" i="1" smtClean="0">
                              <a:latin typeface="Cambria Math" panose="02040503050406030204" pitchFamily="18" charset="0"/>
                            </a:rPr>
                            <m:t>𝑢</m:t>
                          </m:r>
                        </m:e>
                      </m:acc>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m>
                            <m:mPr>
                              <m:mcs>
                                <m:mc>
                                  <m:mcPr>
                                    <m:count m:val="2"/>
                                    <m:mcJc m:val="center"/>
                                  </m:mcPr>
                                </m:mc>
                              </m:mcs>
                              <m:ctrlPr>
                                <a:rPr lang="en-GB" sz="1200" b="0" i="1" smtClean="0">
                                  <a:latin typeface="Cambria Math" panose="02040503050406030204" pitchFamily="18" charset="0"/>
                                </a:rPr>
                              </m:ctrlPr>
                            </m:mPr>
                            <m:mr>
                              <m:e>
                                <m:m>
                                  <m:mPr>
                                    <m:mcs>
                                      <m:mc>
                                        <m:mcPr>
                                          <m:count m:val="2"/>
                                          <m:mcJc m:val="center"/>
                                        </m:mcPr>
                                      </m:mc>
                                    </m:mcs>
                                    <m:ctrlPr>
                                      <a:rPr lang="en-GB" sz="1200" b="0" i="1" smtClean="0">
                                        <a:latin typeface="Cambria Math" panose="02040503050406030204" pitchFamily="18" charset="0"/>
                                      </a:rPr>
                                    </m:ctrlPr>
                                  </m:mPr>
                                  <m:mr>
                                    <m:e>
                                      <m:sSub>
                                        <m:sSubPr>
                                          <m:ctrlPr>
                                            <a:rPr lang="en-GB" sz="1200" i="1" smtClean="0">
                                              <a:latin typeface="Cambria Math" panose="02040503050406030204" pitchFamily="18" charset="0"/>
                                            </a:rPr>
                                          </m:ctrlPr>
                                        </m:sSubPr>
                                        <m:e>
                                          <m:acc>
                                            <m:accPr>
                                              <m:chr m:val="̅"/>
                                              <m:ctrlPr>
                                                <a:rPr lang="en-GB" sz="1200" i="1">
                                                  <a:latin typeface="Cambria Math" panose="02040503050406030204" pitchFamily="18" charset="0"/>
                                                </a:rPr>
                                              </m:ctrlPr>
                                            </m:accPr>
                                            <m:e>
                                              <m:r>
                                                <a:rPr lang="en-GB" sz="1200" b="0" i="1" smtClean="0">
                                                  <a:latin typeface="Cambria Math" panose="02040503050406030204" pitchFamily="18" charset="0"/>
                                                </a:rPr>
                                                <m:t>𝑢</m:t>
                                              </m:r>
                                            </m:e>
                                          </m:acc>
                                        </m:e>
                                        <m:sub>
                                          <m:r>
                                            <a:rPr lang="en-GB" sz="1200" i="1">
                                              <a:latin typeface="Cambria Math" panose="02040503050406030204" pitchFamily="18" charset="0"/>
                                            </a:rPr>
                                            <m:t>1</m:t>
                                          </m:r>
                                        </m:sub>
                                      </m:sSub>
                                    </m:e>
                                    <m:e>
                                      <m:sSub>
                                        <m:sSubPr>
                                          <m:ctrlPr>
                                            <a:rPr lang="en-GB" sz="1200" i="1">
                                              <a:latin typeface="Cambria Math" panose="02040503050406030204" pitchFamily="18" charset="0"/>
                                            </a:rPr>
                                          </m:ctrlPr>
                                        </m:sSubPr>
                                        <m:e>
                                          <m:acc>
                                            <m:accPr>
                                              <m:chr m:val="̅"/>
                                              <m:ctrlPr>
                                                <a:rPr lang="en-GB" sz="1200" i="1">
                                                  <a:latin typeface="Cambria Math" panose="02040503050406030204" pitchFamily="18" charset="0"/>
                                                </a:rPr>
                                              </m:ctrlPr>
                                            </m:accPr>
                                            <m:e>
                                              <m:r>
                                                <a:rPr lang="en-GB" sz="1200" b="0" i="1" smtClean="0">
                                                  <a:latin typeface="Cambria Math" panose="02040503050406030204" pitchFamily="18" charset="0"/>
                                                </a:rPr>
                                                <m:t>𝑢</m:t>
                                              </m:r>
                                            </m:e>
                                          </m:acc>
                                        </m:e>
                                        <m:sub>
                                          <m:r>
                                            <a:rPr lang="en-GB" sz="1200" i="1">
                                              <a:latin typeface="Cambria Math" panose="02040503050406030204" pitchFamily="18" charset="0"/>
                                            </a:rPr>
                                            <m:t>2</m:t>
                                          </m:r>
                                        </m:sub>
                                      </m:sSub>
                                    </m:e>
                                  </m:mr>
                                </m:m>
                              </m:e>
                              <m:e>
                                <m:m>
                                  <m:mPr>
                                    <m:mcs>
                                      <m:mc>
                                        <m:mcPr>
                                          <m:count m:val="2"/>
                                          <m:mcJc m:val="center"/>
                                        </m:mcPr>
                                      </m:mc>
                                    </m:mcs>
                                    <m:ctrlPr>
                                      <a:rPr lang="en-GB" sz="1200" b="0" i="1" smtClean="0">
                                        <a:latin typeface="Cambria Math" panose="02040503050406030204" pitchFamily="18" charset="0"/>
                                      </a:rPr>
                                    </m:ctrlPr>
                                  </m:mPr>
                                  <m:mr>
                                    <m:e>
                                      <m:r>
                                        <m:rPr>
                                          <m:brk m:alnAt="7"/>
                                        </m:rPr>
                                        <a:rPr lang="en-GB" sz="1200" b="0" i="1" smtClean="0">
                                          <a:latin typeface="Cambria Math" panose="02040503050406030204" pitchFamily="18" charset="0"/>
                                        </a:rPr>
                                        <m:t>⋯</m:t>
                                      </m:r>
                                    </m:e>
                                    <m:e>
                                      <m:sSub>
                                        <m:sSubPr>
                                          <m:ctrlPr>
                                            <a:rPr lang="en-GB" sz="1200" i="1">
                                              <a:latin typeface="Cambria Math" panose="02040503050406030204" pitchFamily="18" charset="0"/>
                                            </a:rPr>
                                          </m:ctrlPr>
                                        </m:sSubPr>
                                        <m:e>
                                          <m:acc>
                                            <m:accPr>
                                              <m:chr m:val="̅"/>
                                              <m:ctrlPr>
                                                <a:rPr lang="en-GB" sz="1200" i="1">
                                                  <a:latin typeface="Cambria Math" panose="02040503050406030204" pitchFamily="18" charset="0"/>
                                                </a:rPr>
                                              </m:ctrlPr>
                                            </m:accPr>
                                            <m:e>
                                              <m:r>
                                                <a:rPr lang="en-GB" sz="1200" b="0" i="1" smtClean="0">
                                                  <a:latin typeface="Cambria Math" panose="02040503050406030204" pitchFamily="18" charset="0"/>
                                                </a:rPr>
                                                <m:t>𝑢</m:t>
                                              </m:r>
                                            </m:e>
                                          </m:acc>
                                        </m:e>
                                        <m:sub>
                                          <m:r>
                                            <a:rPr lang="en-GB" sz="1200" b="0" i="1" smtClean="0">
                                              <a:latin typeface="Cambria Math" panose="02040503050406030204" pitchFamily="18" charset="0"/>
                                            </a:rPr>
                                            <m:t>𝑞</m:t>
                                          </m:r>
                                        </m:sub>
                                      </m:sSub>
                                    </m:e>
                                  </m:mr>
                                </m:m>
                              </m:e>
                            </m:mr>
                          </m:m>
                        </m:e>
                      </m:d>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𝑃</m:t>
                                  </m:r>
                                </m:e>
                              </m:acc>
                            </m:e>
                            <m:sub>
                              <m:r>
                                <a:rPr lang="en-GB" sz="1200" b="0" i="1" smtClean="0">
                                  <a:latin typeface="Cambria Math" panose="02040503050406030204" pitchFamily="18" charset="0"/>
                                </a:rPr>
                                <m:t>𝑏𝑎𝑡</m:t>
                              </m:r>
                              <m:r>
                                <a:rPr lang="en-GB" sz="1200" b="0" i="1" smtClean="0">
                                  <a:latin typeface="Cambria Math" panose="02040503050406030204" pitchFamily="18" charset="0"/>
                                </a:rPr>
                                <m:t>,</m:t>
                              </m:r>
                              <m:r>
                                <a:rPr lang="en-GB" sz="1200" b="0" i="1" smtClean="0">
                                  <a:highlight>
                                    <a:srgbClr val="00FFFF"/>
                                  </a:highlight>
                                  <a:latin typeface="Cambria Math" panose="02040503050406030204" pitchFamily="18" charset="0"/>
                                </a:rPr>
                                <m:t>𝑞</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sub>
                          </m:sSub>
                        </m:e>
                      </m:d>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𝑃</m:t>
                                  </m:r>
                                </m:e>
                              </m:acc>
                            </m:e>
                            <m:sub>
                              <m:r>
                                <a:rPr lang="en-GB" sz="1200" b="0" i="1" smtClean="0">
                                  <a:latin typeface="Cambria Math" panose="02040503050406030204" pitchFamily="18" charset="0"/>
                                </a:rPr>
                                <m:t>𝑒𝑣</m:t>
                              </m:r>
                              <m:r>
                                <a:rPr lang="en-GB" sz="1200" b="0" i="1" smtClean="0">
                                  <a:latin typeface="Cambria Math" panose="02040503050406030204" pitchFamily="18" charset="0"/>
                                </a:rPr>
                                <m:t>,</m:t>
                              </m:r>
                              <m:r>
                                <a:rPr lang="en-GB" sz="1200" b="0" i="1" smtClean="0">
                                  <a:highlight>
                                    <a:srgbClr val="00FFFF"/>
                                  </a:highlight>
                                  <a:latin typeface="Cambria Math" panose="02040503050406030204" pitchFamily="18" charset="0"/>
                                </a:rPr>
                                <m:t>𝑞</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𝑒𝑣</m:t>
                                  </m:r>
                                </m:sub>
                              </m:sSub>
                            </m:sub>
                          </m:sSub>
                        </m:e>
                      </m:d>
                    </m:oMath>
                  </m:oMathPara>
                </a14:m>
                <a:endParaRPr lang="en-DE" sz="1200" dirty="0"/>
              </a:p>
            </p:txBody>
          </p:sp>
        </mc:Choice>
        <mc:Fallback xmlns="">
          <p:sp>
            <p:nvSpPr>
              <p:cNvPr id="9" name="TextBox 8">
                <a:extLst>
                  <a:ext uri="{FF2B5EF4-FFF2-40B4-BE49-F238E27FC236}">
                    <a16:creationId xmlns:a16="http://schemas.microsoft.com/office/drawing/2014/main" id="{16131FA0-7A70-05F8-80E2-4FFEB392040C}"/>
                  </a:ext>
                </a:extLst>
              </p:cNvPr>
              <p:cNvSpPr txBox="1">
                <a:spLocks noRot="1" noChangeAspect="1" noMove="1" noResize="1" noEditPoints="1" noAdjustHandles="1" noChangeArrowheads="1" noChangeShapeType="1" noTextEdit="1"/>
              </p:cNvSpPr>
              <p:nvPr/>
            </p:nvSpPr>
            <p:spPr>
              <a:xfrm>
                <a:off x="1055594" y="3150769"/>
                <a:ext cx="3753976" cy="222625"/>
              </a:xfrm>
              <a:prstGeom prst="rect">
                <a:avLst/>
              </a:prstGeom>
              <a:blipFill>
                <a:blip r:embed="rId4"/>
                <a:stretch>
                  <a:fillRect b="-13889"/>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F93B6E7-237E-DC91-E2A2-FB0A5B4B8D5E}"/>
                  </a:ext>
                </a:extLst>
              </p:cNvPr>
              <p:cNvSpPr txBox="1"/>
              <p:nvPr/>
            </p:nvSpPr>
            <p:spPr>
              <a:xfrm>
                <a:off x="1086307" y="3612335"/>
                <a:ext cx="3736792" cy="2152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bar>
                        <m:barPr>
                          <m:ctrlPr>
                            <a:rPr lang="en-DE" sz="1200" i="1" smtClean="0">
                              <a:latin typeface="Cambria Math" panose="02040503050406030204" pitchFamily="18" charset="0"/>
                            </a:rPr>
                          </m:ctrlPr>
                        </m:barPr>
                        <m:e>
                          <m:r>
                            <a:rPr lang="en-GB" sz="1200" b="0" i="1" smtClean="0">
                              <a:latin typeface="Cambria Math" panose="02040503050406030204" pitchFamily="18" charset="0"/>
                            </a:rPr>
                            <m:t>𝑢</m:t>
                          </m:r>
                        </m:e>
                      </m:bar>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m>
                            <m:mPr>
                              <m:mcs>
                                <m:mc>
                                  <m:mcPr>
                                    <m:count m:val="2"/>
                                    <m:mcJc m:val="center"/>
                                  </m:mcPr>
                                </m:mc>
                              </m:mcs>
                              <m:ctrlPr>
                                <a:rPr lang="en-GB" sz="1200" b="0" i="1" smtClean="0">
                                  <a:latin typeface="Cambria Math" panose="02040503050406030204" pitchFamily="18" charset="0"/>
                                </a:rPr>
                              </m:ctrlPr>
                            </m:mPr>
                            <m:mr>
                              <m:e>
                                <m:m>
                                  <m:mPr>
                                    <m:mcs>
                                      <m:mc>
                                        <m:mcPr>
                                          <m:count m:val="2"/>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bar>
                                            <m:barPr>
                                              <m:ctrlPr>
                                                <a:rPr lang="en-GB" sz="1200" b="0" i="1" smtClean="0">
                                                  <a:latin typeface="Cambria Math" panose="02040503050406030204" pitchFamily="18" charset="0"/>
                                                </a:rPr>
                                              </m:ctrlPr>
                                            </m:barPr>
                                            <m:e>
                                              <m:r>
                                                <a:rPr lang="en-GB" sz="1200" b="0" i="1" smtClean="0">
                                                  <a:latin typeface="Cambria Math" panose="02040503050406030204" pitchFamily="18" charset="0"/>
                                                </a:rPr>
                                                <m:t>𝑢</m:t>
                                              </m:r>
                                            </m:e>
                                          </m:bar>
                                        </m:e>
                                        <m:sub>
                                          <m:r>
                                            <a:rPr lang="en-GB" sz="1200" b="0" i="1" smtClean="0">
                                              <a:latin typeface="Cambria Math" panose="02040503050406030204" pitchFamily="18" charset="0"/>
                                            </a:rPr>
                                            <m:t>1</m:t>
                                          </m:r>
                                        </m:sub>
                                      </m:sSub>
                                    </m:e>
                                    <m:e>
                                      <m:sSub>
                                        <m:sSubPr>
                                          <m:ctrlPr>
                                            <a:rPr lang="en-GB" sz="1200" b="0" i="1" smtClean="0">
                                              <a:latin typeface="Cambria Math" panose="02040503050406030204" pitchFamily="18" charset="0"/>
                                            </a:rPr>
                                          </m:ctrlPr>
                                        </m:sSubPr>
                                        <m:e>
                                          <m:bar>
                                            <m:barPr>
                                              <m:ctrlPr>
                                                <a:rPr lang="en-GB" sz="1200" b="0" i="1" smtClean="0">
                                                  <a:latin typeface="Cambria Math" panose="02040503050406030204" pitchFamily="18" charset="0"/>
                                                </a:rPr>
                                              </m:ctrlPr>
                                            </m:barPr>
                                            <m:e>
                                              <m:r>
                                                <a:rPr lang="en-GB" sz="1200" b="0" i="1" smtClean="0">
                                                  <a:latin typeface="Cambria Math" panose="02040503050406030204" pitchFamily="18" charset="0"/>
                                                </a:rPr>
                                                <m:t>𝑢</m:t>
                                              </m:r>
                                            </m:e>
                                          </m:bar>
                                        </m:e>
                                        <m:sub>
                                          <m:r>
                                            <a:rPr lang="en-GB" sz="1200" b="0" i="1" smtClean="0">
                                              <a:latin typeface="Cambria Math" panose="02040503050406030204" pitchFamily="18" charset="0"/>
                                            </a:rPr>
                                            <m:t>2</m:t>
                                          </m:r>
                                        </m:sub>
                                      </m:sSub>
                                    </m:e>
                                  </m:mr>
                                </m:m>
                              </m:e>
                              <m:e>
                                <m:m>
                                  <m:mPr>
                                    <m:mcs>
                                      <m:mc>
                                        <m:mcPr>
                                          <m:count m:val="2"/>
                                          <m:mcJc m:val="center"/>
                                        </m:mcPr>
                                      </m:mc>
                                    </m:mcs>
                                    <m:ctrlPr>
                                      <a:rPr lang="en-GB" sz="1200" b="0" i="1" smtClean="0">
                                        <a:latin typeface="Cambria Math" panose="02040503050406030204" pitchFamily="18" charset="0"/>
                                      </a:rPr>
                                    </m:ctrlPr>
                                  </m:mPr>
                                  <m:mr>
                                    <m:e>
                                      <m:r>
                                        <m:rPr>
                                          <m:brk m:alnAt="7"/>
                                        </m:rPr>
                                        <a:rPr lang="en-GB" sz="1200" b="0" i="1" smtClean="0">
                                          <a:latin typeface="Cambria Math" panose="02040503050406030204" pitchFamily="18" charset="0"/>
                                        </a:rPr>
                                        <m:t>⋯</m:t>
                                      </m:r>
                                    </m:e>
                                    <m:e>
                                      <m:sSub>
                                        <m:sSubPr>
                                          <m:ctrlPr>
                                            <a:rPr lang="en-GB" sz="1200" b="0" i="1" smtClean="0">
                                              <a:latin typeface="Cambria Math" panose="02040503050406030204" pitchFamily="18" charset="0"/>
                                            </a:rPr>
                                          </m:ctrlPr>
                                        </m:sSubPr>
                                        <m:e>
                                          <m:bar>
                                            <m:barPr>
                                              <m:ctrlPr>
                                                <a:rPr lang="en-GB" sz="1200" b="0" i="1" smtClean="0">
                                                  <a:latin typeface="Cambria Math" panose="02040503050406030204" pitchFamily="18" charset="0"/>
                                                </a:rPr>
                                              </m:ctrlPr>
                                            </m:barPr>
                                            <m:e>
                                              <m:r>
                                                <a:rPr lang="en-GB" sz="1200" b="0" i="1" smtClean="0">
                                                  <a:latin typeface="Cambria Math" panose="02040503050406030204" pitchFamily="18" charset="0"/>
                                                </a:rPr>
                                                <m:t>𝑢</m:t>
                                              </m:r>
                                            </m:e>
                                          </m:bar>
                                        </m:e>
                                        <m:sub>
                                          <m:r>
                                            <a:rPr lang="en-GB" sz="1200" b="0" i="1" smtClean="0">
                                              <a:latin typeface="Cambria Math" panose="02040503050406030204" pitchFamily="18" charset="0"/>
                                            </a:rPr>
                                            <m:t>𝑞</m:t>
                                          </m:r>
                                        </m:sub>
                                      </m:sSub>
                                    </m:e>
                                  </m:mr>
                                </m:m>
                              </m:e>
                            </m:mr>
                          </m:m>
                        </m:e>
                      </m:d>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bar>
                                <m:barPr>
                                  <m:ctrlPr>
                                    <a:rPr lang="en-GB" sz="1200" b="0" i="1" smtClean="0">
                                      <a:latin typeface="Cambria Math" panose="02040503050406030204" pitchFamily="18" charset="0"/>
                                    </a:rPr>
                                  </m:ctrlPr>
                                </m:barPr>
                                <m:e>
                                  <m:r>
                                    <a:rPr lang="en-GB" sz="1200" b="0" i="1" smtClean="0">
                                      <a:latin typeface="Cambria Math" panose="02040503050406030204" pitchFamily="18" charset="0"/>
                                    </a:rPr>
                                    <m:t>𝑃</m:t>
                                  </m:r>
                                </m:e>
                              </m:bar>
                            </m:e>
                            <m:sub>
                              <m:r>
                                <a:rPr lang="en-GB" sz="1200" b="0" i="1" smtClean="0">
                                  <a:latin typeface="Cambria Math" panose="02040503050406030204" pitchFamily="18" charset="0"/>
                                </a:rPr>
                                <m:t>𝑏𝑎𝑡</m:t>
                              </m:r>
                              <m:r>
                                <a:rPr lang="en-GB" sz="1200" b="0" i="1" smtClean="0">
                                  <a:latin typeface="Cambria Math" panose="02040503050406030204" pitchFamily="18" charset="0"/>
                                </a:rPr>
                                <m:t>,</m:t>
                              </m:r>
                              <m:r>
                                <a:rPr lang="en-GB" sz="1200" b="0" i="1" smtClean="0">
                                  <a:highlight>
                                    <a:srgbClr val="00FFFF"/>
                                  </a:highlight>
                                  <a:latin typeface="Cambria Math" panose="02040503050406030204" pitchFamily="18" charset="0"/>
                                </a:rPr>
                                <m:t>𝑞</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sub>
                          </m:sSub>
                        </m:e>
                      </m:d>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bar>
                                <m:barPr>
                                  <m:ctrlPr>
                                    <a:rPr lang="en-GB" sz="1200" b="0" i="1" smtClean="0">
                                      <a:latin typeface="Cambria Math" panose="02040503050406030204" pitchFamily="18" charset="0"/>
                                    </a:rPr>
                                  </m:ctrlPr>
                                </m:barPr>
                                <m:e>
                                  <m:r>
                                    <a:rPr lang="en-GB" sz="1200" b="0" i="1" smtClean="0">
                                      <a:latin typeface="Cambria Math" panose="02040503050406030204" pitchFamily="18" charset="0"/>
                                    </a:rPr>
                                    <m:t>𝑃</m:t>
                                  </m:r>
                                </m:e>
                              </m:bar>
                            </m:e>
                            <m:sub>
                              <m:r>
                                <a:rPr lang="en-GB" sz="1200" b="0" i="1" smtClean="0">
                                  <a:latin typeface="Cambria Math" panose="02040503050406030204" pitchFamily="18" charset="0"/>
                                </a:rPr>
                                <m:t>𝑒𝑣</m:t>
                              </m:r>
                              <m:r>
                                <a:rPr lang="en-GB" sz="1200" b="0" i="1" smtClean="0">
                                  <a:latin typeface="Cambria Math" panose="02040503050406030204" pitchFamily="18" charset="0"/>
                                </a:rPr>
                                <m:t>,</m:t>
                              </m:r>
                              <m:r>
                                <a:rPr lang="en-GB" sz="1200" b="0" i="1" smtClean="0">
                                  <a:highlight>
                                    <a:srgbClr val="00FFFF"/>
                                  </a:highlight>
                                  <a:latin typeface="Cambria Math" panose="02040503050406030204" pitchFamily="18" charset="0"/>
                                </a:rPr>
                                <m:t>𝑞</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𝑒𝑣</m:t>
                                  </m:r>
                                </m:sub>
                              </m:sSub>
                            </m:sub>
                          </m:sSub>
                        </m:e>
                      </m:d>
                    </m:oMath>
                  </m:oMathPara>
                </a14:m>
                <a:endParaRPr lang="en-DE" sz="1200" dirty="0"/>
              </a:p>
            </p:txBody>
          </p:sp>
        </mc:Choice>
        <mc:Fallback xmlns="">
          <p:sp>
            <p:nvSpPr>
              <p:cNvPr id="10" name="TextBox 9">
                <a:extLst>
                  <a:ext uri="{FF2B5EF4-FFF2-40B4-BE49-F238E27FC236}">
                    <a16:creationId xmlns:a16="http://schemas.microsoft.com/office/drawing/2014/main" id="{8F93B6E7-237E-DC91-E2A2-FB0A5B4B8D5E}"/>
                  </a:ext>
                </a:extLst>
              </p:cNvPr>
              <p:cNvSpPr txBox="1">
                <a:spLocks noRot="1" noChangeAspect="1" noMove="1" noResize="1" noEditPoints="1" noAdjustHandles="1" noChangeArrowheads="1" noChangeShapeType="1" noTextEdit="1"/>
              </p:cNvSpPr>
              <p:nvPr/>
            </p:nvSpPr>
            <p:spPr>
              <a:xfrm>
                <a:off x="1086307" y="3612335"/>
                <a:ext cx="3736792" cy="215252"/>
              </a:xfrm>
              <a:prstGeom prst="rect">
                <a:avLst/>
              </a:prstGeom>
              <a:blipFill>
                <a:blip r:embed="rId5"/>
                <a:stretch>
                  <a:fillRect b="-17143"/>
                </a:stretch>
              </a:blipFill>
            </p:spPr>
            <p:txBody>
              <a:bodyPr/>
              <a:lstStyle/>
              <a:p>
                <a:r>
                  <a:rPr lang="en-DE">
                    <a:noFill/>
                  </a:rPr>
                  <a:t> </a:t>
                </a:r>
              </a:p>
            </p:txBody>
          </p:sp>
        </mc:Fallback>
      </mc:AlternateContent>
      <p:grpSp>
        <p:nvGrpSpPr>
          <p:cNvPr id="14" name="Group 13">
            <a:extLst>
              <a:ext uri="{FF2B5EF4-FFF2-40B4-BE49-F238E27FC236}">
                <a16:creationId xmlns:a16="http://schemas.microsoft.com/office/drawing/2014/main" id="{7273CB28-99AE-7B57-A761-FDD1C9237728}"/>
              </a:ext>
            </a:extLst>
          </p:cNvPr>
          <p:cNvGrpSpPr/>
          <p:nvPr/>
        </p:nvGrpSpPr>
        <p:grpSpPr>
          <a:xfrm>
            <a:off x="6407523" y="1191684"/>
            <a:ext cx="1963271" cy="731108"/>
            <a:chOff x="5526741" y="1512794"/>
            <a:chExt cx="1963271" cy="731108"/>
          </a:xfrm>
        </p:grpSpPr>
        <p:sp>
          <p:nvSpPr>
            <p:cNvPr id="13" name="Rectangle 12">
              <a:extLst>
                <a:ext uri="{FF2B5EF4-FFF2-40B4-BE49-F238E27FC236}">
                  <a16:creationId xmlns:a16="http://schemas.microsoft.com/office/drawing/2014/main" id="{8848F5E9-D5DD-0F25-EFBB-7E3E2834DC42}"/>
                </a:ext>
              </a:extLst>
            </p:cNvPr>
            <p:cNvSpPr/>
            <p:nvPr/>
          </p:nvSpPr>
          <p:spPr>
            <a:xfrm>
              <a:off x="5526741" y="1512794"/>
              <a:ext cx="1963271" cy="731108"/>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246F04B-A435-BE9D-26AA-31273CDA2403}"/>
                    </a:ext>
                  </a:extLst>
                </p:cNvPr>
                <p:cNvSpPr txBox="1"/>
                <p:nvPr/>
              </p:nvSpPr>
              <p:spPr>
                <a:xfrm>
                  <a:off x="5681383" y="1585068"/>
                  <a:ext cx="168937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highlight>
                              <a:srgbClr val="00FF00"/>
                            </a:highlight>
                            <a:latin typeface="Cambria Math" panose="02040503050406030204" pitchFamily="18" charset="0"/>
                          </a:rPr>
                          <m:t>𝑝</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𝑛</m:t>
                            </m:r>
                          </m:e>
                          <m:sub>
                            <m:r>
                              <a:rPr lang="en-GB" sz="1200" b="0" i="1" smtClean="0">
                                <a:latin typeface="Cambria Math" panose="02040503050406030204" pitchFamily="18" charset="0"/>
                              </a:rPr>
                              <m:t>𝑠𝑡𝑎𝑡𝑒𝑠</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𝑒𝑣</m:t>
                            </m:r>
                          </m:sub>
                        </m:sSub>
                      </m:oMath>
                    </m:oMathPara>
                  </a14:m>
                  <a:endParaRPr lang="en-DE" sz="1200" dirty="0"/>
                </a:p>
              </p:txBody>
            </p:sp>
          </mc:Choice>
          <mc:Fallback xmlns="">
            <p:sp>
              <p:nvSpPr>
                <p:cNvPr id="11" name="TextBox 10">
                  <a:extLst>
                    <a:ext uri="{FF2B5EF4-FFF2-40B4-BE49-F238E27FC236}">
                      <a16:creationId xmlns:a16="http://schemas.microsoft.com/office/drawing/2014/main" id="{4246F04B-A435-BE9D-26AA-31273CDA2403}"/>
                    </a:ext>
                  </a:extLst>
                </p:cNvPr>
                <p:cNvSpPr txBox="1">
                  <a:spLocks noRot="1" noChangeAspect="1" noMove="1" noResize="1" noEditPoints="1" noAdjustHandles="1" noChangeArrowheads="1" noChangeShapeType="1" noTextEdit="1"/>
                </p:cNvSpPr>
                <p:nvPr/>
              </p:nvSpPr>
              <p:spPr>
                <a:xfrm>
                  <a:off x="5681383" y="1585068"/>
                  <a:ext cx="1689373" cy="184666"/>
                </a:xfrm>
                <a:prstGeom prst="rect">
                  <a:avLst/>
                </a:prstGeom>
                <a:blipFill>
                  <a:blip r:embed="rId6"/>
                  <a:stretch>
                    <a:fillRect l="-719" b="-19355"/>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9FCBB3B-4F76-4F64-9911-9B157992FD3A}"/>
                    </a:ext>
                  </a:extLst>
                </p:cNvPr>
                <p:cNvSpPr txBox="1"/>
                <p:nvPr/>
              </p:nvSpPr>
              <p:spPr>
                <a:xfrm>
                  <a:off x="5681383" y="1892653"/>
                  <a:ext cx="1711431" cy="1989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highlight>
                              <a:srgbClr val="00FFFF"/>
                            </a:highlight>
                            <a:latin typeface="Cambria Math" panose="02040503050406030204" pitchFamily="18" charset="0"/>
                          </a:rPr>
                          <m:t>𝑞</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𝑛</m:t>
                            </m:r>
                          </m:e>
                          <m:sub>
                            <m:r>
                              <a:rPr lang="en-GB" sz="1200" b="0" i="1" smtClean="0">
                                <a:latin typeface="Cambria Math" panose="02040503050406030204" pitchFamily="18" charset="0"/>
                              </a:rPr>
                              <m:t>𝑖𝑛𝑝𝑢𝑡𝑠</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𝑒𝑣</m:t>
                            </m:r>
                          </m:sub>
                        </m:sSub>
                      </m:oMath>
                    </m:oMathPara>
                  </a14:m>
                  <a:endParaRPr lang="en-DE" sz="1200" dirty="0"/>
                </a:p>
              </p:txBody>
            </p:sp>
          </mc:Choice>
          <mc:Fallback xmlns="">
            <p:sp>
              <p:nvSpPr>
                <p:cNvPr id="12" name="TextBox 11">
                  <a:extLst>
                    <a:ext uri="{FF2B5EF4-FFF2-40B4-BE49-F238E27FC236}">
                      <a16:creationId xmlns:a16="http://schemas.microsoft.com/office/drawing/2014/main" id="{89FCBB3B-4F76-4F64-9911-9B157992FD3A}"/>
                    </a:ext>
                  </a:extLst>
                </p:cNvPr>
                <p:cNvSpPr txBox="1">
                  <a:spLocks noRot="1" noChangeAspect="1" noMove="1" noResize="1" noEditPoints="1" noAdjustHandles="1" noChangeArrowheads="1" noChangeShapeType="1" noTextEdit="1"/>
                </p:cNvSpPr>
                <p:nvPr/>
              </p:nvSpPr>
              <p:spPr>
                <a:xfrm>
                  <a:off x="5681383" y="1892653"/>
                  <a:ext cx="1711431" cy="198965"/>
                </a:xfrm>
                <a:prstGeom prst="rect">
                  <a:avLst/>
                </a:prstGeom>
                <a:blipFill>
                  <a:blip r:embed="rId7"/>
                  <a:stretch>
                    <a:fillRect l="-712" b="-25000"/>
                  </a:stretch>
                </a:blipFill>
              </p:spPr>
              <p:txBody>
                <a:bodyPr/>
                <a:lstStyle/>
                <a:p>
                  <a:r>
                    <a:rPr lang="en-DE">
                      <a:noFill/>
                    </a:rPr>
                    <a:t> </a:t>
                  </a:r>
                </a:p>
              </p:txBody>
            </p:sp>
          </mc:Fallback>
        </mc:AlternateContent>
      </p:grpSp>
      <p:grpSp>
        <p:nvGrpSpPr>
          <p:cNvPr id="25" name="Group 24">
            <a:extLst>
              <a:ext uri="{FF2B5EF4-FFF2-40B4-BE49-F238E27FC236}">
                <a16:creationId xmlns:a16="http://schemas.microsoft.com/office/drawing/2014/main" id="{D8C88E51-C286-8F2B-EBAC-DABFBCE02E19}"/>
              </a:ext>
            </a:extLst>
          </p:cNvPr>
          <p:cNvGrpSpPr/>
          <p:nvPr/>
        </p:nvGrpSpPr>
        <p:grpSpPr>
          <a:xfrm>
            <a:off x="5507002" y="3012131"/>
            <a:ext cx="3311178" cy="1477328"/>
            <a:chOff x="5872792" y="2670809"/>
            <a:chExt cx="2794355" cy="1477328"/>
          </a:xfrm>
        </p:grpSpPr>
        <p:sp>
          <p:nvSpPr>
            <p:cNvPr id="18" name="Rectangle 17">
              <a:extLst>
                <a:ext uri="{FF2B5EF4-FFF2-40B4-BE49-F238E27FC236}">
                  <a16:creationId xmlns:a16="http://schemas.microsoft.com/office/drawing/2014/main" id="{CA7FE020-8A7F-DC2E-0F57-9CFF509D4381}"/>
                </a:ext>
              </a:extLst>
            </p:cNvPr>
            <p:cNvSpPr/>
            <p:nvPr/>
          </p:nvSpPr>
          <p:spPr>
            <a:xfrm>
              <a:off x="5872792" y="2670809"/>
              <a:ext cx="2713155" cy="14773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p:sp>
          <p:nvSpPr>
            <p:cNvPr id="17" name="TextBox 16">
              <a:extLst>
                <a:ext uri="{FF2B5EF4-FFF2-40B4-BE49-F238E27FC236}">
                  <a16:creationId xmlns:a16="http://schemas.microsoft.com/office/drawing/2014/main" id="{6275FF40-326B-26BE-F2FB-FD3A2ACF608E}"/>
                </a:ext>
              </a:extLst>
            </p:cNvPr>
            <p:cNvSpPr txBox="1"/>
            <p:nvPr/>
          </p:nvSpPr>
          <p:spPr>
            <a:xfrm>
              <a:off x="5872792" y="2670809"/>
              <a:ext cx="2794355" cy="1477328"/>
            </a:xfrm>
            <a:prstGeom prst="rect">
              <a:avLst/>
            </a:prstGeom>
            <a:noFill/>
          </p:spPr>
          <p:txBody>
            <a:bodyPr wrap="square" rtlCol="0">
              <a:spAutoFit/>
            </a:bodyPr>
            <a:lstStyle/>
            <a:p>
              <a:r>
                <a:rPr lang="en-GB" sz="1000" dirty="0" err="1">
                  <a:solidFill>
                    <a:srgbClr val="00B050"/>
                  </a:solidFill>
                  <a:latin typeface="Consolas" panose="020B0609020204030204" pitchFamily="49" charset="0"/>
                </a:rPr>
                <a:t>offset_bat</a:t>
              </a:r>
              <a:r>
                <a:rPr lang="en-GB" sz="1000" dirty="0">
                  <a:latin typeface="Consolas" panose="020B0609020204030204" pitchFamily="49" charset="0"/>
                </a:rPr>
                <a:t>= </a:t>
              </a:r>
              <a:r>
                <a:rPr lang="en-GB" sz="1000" dirty="0" err="1">
                  <a:latin typeface="Consolas" panose="020B0609020204030204" pitchFamily="49" charset="0"/>
                </a:rPr>
                <a:t>n_states</a:t>
              </a:r>
              <a:r>
                <a:rPr lang="en-GB" sz="1000" dirty="0">
                  <a:latin typeface="Consolas" panose="020B0609020204030204" pitchFamily="49" charset="0"/>
                </a:rPr>
                <a:t> – </a:t>
              </a:r>
              <a:r>
                <a:rPr lang="en-GB" sz="1000" dirty="0" err="1">
                  <a:latin typeface="Consolas" panose="020B0609020204030204" pitchFamily="49" charset="0"/>
                </a:rPr>
                <a:t>N_bat</a:t>
              </a:r>
              <a:r>
                <a:rPr lang="en-GB" sz="1000" dirty="0">
                  <a:latin typeface="Consolas" panose="020B0609020204030204" pitchFamily="49" charset="0"/>
                </a:rPr>
                <a:t> – </a:t>
              </a:r>
              <a:r>
                <a:rPr lang="en-GB" sz="1000" dirty="0" err="1">
                  <a:latin typeface="Consolas" panose="020B0609020204030204" pitchFamily="49" charset="0"/>
                </a:rPr>
                <a:t>N_ev</a:t>
              </a:r>
              <a:endParaRPr lang="en-GB" sz="1000" dirty="0">
                <a:latin typeface="Consolas" panose="020B0609020204030204" pitchFamily="49" charset="0"/>
              </a:endParaRPr>
            </a:p>
            <a:p>
              <a:r>
                <a:rPr lang="en-GB" sz="1000" dirty="0" err="1">
                  <a:solidFill>
                    <a:srgbClr val="0070C0"/>
                  </a:solidFill>
                  <a:latin typeface="Consolas" panose="020B0609020204030204" pitchFamily="49" charset="0"/>
                </a:rPr>
                <a:t>offset_ev</a:t>
              </a:r>
              <a:r>
                <a:rPr lang="en-GB" sz="1000" dirty="0">
                  <a:solidFill>
                    <a:srgbClr val="0070C0"/>
                  </a:solidFill>
                  <a:latin typeface="Consolas" panose="020B0609020204030204" pitchFamily="49" charset="0"/>
                </a:rPr>
                <a:t> </a:t>
              </a:r>
              <a:r>
                <a:rPr lang="en-GB" sz="1000" dirty="0">
                  <a:latin typeface="Consolas" panose="020B0609020204030204" pitchFamily="49" charset="0"/>
                </a:rPr>
                <a:t>= </a:t>
              </a:r>
              <a:r>
                <a:rPr lang="en-GB" sz="1000" dirty="0" err="1">
                  <a:solidFill>
                    <a:srgbClr val="00B050"/>
                  </a:solidFill>
                  <a:latin typeface="Consolas" panose="020B0609020204030204" pitchFamily="49" charset="0"/>
                </a:rPr>
                <a:t>offset_bat</a:t>
              </a:r>
              <a:endParaRPr lang="en-GB" sz="1000" dirty="0">
                <a:solidFill>
                  <a:srgbClr val="00B050"/>
                </a:solidFill>
                <a:latin typeface="Consolas" panose="020B0609020204030204" pitchFamily="49" charset="0"/>
              </a:endParaRPr>
            </a:p>
            <a:p>
              <a:endParaRPr lang="en-GB" sz="1000" dirty="0">
                <a:latin typeface="Consolas" panose="020B0609020204030204" pitchFamily="49" charset="0"/>
              </a:endParaRPr>
            </a:p>
            <a:p>
              <a:r>
                <a:rPr lang="en-GB" sz="1000" dirty="0">
                  <a:latin typeface="Consolas" panose="020B0609020204030204" pitchFamily="49" charset="0"/>
                </a:rPr>
                <a:t>for </a:t>
              </a:r>
              <a:r>
                <a:rPr lang="en-GB" sz="1000" dirty="0" err="1">
                  <a:latin typeface="Consolas" panose="020B0609020204030204" pitchFamily="49" charset="0"/>
                </a:rPr>
                <a:t>i</a:t>
              </a:r>
              <a:r>
                <a:rPr lang="en-GB" sz="1000" dirty="0">
                  <a:latin typeface="Consolas" panose="020B0609020204030204" pitchFamily="49" charset="0"/>
                </a:rPr>
                <a:t> = </a:t>
              </a:r>
              <a:r>
                <a:rPr lang="en-GB" sz="1000" dirty="0" err="1">
                  <a:solidFill>
                    <a:srgbClr val="00B050"/>
                  </a:solidFill>
                  <a:latin typeface="Consolas" panose="020B0609020204030204" pitchFamily="49" charset="0"/>
                </a:rPr>
                <a:t>offset_bat</a:t>
              </a:r>
              <a:r>
                <a:rPr lang="en-GB" sz="1000" dirty="0" err="1">
                  <a:latin typeface="Consolas" panose="020B0609020204030204" pitchFamily="49" charset="0"/>
                </a:rPr>
                <a:t>:</a:t>
              </a:r>
              <a:r>
                <a:rPr lang="en-GB" sz="1000" dirty="0" err="1">
                  <a:solidFill>
                    <a:srgbClr val="00B050"/>
                  </a:solidFill>
                  <a:latin typeface="Consolas" panose="020B0609020204030204" pitchFamily="49" charset="0"/>
                </a:rPr>
                <a:t>offset_bat</a:t>
              </a:r>
              <a:r>
                <a:rPr lang="en-GB" sz="1000" dirty="0">
                  <a:solidFill>
                    <a:srgbClr val="00B050"/>
                  </a:solidFill>
                  <a:latin typeface="Consolas" panose="020B0609020204030204" pitchFamily="49" charset="0"/>
                </a:rPr>
                <a:t> </a:t>
              </a:r>
              <a:r>
                <a:rPr lang="en-GB" sz="1000" dirty="0">
                  <a:latin typeface="Consolas" panose="020B0609020204030204" pitchFamily="49" charset="0"/>
                </a:rPr>
                <a:t>+ </a:t>
              </a:r>
              <a:r>
                <a:rPr lang="en-GB" sz="1000" dirty="0" err="1">
                  <a:latin typeface="Consolas" panose="020B0609020204030204" pitchFamily="49" charset="0"/>
                </a:rPr>
                <a:t>N_bat</a:t>
              </a:r>
              <a:endParaRPr lang="en-GB" sz="1000" dirty="0">
                <a:latin typeface="Consolas" panose="020B0609020204030204" pitchFamily="49" charset="0"/>
              </a:endParaRPr>
            </a:p>
            <a:p>
              <a:r>
                <a:rPr lang="en-GB" sz="1000" dirty="0">
                  <a:latin typeface="Consolas" panose="020B0609020204030204" pitchFamily="49" charset="0"/>
                </a:rPr>
                <a:t>	//assign battery constraints</a:t>
              </a:r>
            </a:p>
            <a:p>
              <a:r>
                <a:rPr lang="en-GB" sz="1000" dirty="0">
                  <a:latin typeface="Consolas" panose="020B0609020204030204" pitchFamily="49" charset="0"/>
                </a:rPr>
                <a:t>	</a:t>
              </a:r>
              <a:r>
                <a:rPr lang="en-GB" sz="1000" dirty="0" err="1">
                  <a:solidFill>
                    <a:srgbClr val="0070C0"/>
                  </a:solidFill>
                  <a:latin typeface="Consolas" panose="020B0609020204030204" pitchFamily="49" charset="0"/>
                </a:rPr>
                <a:t>offset_ev</a:t>
              </a:r>
              <a:r>
                <a:rPr lang="en-GB" sz="1000" dirty="0">
                  <a:latin typeface="Consolas" panose="020B0609020204030204" pitchFamily="49" charset="0"/>
                </a:rPr>
                <a:t>++</a:t>
              </a:r>
            </a:p>
            <a:p>
              <a:endParaRPr lang="en-GB" sz="1000" dirty="0">
                <a:latin typeface="Consolas" panose="020B0609020204030204" pitchFamily="49" charset="0"/>
              </a:endParaRPr>
            </a:p>
            <a:p>
              <a:r>
                <a:rPr lang="en-GB" sz="1000" dirty="0">
                  <a:latin typeface="Consolas" panose="020B0609020204030204" pitchFamily="49" charset="0"/>
                </a:rPr>
                <a:t>For j = </a:t>
              </a:r>
              <a:r>
                <a:rPr lang="en-GB" sz="1000" dirty="0" err="1">
                  <a:solidFill>
                    <a:srgbClr val="0070C0"/>
                  </a:solidFill>
                  <a:latin typeface="Consolas" panose="020B0609020204030204" pitchFamily="49" charset="0"/>
                </a:rPr>
                <a:t>offset_ev</a:t>
              </a:r>
              <a:r>
                <a:rPr lang="en-GB" sz="1000" dirty="0" err="1">
                  <a:latin typeface="Consolas" panose="020B0609020204030204" pitchFamily="49" charset="0"/>
                </a:rPr>
                <a:t>:</a:t>
              </a:r>
              <a:r>
                <a:rPr lang="en-GB" sz="1000" dirty="0" err="1">
                  <a:solidFill>
                    <a:srgbClr val="0070C0"/>
                  </a:solidFill>
                  <a:latin typeface="Consolas" panose="020B0609020204030204" pitchFamily="49" charset="0"/>
                </a:rPr>
                <a:t>offset_ev</a:t>
              </a:r>
              <a:r>
                <a:rPr lang="en-GB" sz="1000" dirty="0">
                  <a:solidFill>
                    <a:srgbClr val="0070C0"/>
                  </a:solidFill>
                  <a:latin typeface="Consolas" panose="020B0609020204030204" pitchFamily="49" charset="0"/>
                </a:rPr>
                <a:t> </a:t>
              </a:r>
              <a:r>
                <a:rPr lang="en-GB" sz="1000" dirty="0">
                  <a:latin typeface="Consolas" panose="020B0609020204030204" pitchFamily="49" charset="0"/>
                </a:rPr>
                <a:t>+ </a:t>
              </a:r>
              <a:r>
                <a:rPr lang="en-GB" sz="1000" dirty="0" err="1">
                  <a:latin typeface="Consolas" panose="020B0609020204030204" pitchFamily="49" charset="0"/>
                </a:rPr>
                <a:t>N_ev</a:t>
              </a:r>
              <a:endParaRPr lang="en-GB" sz="1000" dirty="0">
                <a:latin typeface="Consolas" panose="020B0609020204030204" pitchFamily="49" charset="0"/>
              </a:endParaRPr>
            </a:p>
            <a:p>
              <a:r>
                <a:rPr lang="en-GB" sz="1000" dirty="0">
                  <a:latin typeface="Consolas" panose="020B0609020204030204" pitchFamily="49" charset="0"/>
                </a:rPr>
                <a:t>	//assign </a:t>
              </a:r>
              <a:r>
                <a:rPr lang="en-GB" sz="1000" dirty="0" err="1">
                  <a:latin typeface="Consolas" panose="020B0609020204030204" pitchFamily="49" charset="0"/>
                </a:rPr>
                <a:t>ev</a:t>
              </a:r>
              <a:r>
                <a:rPr lang="en-GB" sz="1000" dirty="0">
                  <a:latin typeface="Consolas" panose="020B0609020204030204" pitchFamily="49" charset="0"/>
                </a:rPr>
                <a:t> constraints	</a:t>
              </a:r>
              <a:endParaRPr lang="en-DE" sz="1000" dirty="0">
                <a:latin typeface="Consolas" panose="020B0609020204030204" pitchFamily="49" charset="0"/>
              </a:endParaRPr>
            </a:p>
          </p:txBody>
        </p:sp>
      </p:grpSp>
      <p:cxnSp>
        <p:nvCxnSpPr>
          <p:cNvPr id="20" name="Straight Connector 19">
            <a:extLst>
              <a:ext uri="{FF2B5EF4-FFF2-40B4-BE49-F238E27FC236}">
                <a16:creationId xmlns:a16="http://schemas.microsoft.com/office/drawing/2014/main" id="{07B5D4D8-EC0B-D64E-565D-C9A792E81D7B}"/>
              </a:ext>
            </a:extLst>
          </p:cNvPr>
          <p:cNvCxnSpPr/>
          <p:nvPr/>
        </p:nvCxnSpPr>
        <p:spPr>
          <a:xfrm>
            <a:off x="2675965" y="1331259"/>
            <a:ext cx="0" cy="133955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Straight Connector 20">
            <a:extLst>
              <a:ext uri="{FF2B5EF4-FFF2-40B4-BE49-F238E27FC236}">
                <a16:creationId xmlns:a16="http://schemas.microsoft.com/office/drawing/2014/main" id="{941A4599-43A0-FF35-8E9E-A3B517BBAD7F}"/>
              </a:ext>
            </a:extLst>
          </p:cNvPr>
          <p:cNvCxnSpPr/>
          <p:nvPr/>
        </p:nvCxnSpPr>
        <p:spPr>
          <a:xfrm>
            <a:off x="2740958" y="2823209"/>
            <a:ext cx="0" cy="133955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E418E8F2-7710-D14A-24EF-51FFBE92A4D7}"/>
              </a:ext>
            </a:extLst>
          </p:cNvPr>
          <p:cNvSpPr txBox="1"/>
          <p:nvPr/>
        </p:nvSpPr>
        <p:spPr>
          <a:xfrm>
            <a:off x="2740958" y="1062318"/>
            <a:ext cx="1435329" cy="276999"/>
          </a:xfrm>
          <a:prstGeom prst="rect">
            <a:avLst/>
          </a:prstGeom>
          <a:noFill/>
        </p:spPr>
        <p:txBody>
          <a:bodyPr wrap="none" rtlCol="0">
            <a:spAutoFit/>
          </a:bodyPr>
          <a:lstStyle/>
          <a:p>
            <a:r>
              <a:rPr lang="en-GB" sz="1200" dirty="0">
                <a:highlight>
                  <a:srgbClr val="FFFFCC"/>
                </a:highlight>
              </a:rPr>
              <a:t>Guarded by for loop</a:t>
            </a:r>
            <a:endParaRPr lang="en-DE" sz="1200" dirty="0">
              <a:highlight>
                <a:srgbClr val="FFFFCC"/>
              </a:highlight>
            </a:endParaRPr>
          </a:p>
        </p:txBody>
      </p:sp>
      <p:sp>
        <p:nvSpPr>
          <p:cNvPr id="23" name="TextBox 22">
            <a:extLst>
              <a:ext uri="{FF2B5EF4-FFF2-40B4-BE49-F238E27FC236}">
                <a16:creationId xmlns:a16="http://schemas.microsoft.com/office/drawing/2014/main" id="{E565E5D9-A58D-B961-3EA0-892AE38FF2BE}"/>
              </a:ext>
            </a:extLst>
          </p:cNvPr>
          <p:cNvSpPr txBox="1"/>
          <p:nvPr/>
        </p:nvSpPr>
        <p:spPr>
          <a:xfrm>
            <a:off x="2740958" y="2699947"/>
            <a:ext cx="1435329" cy="276999"/>
          </a:xfrm>
          <a:prstGeom prst="rect">
            <a:avLst/>
          </a:prstGeom>
          <a:noFill/>
        </p:spPr>
        <p:txBody>
          <a:bodyPr wrap="none" rtlCol="0">
            <a:spAutoFit/>
          </a:bodyPr>
          <a:lstStyle/>
          <a:p>
            <a:r>
              <a:rPr lang="en-GB" sz="1200" dirty="0">
                <a:highlight>
                  <a:srgbClr val="FFFFCC"/>
                </a:highlight>
              </a:rPr>
              <a:t>Guarded by for loop</a:t>
            </a:r>
            <a:endParaRPr lang="en-DE" sz="1200" dirty="0">
              <a:highlight>
                <a:srgbClr val="FFFFCC"/>
              </a:highlight>
            </a:endParaRPr>
          </a:p>
        </p:txBody>
      </p:sp>
      <p:sp>
        <p:nvSpPr>
          <p:cNvPr id="24" name="TextBox 23">
            <a:extLst>
              <a:ext uri="{FF2B5EF4-FFF2-40B4-BE49-F238E27FC236}">
                <a16:creationId xmlns:a16="http://schemas.microsoft.com/office/drawing/2014/main" id="{177E19F2-5DC6-747B-41B2-CB458F5D7BAD}"/>
              </a:ext>
            </a:extLst>
          </p:cNvPr>
          <p:cNvSpPr txBox="1"/>
          <p:nvPr/>
        </p:nvSpPr>
        <p:spPr>
          <a:xfrm>
            <a:off x="5507001" y="2122339"/>
            <a:ext cx="2980826" cy="646331"/>
          </a:xfrm>
          <a:prstGeom prst="rect">
            <a:avLst/>
          </a:prstGeom>
          <a:noFill/>
        </p:spPr>
        <p:txBody>
          <a:bodyPr wrap="square" rtlCol="0">
            <a:spAutoFit/>
          </a:bodyPr>
          <a:lstStyle/>
          <a:p>
            <a:r>
              <a:rPr lang="en-GB" sz="1200" dirty="0"/>
              <a:t>Take into account that if </a:t>
            </a:r>
            <a:r>
              <a:rPr lang="en-GB" sz="1200" dirty="0" err="1"/>
              <a:t>n_bat</a:t>
            </a:r>
            <a:r>
              <a:rPr lang="en-GB" sz="1200" dirty="0"/>
              <a:t> or </a:t>
            </a:r>
            <a:r>
              <a:rPr lang="en-GB" sz="1200" dirty="0" err="1"/>
              <a:t>n_ev</a:t>
            </a:r>
            <a:r>
              <a:rPr lang="en-GB" sz="1200" dirty="0"/>
              <a:t> is zero, the expression to the right of red dotted line will be skipped.</a:t>
            </a:r>
            <a:endParaRPr lang="en-DE" sz="1200" dirty="0"/>
          </a:p>
        </p:txBody>
      </p:sp>
    </p:spTree>
    <p:extLst>
      <p:ext uri="{BB962C8B-B14F-4D97-AF65-F5344CB8AC3E}">
        <p14:creationId xmlns:p14="http://schemas.microsoft.com/office/powerpoint/2010/main" val="291552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C0DBD44-64E5-2328-8B96-68C971FA0343}"/>
              </a:ext>
            </a:extLst>
          </p:cNvPr>
          <p:cNvSpPr/>
          <p:nvPr/>
        </p:nvSpPr>
        <p:spPr>
          <a:xfrm>
            <a:off x="961465" y="1344706"/>
            <a:ext cx="3402106" cy="66665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p:sp>
        <p:nvSpPr>
          <p:cNvPr id="3" name="Title 2">
            <a:extLst>
              <a:ext uri="{FF2B5EF4-FFF2-40B4-BE49-F238E27FC236}">
                <a16:creationId xmlns:a16="http://schemas.microsoft.com/office/drawing/2014/main" id="{00078F9F-BD31-3DD9-DFFE-6D496C7E44CB}"/>
              </a:ext>
            </a:extLst>
          </p:cNvPr>
          <p:cNvSpPr>
            <a:spLocks noGrp="1"/>
          </p:cNvSpPr>
          <p:nvPr>
            <p:ph type="title"/>
          </p:nvPr>
        </p:nvSpPr>
        <p:spPr/>
        <p:txBody>
          <a:bodyPr/>
          <a:lstStyle/>
          <a:p>
            <a:r>
              <a:rPr lang="en-GB" dirty="0"/>
              <a:t>Modular MPC</a:t>
            </a:r>
            <a:endParaRPr lang="en-DE"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25E1A0-0445-4806-D3CB-B767ACCACDE0}"/>
                  </a:ext>
                </a:extLst>
              </p:cNvPr>
              <p:cNvSpPr txBox="1"/>
              <p:nvPr/>
            </p:nvSpPr>
            <p:spPr>
              <a:xfrm>
                <a:off x="1042148" y="1408772"/>
                <a:ext cx="3203505" cy="519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𝑜𝑏𝑗</m:t>
                      </m:r>
                      <m:r>
                        <a:rPr lang="en-GB" sz="1200" b="0" i="1" smtClean="0">
                          <a:latin typeface="Cambria Math" panose="02040503050406030204" pitchFamily="18" charset="0"/>
                        </a:rPr>
                        <m:t>=</m:t>
                      </m:r>
                      <m:nary>
                        <m:naryPr>
                          <m:chr m:val="∑"/>
                          <m:ctrlPr>
                            <a:rPr lang="en-GB" sz="1200" b="0" i="1" smtClean="0">
                              <a:latin typeface="Cambria Math" panose="02040503050406030204" pitchFamily="18" charset="0"/>
                            </a:rPr>
                          </m:ctrlPr>
                        </m:naryPr>
                        <m:sub>
                          <m:r>
                            <m:rPr>
                              <m:brk m:alnAt="23"/>
                            </m:rPr>
                            <a:rPr lang="en-GB" sz="1200" b="0" i="1" smtClean="0">
                              <a:latin typeface="Cambria Math" panose="02040503050406030204" pitchFamily="18" charset="0"/>
                            </a:rPr>
                            <m:t>𝑖</m:t>
                          </m:r>
                          <m:r>
                            <a:rPr lang="en-GB" sz="1200" b="0" i="1" smtClean="0">
                              <a:latin typeface="Cambria Math" panose="02040503050406030204" pitchFamily="18" charset="0"/>
                            </a:rPr>
                            <m:t>=0</m:t>
                          </m:r>
                        </m:sub>
                        <m:sup>
                          <m:r>
                            <a:rPr lang="en-GB" sz="1200" b="0" i="1" smtClean="0">
                              <a:latin typeface="Cambria Math" panose="02040503050406030204" pitchFamily="18" charset="0"/>
                            </a:rPr>
                            <m:t>𝑁</m:t>
                          </m:r>
                          <m:r>
                            <a:rPr lang="en-GB" sz="1200" b="0" i="1" smtClean="0">
                              <a:latin typeface="Cambria Math" panose="02040503050406030204" pitchFamily="18" charset="0"/>
                            </a:rPr>
                            <m:t>−1</m:t>
                          </m:r>
                        </m:sup>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𝑊</m:t>
                              </m:r>
                            </m:e>
                            <m:sub>
                              <m:r>
                                <a:rPr lang="en-GB" sz="1200" b="0" i="1" smtClean="0">
                                  <a:latin typeface="Cambria Math" panose="02040503050406030204" pitchFamily="18" charset="0"/>
                                </a:rPr>
                                <m:t>1</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𝑐𝑜𝑠𝑡</m:t>
                              </m:r>
                            </m:sub>
                          </m:sSub>
                          <m:r>
                            <a:rPr lang="en-GB" sz="1200" b="0" i="1" smtClean="0">
                              <a:latin typeface="Cambria Math" panose="02040503050406030204" pitchFamily="18" charset="0"/>
                            </a:rPr>
                            <m:t>𝐽</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𝐽</m:t>
                              </m:r>
                              <m:r>
                                <a:rPr lang="en-GB" sz="1200" b="0" i="1" smtClean="0">
                                  <a:latin typeface="Cambria Math" panose="02040503050406030204" pitchFamily="18" charset="0"/>
                                </a:rPr>
                                <m:t>&gt;0</m:t>
                              </m:r>
                            </m:e>
                          </m:d>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𝑊</m:t>
                              </m:r>
                            </m:e>
                            <m:sub>
                              <m:r>
                                <a:rPr lang="en-GB" sz="1200" b="0" i="1" smtClean="0">
                                  <a:latin typeface="Cambria Math" panose="02040503050406030204" pitchFamily="18" charset="0"/>
                                </a:rPr>
                                <m:t>2</m:t>
                              </m:r>
                            </m:sub>
                          </m:sSub>
                          <m:r>
                            <a:rPr lang="en-GB" sz="1200" b="0" i="1" smtClean="0">
                              <a:latin typeface="Cambria Math" panose="02040503050406030204" pitchFamily="18" charset="0"/>
                            </a:rPr>
                            <m:t>𝐽</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𝐽</m:t>
                              </m:r>
                              <m:r>
                                <a:rPr lang="en-GB" sz="1200" b="0" i="1" smtClean="0">
                                  <a:latin typeface="Cambria Math" panose="02040503050406030204" pitchFamily="18" charset="0"/>
                                </a:rPr>
                                <m:t>&lt;0</m:t>
                              </m:r>
                            </m:e>
                          </m:d>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𝑊</m:t>
                              </m:r>
                            </m:e>
                            <m:sub>
                              <m:r>
                                <a:rPr lang="en-GB" sz="1200" b="0" i="1" smtClean="0">
                                  <a:latin typeface="Cambria Math" panose="02040503050406030204" pitchFamily="18" charset="0"/>
                                </a:rPr>
                                <m:t>3</m:t>
                              </m:r>
                            </m:sub>
                          </m:sSub>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𝐽</m:t>
                              </m:r>
                            </m:e>
                            <m:sup>
                              <m:r>
                                <a:rPr lang="en-GB" sz="1200" b="0" i="1" smtClean="0">
                                  <a:latin typeface="Cambria Math" panose="02040503050406030204" pitchFamily="18" charset="0"/>
                                </a:rPr>
                                <m:t>2</m:t>
                              </m:r>
                            </m:sup>
                          </m:sSup>
                        </m:e>
                      </m:nary>
                    </m:oMath>
                  </m:oMathPara>
                </a14:m>
                <a:endParaRPr lang="en-DE" sz="1200" dirty="0"/>
              </a:p>
            </p:txBody>
          </p:sp>
        </mc:Choice>
        <mc:Fallback xmlns="">
          <p:sp>
            <p:nvSpPr>
              <p:cNvPr id="4" name="TextBox 3">
                <a:extLst>
                  <a:ext uri="{FF2B5EF4-FFF2-40B4-BE49-F238E27FC236}">
                    <a16:creationId xmlns:a16="http://schemas.microsoft.com/office/drawing/2014/main" id="{BE25E1A0-0445-4806-D3CB-B767ACCACDE0}"/>
                  </a:ext>
                </a:extLst>
              </p:cNvPr>
              <p:cNvSpPr txBox="1">
                <a:spLocks noRot="1" noChangeAspect="1" noMove="1" noResize="1" noEditPoints="1" noAdjustHandles="1" noChangeArrowheads="1" noChangeShapeType="1" noTextEdit="1"/>
              </p:cNvSpPr>
              <p:nvPr/>
            </p:nvSpPr>
            <p:spPr>
              <a:xfrm>
                <a:off x="1042148" y="1408772"/>
                <a:ext cx="3203505" cy="519501"/>
              </a:xfrm>
              <a:prstGeom prst="rect">
                <a:avLst/>
              </a:prstGeom>
              <a:blipFill>
                <a:blip r:embed="rId2"/>
                <a:stretch>
                  <a:fillRect/>
                </a:stretch>
              </a:blipFill>
            </p:spPr>
            <p:txBody>
              <a:bodyPr/>
              <a:lstStyle/>
              <a:p>
                <a:r>
                  <a:rPr lang="en-DE">
                    <a:noFill/>
                  </a:rPr>
                  <a:t> </a:t>
                </a:r>
              </a:p>
            </p:txBody>
          </p:sp>
        </mc:Fallback>
      </mc:AlternateContent>
      <p:sp>
        <p:nvSpPr>
          <p:cNvPr id="5" name="TextBox 4">
            <a:extLst>
              <a:ext uri="{FF2B5EF4-FFF2-40B4-BE49-F238E27FC236}">
                <a16:creationId xmlns:a16="http://schemas.microsoft.com/office/drawing/2014/main" id="{CA2F48FF-FB80-1E64-9657-775164E87564}"/>
              </a:ext>
            </a:extLst>
          </p:cNvPr>
          <p:cNvSpPr txBox="1"/>
          <p:nvPr/>
        </p:nvSpPr>
        <p:spPr>
          <a:xfrm>
            <a:off x="578223" y="911501"/>
            <a:ext cx="1432443" cy="369332"/>
          </a:xfrm>
          <a:prstGeom prst="rect">
            <a:avLst/>
          </a:prstGeom>
          <a:noFill/>
        </p:spPr>
        <p:txBody>
          <a:bodyPr wrap="none" rtlCol="0">
            <a:spAutoFit/>
          </a:bodyPr>
          <a:lstStyle/>
          <a:p>
            <a:r>
              <a:rPr lang="en-GB" u="sng" dirty="0"/>
              <a:t>Cost function</a:t>
            </a:r>
            <a:endParaRPr lang="en-DE" u="sng" dirty="0"/>
          </a:p>
        </p:txBody>
      </p:sp>
      <p:sp>
        <p:nvSpPr>
          <p:cNvPr id="6" name="TextBox 5">
            <a:extLst>
              <a:ext uri="{FF2B5EF4-FFF2-40B4-BE49-F238E27FC236}">
                <a16:creationId xmlns:a16="http://schemas.microsoft.com/office/drawing/2014/main" id="{E5F6F2C9-D4A2-D182-AB6A-3A6769CE647B}"/>
              </a:ext>
            </a:extLst>
          </p:cNvPr>
          <p:cNvSpPr txBox="1"/>
          <p:nvPr/>
        </p:nvSpPr>
        <p:spPr>
          <a:xfrm>
            <a:off x="578223" y="2196202"/>
            <a:ext cx="4386265" cy="276999"/>
          </a:xfrm>
          <a:prstGeom prst="rect">
            <a:avLst/>
          </a:prstGeom>
          <a:noFill/>
        </p:spPr>
        <p:txBody>
          <a:bodyPr wrap="none" rtlCol="0">
            <a:spAutoFit/>
          </a:bodyPr>
          <a:lstStyle/>
          <a:p>
            <a:r>
              <a:rPr lang="en-GB" sz="1200" dirty="0"/>
              <a:t>Where </a:t>
            </a:r>
            <a:r>
              <a:rPr lang="en-GB" sz="1200" i="1" dirty="0">
                <a:latin typeface="Cambria Math" panose="02040503050406030204" pitchFamily="18" charset="0"/>
                <a:ea typeface="Cambria Math" panose="02040503050406030204" pitchFamily="18" charset="0"/>
              </a:rPr>
              <a:t>J</a:t>
            </a:r>
            <a:r>
              <a:rPr lang="en-GB" sz="1200" dirty="0"/>
              <a:t>  is a linear combination of power between source and load</a:t>
            </a:r>
            <a:endParaRPr lang="en-DE" sz="1200" dirty="0"/>
          </a:p>
        </p:txBody>
      </p:sp>
      <p:grpSp>
        <p:nvGrpSpPr>
          <p:cNvPr id="34" name="Group 33">
            <a:extLst>
              <a:ext uri="{FF2B5EF4-FFF2-40B4-BE49-F238E27FC236}">
                <a16:creationId xmlns:a16="http://schemas.microsoft.com/office/drawing/2014/main" id="{8D95ECFD-ACEE-926B-2877-855F8E8F305C}"/>
              </a:ext>
            </a:extLst>
          </p:cNvPr>
          <p:cNvGrpSpPr/>
          <p:nvPr/>
        </p:nvGrpSpPr>
        <p:grpSpPr>
          <a:xfrm>
            <a:off x="700982" y="3110570"/>
            <a:ext cx="1922929" cy="411531"/>
            <a:chOff x="800100" y="2614057"/>
            <a:chExt cx="1922929" cy="411531"/>
          </a:xfrm>
        </p:grpSpPr>
        <p:sp>
          <p:nvSpPr>
            <p:cNvPr id="13" name="Rectangle 12">
              <a:extLst>
                <a:ext uri="{FF2B5EF4-FFF2-40B4-BE49-F238E27FC236}">
                  <a16:creationId xmlns:a16="http://schemas.microsoft.com/office/drawing/2014/main" id="{F42698F2-25F0-D20B-6D5F-53679E04C9E2}"/>
                </a:ext>
              </a:extLst>
            </p:cNvPr>
            <p:cNvSpPr/>
            <p:nvPr/>
          </p:nvSpPr>
          <p:spPr>
            <a:xfrm>
              <a:off x="800100" y="2614057"/>
              <a:ext cx="1922929" cy="41153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8CC824A-E060-41E3-734E-738225F78AEB}"/>
                    </a:ext>
                  </a:extLst>
                </p:cNvPr>
                <p:cNvSpPr txBox="1"/>
                <p:nvPr/>
              </p:nvSpPr>
              <p:spPr>
                <a:xfrm>
                  <a:off x="903825" y="2728068"/>
                  <a:ext cx="1720086" cy="1989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𝐽</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h𝑝</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𝑝𝑣</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𝐽</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𝐽</m:t>
                            </m:r>
                          </m:e>
                          <m:sub>
                            <m:r>
                              <a:rPr lang="en-GB" sz="1200" b="0" i="1" smtClean="0">
                                <a:latin typeface="Cambria Math" panose="02040503050406030204" pitchFamily="18" charset="0"/>
                              </a:rPr>
                              <m:t>𝑒𝑣</m:t>
                            </m:r>
                          </m:sub>
                        </m:sSub>
                      </m:oMath>
                    </m:oMathPara>
                  </a14:m>
                  <a:endParaRPr lang="en-DE" sz="1200" dirty="0"/>
                </a:p>
              </p:txBody>
            </p:sp>
          </mc:Choice>
          <mc:Fallback xmlns="">
            <p:sp>
              <p:nvSpPr>
                <p:cNvPr id="7" name="TextBox 6">
                  <a:extLst>
                    <a:ext uri="{FF2B5EF4-FFF2-40B4-BE49-F238E27FC236}">
                      <a16:creationId xmlns:a16="http://schemas.microsoft.com/office/drawing/2014/main" id="{68CC824A-E060-41E3-734E-738225F78AEB}"/>
                    </a:ext>
                  </a:extLst>
                </p:cNvPr>
                <p:cNvSpPr txBox="1">
                  <a:spLocks noRot="1" noChangeAspect="1" noMove="1" noResize="1" noEditPoints="1" noAdjustHandles="1" noChangeArrowheads="1" noChangeShapeType="1" noTextEdit="1"/>
                </p:cNvSpPr>
                <p:nvPr/>
              </p:nvSpPr>
              <p:spPr>
                <a:xfrm>
                  <a:off x="903825" y="2728068"/>
                  <a:ext cx="1720086" cy="198965"/>
                </a:xfrm>
                <a:prstGeom prst="rect">
                  <a:avLst/>
                </a:prstGeom>
                <a:blipFill>
                  <a:blip r:embed="rId3"/>
                  <a:stretch>
                    <a:fillRect l="-2482" b="-21212"/>
                  </a:stretch>
                </a:blipFill>
              </p:spPr>
              <p:txBody>
                <a:bodyPr/>
                <a:lstStyle/>
                <a:p>
                  <a:r>
                    <a:rPr lang="en-DE">
                      <a:noFill/>
                    </a:rPr>
                    <a:t> </a:t>
                  </a:r>
                </a:p>
              </p:txBody>
            </p:sp>
          </mc:Fallback>
        </mc:AlternateContent>
      </p:grpSp>
      <p:grpSp>
        <p:nvGrpSpPr>
          <p:cNvPr id="19" name="Group 18">
            <a:extLst>
              <a:ext uri="{FF2B5EF4-FFF2-40B4-BE49-F238E27FC236}">
                <a16:creationId xmlns:a16="http://schemas.microsoft.com/office/drawing/2014/main" id="{E6E822BB-FDB2-3620-22E5-42588BD8E63C}"/>
              </a:ext>
            </a:extLst>
          </p:cNvPr>
          <p:cNvGrpSpPr/>
          <p:nvPr/>
        </p:nvGrpSpPr>
        <p:grpSpPr>
          <a:xfrm>
            <a:off x="3446647" y="2498412"/>
            <a:ext cx="1311088" cy="705971"/>
            <a:chOff x="800100" y="3307976"/>
            <a:chExt cx="1311088" cy="705971"/>
          </a:xfrm>
        </p:grpSpPr>
        <p:sp>
          <p:nvSpPr>
            <p:cNvPr id="14" name="Rectangle 13">
              <a:extLst>
                <a:ext uri="{FF2B5EF4-FFF2-40B4-BE49-F238E27FC236}">
                  <a16:creationId xmlns:a16="http://schemas.microsoft.com/office/drawing/2014/main" id="{72413BEA-D86D-6D91-4ADD-4D209AEFB201}"/>
                </a:ext>
              </a:extLst>
            </p:cNvPr>
            <p:cNvSpPr/>
            <p:nvPr/>
          </p:nvSpPr>
          <p:spPr>
            <a:xfrm>
              <a:off x="800100" y="3307976"/>
              <a:ext cx="1311088" cy="70597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A03909-EEAD-9F8E-B26A-AE2EB3E18509}"/>
                    </a:ext>
                  </a:extLst>
                </p:cNvPr>
                <p:cNvSpPr txBox="1"/>
                <p:nvPr/>
              </p:nvSpPr>
              <p:spPr>
                <a:xfrm>
                  <a:off x="903825" y="3377406"/>
                  <a:ext cx="1106841" cy="519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𝐽</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nary>
                          <m:naryPr>
                            <m:chr m:val="∑"/>
                            <m:ctrlPr>
                              <a:rPr lang="en-GB" sz="1200" b="0" i="1" smtClean="0">
                                <a:latin typeface="Cambria Math" panose="02040503050406030204" pitchFamily="18" charset="0"/>
                              </a:rPr>
                            </m:ctrlPr>
                          </m:naryPr>
                          <m:sub>
                            <m:r>
                              <m:rPr>
                                <m:brk m:alnAt="23"/>
                              </m:rPr>
                              <a:rPr lang="en-GB" sz="1200" b="0" i="1" smtClean="0">
                                <a:latin typeface="Cambria Math" panose="02040503050406030204" pitchFamily="18" charset="0"/>
                              </a:rPr>
                              <m:t>𝑖</m:t>
                            </m:r>
                            <m:r>
                              <a:rPr lang="en-GB" sz="1200" b="0" i="1" smtClean="0">
                                <a:latin typeface="Cambria Math" panose="02040503050406030204" pitchFamily="18" charset="0"/>
                              </a:rPr>
                              <m:t>=0</m:t>
                            </m:r>
                          </m:sub>
                          <m:sup>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sup>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𝑏𝑎𝑡</m:t>
                                </m:r>
                                <m:r>
                                  <a:rPr lang="en-GB" sz="1200" b="0" i="1" smtClean="0">
                                    <a:latin typeface="Cambria Math" panose="02040503050406030204" pitchFamily="18" charset="0"/>
                                  </a:rPr>
                                  <m:t>,</m:t>
                                </m:r>
                                <m:r>
                                  <a:rPr lang="en-GB" sz="1200" b="0" i="1" smtClean="0">
                                    <a:latin typeface="Cambria Math" panose="02040503050406030204" pitchFamily="18" charset="0"/>
                                  </a:rPr>
                                  <m:t>𝑖</m:t>
                                </m:r>
                              </m:sub>
                            </m:sSub>
                          </m:e>
                        </m:nary>
                      </m:oMath>
                    </m:oMathPara>
                  </a14:m>
                  <a:endParaRPr lang="en-DE" sz="1200" dirty="0"/>
                </a:p>
              </p:txBody>
            </p:sp>
          </mc:Choice>
          <mc:Fallback xmlns="">
            <p:sp>
              <p:nvSpPr>
                <p:cNvPr id="8" name="TextBox 7">
                  <a:extLst>
                    <a:ext uri="{FF2B5EF4-FFF2-40B4-BE49-F238E27FC236}">
                      <a16:creationId xmlns:a16="http://schemas.microsoft.com/office/drawing/2014/main" id="{A3A03909-EEAD-9F8E-B26A-AE2EB3E18509}"/>
                    </a:ext>
                  </a:extLst>
                </p:cNvPr>
                <p:cNvSpPr txBox="1">
                  <a:spLocks noRot="1" noChangeAspect="1" noMove="1" noResize="1" noEditPoints="1" noAdjustHandles="1" noChangeArrowheads="1" noChangeShapeType="1" noTextEdit="1"/>
                </p:cNvSpPr>
                <p:nvPr/>
              </p:nvSpPr>
              <p:spPr>
                <a:xfrm>
                  <a:off x="903825" y="3377406"/>
                  <a:ext cx="1106841" cy="519501"/>
                </a:xfrm>
                <a:prstGeom prst="rect">
                  <a:avLst/>
                </a:prstGeom>
                <a:blipFill>
                  <a:blip r:embed="rId4"/>
                  <a:stretch>
                    <a:fillRect/>
                  </a:stretch>
                </a:blipFill>
              </p:spPr>
              <p:txBody>
                <a:bodyPr/>
                <a:lstStyle/>
                <a:p>
                  <a:r>
                    <a:rPr lang="en-DE">
                      <a:noFill/>
                    </a:rPr>
                    <a:t> </a:t>
                  </a:r>
                </a:p>
              </p:txBody>
            </p:sp>
          </mc:Fallback>
        </mc:AlternateContent>
      </p:grpSp>
      <p:grpSp>
        <p:nvGrpSpPr>
          <p:cNvPr id="18" name="Group 17">
            <a:extLst>
              <a:ext uri="{FF2B5EF4-FFF2-40B4-BE49-F238E27FC236}">
                <a16:creationId xmlns:a16="http://schemas.microsoft.com/office/drawing/2014/main" id="{98DD6353-AC3B-B5F7-739C-42284983F97E}"/>
              </a:ext>
            </a:extLst>
          </p:cNvPr>
          <p:cNvGrpSpPr/>
          <p:nvPr/>
        </p:nvGrpSpPr>
        <p:grpSpPr>
          <a:xfrm>
            <a:off x="3491217" y="3676174"/>
            <a:ext cx="1221948" cy="705971"/>
            <a:chOff x="2623911" y="3307976"/>
            <a:chExt cx="1221948" cy="705971"/>
          </a:xfrm>
        </p:grpSpPr>
        <p:sp>
          <p:nvSpPr>
            <p:cNvPr id="15" name="Rectangle 14">
              <a:extLst>
                <a:ext uri="{FF2B5EF4-FFF2-40B4-BE49-F238E27FC236}">
                  <a16:creationId xmlns:a16="http://schemas.microsoft.com/office/drawing/2014/main" id="{7A3AF46E-0A5F-8CD5-FE91-00D9B353E6FC}"/>
                </a:ext>
              </a:extLst>
            </p:cNvPr>
            <p:cNvSpPr/>
            <p:nvPr/>
          </p:nvSpPr>
          <p:spPr>
            <a:xfrm>
              <a:off x="2623911" y="3307976"/>
              <a:ext cx="1221948" cy="70597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DD61C9-475B-0A3B-BA0B-9CF15B10234D}"/>
                    </a:ext>
                  </a:extLst>
                </p:cNvPr>
                <p:cNvSpPr txBox="1"/>
                <p:nvPr/>
              </p:nvSpPr>
              <p:spPr>
                <a:xfrm>
                  <a:off x="2771355" y="3377405"/>
                  <a:ext cx="930703" cy="519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𝐽</m:t>
                            </m:r>
                          </m:e>
                          <m:sub>
                            <m:r>
                              <a:rPr lang="en-GB" sz="1200" b="0" i="1" smtClean="0">
                                <a:latin typeface="Cambria Math" panose="02040503050406030204" pitchFamily="18" charset="0"/>
                              </a:rPr>
                              <m:t>𝑒𝑣</m:t>
                            </m:r>
                          </m:sub>
                        </m:sSub>
                        <m:r>
                          <a:rPr lang="en-GB" sz="1200" b="0" i="1" smtClean="0">
                            <a:latin typeface="Cambria Math" panose="02040503050406030204" pitchFamily="18" charset="0"/>
                          </a:rPr>
                          <m:t>=</m:t>
                        </m:r>
                        <m:nary>
                          <m:naryPr>
                            <m:chr m:val="∑"/>
                            <m:ctrlPr>
                              <a:rPr lang="en-GB" sz="1200" b="0" i="1" smtClean="0">
                                <a:latin typeface="Cambria Math" panose="02040503050406030204" pitchFamily="18" charset="0"/>
                              </a:rPr>
                            </m:ctrlPr>
                          </m:naryPr>
                          <m:sub>
                            <m:r>
                              <m:rPr>
                                <m:brk m:alnAt="23"/>
                              </m:rPr>
                              <a:rPr lang="en-GB" sz="1200" b="0" i="1" smtClean="0">
                                <a:latin typeface="Cambria Math" panose="02040503050406030204" pitchFamily="18" charset="0"/>
                              </a:rPr>
                              <m:t>𝑖</m:t>
                            </m:r>
                            <m:r>
                              <a:rPr lang="en-GB" sz="1200" b="0" i="1" smtClean="0">
                                <a:latin typeface="Cambria Math" panose="02040503050406030204" pitchFamily="18" charset="0"/>
                              </a:rPr>
                              <m:t>=0</m:t>
                            </m:r>
                          </m:sub>
                          <m:sup>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𝑒𝑣</m:t>
                                </m:r>
                              </m:sub>
                            </m:sSub>
                          </m:sup>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𝑒𝑣</m:t>
                                </m:r>
                                <m:r>
                                  <a:rPr lang="en-GB" sz="1200" b="0" i="1" smtClean="0">
                                    <a:latin typeface="Cambria Math" panose="02040503050406030204" pitchFamily="18" charset="0"/>
                                  </a:rPr>
                                  <m:t>,</m:t>
                                </m:r>
                                <m:r>
                                  <a:rPr lang="en-GB" sz="1200" b="0" i="1" smtClean="0">
                                    <a:latin typeface="Cambria Math" panose="02040503050406030204" pitchFamily="18" charset="0"/>
                                  </a:rPr>
                                  <m:t>𝑖</m:t>
                                </m:r>
                              </m:sub>
                            </m:sSub>
                          </m:e>
                        </m:nary>
                      </m:oMath>
                    </m:oMathPara>
                  </a14:m>
                  <a:endParaRPr lang="en-DE" sz="1200" dirty="0"/>
                </a:p>
              </p:txBody>
            </p:sp>
          </mc:Choice>
          <mc:Fallback xmlns="">
            <p:sp>
              <p:nvSpPr>
                <p:cNvPr id="9" name="TextBox 8">
                  <a:extLst>
                    <a:ext uri="{FF2B5EF4-FFF2-40B4-BE49-F238E27FC236}">
                      <a16:creationId xmlns:a16="http://schemas.microsoft.com/office/drawing/2014/main" id="{D1DD61C9-475B-0A3B-BA0B-9CF15B10234D}"/>
                    </a:ext>
                  </a:extLst>
                </p:cNvPr>
                <p:cNvSpPr txBox="1">
                  <a:spLocks noRot="1" noChangeAspect="1" noMove="1" noResize="1" noEditPoints="1" noAdjustHandles="1" noChangeArrowheads="1" noChangeShapeType="1" noTextEdit="1"/>
                </p:cNvSpPr>
                <p:nvPr/>
              </p:nvSpPr>
              <p:spPr>
                <a:xfrm>
                  <a:off x="2771355" y="3377405"/>
                  <a:ext cx="930703" cy="519501"/>
                </a:xfrm>
                <a:prstGeom prst="rect">
                  <a:avLst/>
                </a:prstGeom>
                <a:blipFill>
                  <a:blip r:embed="rId5"/>
                  <a:stretch>
                    <a:fillRect/>
                  </a:stretch>
                </a:blipFill>
              </p:spPr>
              <p:txBody>
                <a:bodyPr/>
                <a:lstStyle/>
                <a:p>
                  <a:r>
                    <a:rPr lang="en-DE">
                      <a:noFill/>
                    </a:rPr>
                    <a:t> </a:t>
                  </a:r>
                </a:p>
              </p:txBody>
            </p:sp>
          </mc:Fallback>
        </mc:AlternateContent>
      </p:grpSp>
      <p:grpSp>
        <p:nvGrpSpPr>
          <p:cNvPr id="20" name="Group 19">
            <a:extLst>
              <a:ext uri="{FF2B5EF4-FFF2-40B4-BE49-F238E27FC236}">
                <a16:creationId xmlns:a16="http://schemas.microsoft.com/office/drawing/2014/main" id="{10056D6B-0F42-FAC7-49C5-F8EE158C9B76}"/>
              </a:ext>
            </a:extLst>
          </p:cNvPr>
          <p:cNvGrpSpPr/>
          <p:nvPr/>
        </p:nvGrpSpPr>
        <p:grpSpPr>
          <a:xfrm>
            <a:off x="5688106" y="2302105"/>
            <a:ext cx="2413746" cy="1014231"/>
            <a:chOff x="5688106" y="2011357"/>
            <a:chExt cx="2413746" cy="1014231"/>
          </a:xfrm>
        </p:grpSpPr>
        <p:sp>
          <p:nvSpPr>
            <p:cNvPr id="16" name="Rectangle 15">
              <a:extLst>
                <a:ext uri="{FF2B5EF4-FFF2-40B4-BE49-F238E27FC236}">
                  <a16:creationId xmlns:a16="http://schemas.microsoft.com/office/drawing/2014/main" id="{3B4FF2CA-C209-B38F-6B18-19C72C73E61A}"/>
                </a:ext>
              </a:extLst>
            </p:cNvPr>
            <p:cNvSpPr/>
            <p:nvPr/>
          </p:nvSpPr>
          <p:spPr>
            <a:xfrm>
              <a:off x="5688106" y="2011357"/>
              <a:ext cx="2413746" cy="101423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3392EE7-CF95-379C-C697-D906618B3327}"/>
                    </a:ext>
                  </a:extLst>
                </p:cNvPr>
                <p:cNvSpPr txBox="1"/>
                <p:nvPr/>
              </p:nvSpPr>
              <p:spPr>
                <a:xfrm>
                  <a:off x="5837524" y="2097988"/>
                  <a:ext cx="2092368" cy="8324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𝐽</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m>
                              <m:mPr>
                                <m:mcs>
                                  <m:mc>
                                    <m:mcPr>
                                      <m:count m:val="1"/>
                                      <m:mcJc m:val="center"/>
                                    </m:mcPr>
                                  </m:mc>
                                </m:mcs>
                                <m:ctrlPr>
                                  <a:rPr lang="en-GB" sz="1200" b="0" i="1" smtClean="0">
                                    <a:latin typeface="Cambria Math" panose="02040503050406030204" pitchFamily="18" charset="0"/>
                                  </a:rPr>
                                </m:ctrlPr>
                              </m:mPr>
                              <m:mr>
                                <m:e>
                                  <m:r>
                                    <m:rPr>
                                      <m:brk m:alnAt="7"/>
                                    </m:rPr>
                                    <a:rPr lang="en-GB" sz="1200" b="0" i="1" smtClean="0">
                                      <a:latin typeface="Cambria Math" panose="02040503050406030204" pitchFamily="18" charset="0"/>
                                    </a:rPr>
                                    <m:t>0</m:t>
                                  </m:r>
                                  <m:r>
                                    <a:rPr lang="en-GB" sz="1200" b="0" i="1" smtClean="0">
                                      <a:latin typeface="Cambria Math" panose="02040503050406030204" pitchFamily="18" charset="0"/>
                                    </a:rPr>
                                    <m:t>,   </m:t>
                                  </m:r>
                                  <m:r>
                                    <a:rPr lang="en-GB" sz="1200" b="0" i="1" smtClean="0">
                                      <a:latin typeface="Cambria Math" panose="02040503050406030204" pitchFamily="18" charset="0"/>
                                    </a:rPr>
                                    <m:t>𝑖𝑓</m:t>
                                  </m:r>
                                  <m:r>
                                    <a:rPr lang="en-GB" sz="1200" b="0" i="1" smtClean="0">
                                      <a:latin typeface="Cambria Math" panose="02040503050406030204" pitchFamily="18" charset="0"/>
                                    </a:rPr>
                                    <m:t> </m:t>
                                  </m:r>
                                  <m:sSub>
                                    <m:sSubPr>
                                      <m:ctrlPr>
                                        <a:rPr lang="en-GB" sz="1200" b="0" i="1" smtClean="0">
                                          <a:latin typeface="Cambria Math" panose="02040503050406030204" pitchFamily="18" charset="0"/>
                                        </a:rPr>
                                      </m:ctrlPr>
                                    </m:sSubPr>
                                    <m:e>
                                      <m:r>
                                        <m:rPr>
                                          <m:brk m:alnAt="7"/>
                                        </m:rPr>
                                        <a:rPr lang="en-GB" sz="1200" b="0" i="1" smtClean="0">
                                          <a:latin typeface="Cambria Math" panose="02040503050406030204" pitchFamily="18" charset="0"/>
                                        </a:rPr>
                                        <m:t>𝑁</m:t>
                                      </m:r>
                                    </m:e>
                                    <m:sub>
                                      <m:r>
                                        <m:rPr>
                                          <m:brk m:alnAt="7"/>
                                        </m:rPr>
                                        <a:rPr lang="en-GB" sz="1200" b="0" i="1" smtClean="0">
                                          <a:latin typeface="Cambria Math" panose="02040503050406030204" pitchFamily="18" charset="0"/>
                                        </a:rPr>
                                        <m:t>𝑏</m:t>
                                      </m:r>
                                      <m:r>
                                        <a:rPr lang="en-GB" sz="1200" b="0" i="1" smtClean="0">
                                          <a:latin typeface="Cambria Math" panose="02040503050406030204" pitchFamily="18" charset="0"/>
                                        </a:rPr>
                                        <m:t>𝑎𝑡</m:t>
                                      </m:r>
                                    </m:sub>
                                  </m:sSub>
                                  <m:r>
                                    <m:rPr>
                                      <m:brk m:alnAt="7"/>
                                    </m:rPr>
                                    <a:rPr lang="en-GB" sz="1200" b="0" i="1" smtClean="0">
                                      <a:latin typeface="Cambria Math" panose="02040503050406030204" pitchFamily="18" charset="0"/>
                                    </a:rPr>
                                    <m:t>=</m:t>
                                  </m:r>
                                  <m:r>
                                    <a:rPr lang="en-GB" sz="1200" b="0" i="1" smtClean="0">
                                      <a:latin typeface="Cambria Math" panose="02040503050406030204" pitchFamily="18" charset="0"/>
                                    </a:rPr>
                                    <m:t>0</m:t>
                                  </m:r>
                                </m:e>
                              </m:mr>
                              <m:mr>
                                <m:e>
                                  <m:nary>
                                    <m:naryPr>
                                      <m:chr m:val="∑"/>
                                      <m:ctrlPr>
                                        <a:rPr lang="en-GB" sz="1200" b="0" i="1" smtClean="0">
                                          <a:latin typeface="Cambria Math" panose="02040503050406030204" pitchFamily="18" charset="0"/>
                                        </a:rPr>
                                      </m:ctrlPr>
                                    </m:naryPr>
                                    <m:sub>
                                      <m:r>
                                        <m:rPr>
                                          <m:brk m:alnAt="23"/>
                                        </m:rPr>
                                        <a:rPr lang="en-GB" sz="1200" b="0" i="1" smtClean="0">
                                          <a:latin typeface="Cambria Math" panose="02040503050406030204" pitchFamily="18" charset="0"/>
                                        </a:rPr>
                                        <m:t>𝑖</m:t>
                                      </m:r>
                                      <m:r>
                                        <a:rPr lang="en-GB" sz="1200" b="0" i="1" smtClean="0">
                                          <a:latin typeface="Cambria Math" panose="02040503050406030204" pitchFamily="18" charset="0"/>
                                        </a:rPr>
                                        <m:t>=0</m:t>
                                      </m:r>
                                    </m:sub>
                                    <m:sup>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sup>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𝑏𝑎𝑡</m:t>
                                          </m:r>
                                          <m:r>
                                            <a:rPr lang="en-GB" sz="1200" b="0" i="1" smtClean="0">
                                              <a:latin typeface="Cambria Math" panose="02040503050406030204" pitchFamily="18" charset="0"/>
                                            </a:rPr>
                                            <m:t>,</m:t>
                                          </m:r>
                                          <m:r>
                                            <a:rPr lang="en-GB" sz="1200" b="0" i="1" smtClean="0">
                                              <a:latin typeface="Cambria Math" panose="02040503050406030204" pitchFamily="18" charset="0"/>
                                            </a:rPr>
                                            <m:t>𝑖</m:t>
                                          </m:r>
                                        </m:sub>
                                      </m:sSub>
                                    </m:e>
                                  </m:nary>
                                  <m:r>
                                    <a:rPr lang="en-GB" sz="1200" b="0" i="1" smtClean="0">
                                      <a:latin typeface="Cambria Math" panose="02040503050406030204" pitchFamily="18" charset="0"/>
                                    </a:rPr>
                                    <m:t>   </m:t>
                                  </m:r>
                                  <m:r>
                                    <a:rPr lang="en-GB" sz="1200" b="0" i="1" smtClean="0">
                                      <a:latin typeface="Cambria Math" panose="02040503050406030204" pitchFamily="18" charset="0"/>
                                    </a:rPr>
                                    <m:t>𝑖𝑓</m:t>
                                  </m:r>
                                  <m:r>
                                    <a:rPr lang="en-GB" sz="1200" b="0" i="1" smtClean="0">
                                      <a:latin typeface="Cambria Math" panose="02040503050406030204" pitchFamily="18" charset="0"/>
                                    </a:rPr>
                                    <m:t> </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&gt;0</m:t>
                                  </m:r>
                                </m:e>
                              </m:mr>
                            </m:m>
                          </m:e>
                        </m:d>
                      </m:oMath>
                    </m:oMathPara>
                  </a14:m>
                  <a:endParaRPr lang="en-DE" sz="1200" dirty="0"/>
                </a:p>
              </p:txBody>
            </p:sp>
          </mc:Choice>
          <mc:Fallback xmlns="">
            <p:sp>
              <p:nvSpPr>
                <p:cNvPr id="10" name="TextBox 9">
                  <a:extLst>
                    <a:ext uri="{FF2B5EF4-FFF2-40B4-BE49-F238E27FC236}">
                      <a16:creationId xmlns:a16="http://schemas.microsoft.com/office/drawing/2014/main" id="{43392EE7-CF95-379C-C697-D906618B3327}"/>
                    </a:ext>
                  </a:extLst>
                </p:cNvPr>
                <p:cNvSpPr txBox="1">
                  <a:spLocks noRot="1" noChangeAspect="1" noMove="1" noResize="1" noEditPoints="1" noAdjustHandles="1" noChangeArrowheads="1" noChangeShapeType="1" noTextEdit="1"/>
                </p:cNvSpPr>
                <p:nvPr/>
              </p:nvSpPr>
              <p:spPr>
                <a:xfrm>
                  <a:off x="5837524" y="2097988"/>
                  <a:ext cx="2092368" cy="832407"/>
                </a:xfrm>
                <a:prstGeom prst="rect">
                  <a:avLst/>
                </a:prstGeom>
                <a:blipFill>
                  <a:blip r:embed="rId6"/>
                  <a:stretch>
                    <a:fillRect/>
                  </a:stretch>
                </a:blipFill>
              </p:spPr>
              <p:txBody>
                <a:bodyPr/>
                <a:lstStyle/>
                <a:p>
                  <a:r>
                    <a:rPr lang="en-DE">
                      <a:noFill/>
                    </a:rPr>
                    <a:t> </a:t>
                  </a:r>
                </a:p>
              </p:txBody>
            </p:sp>
          </mc:Fallback>
        </mc:AlternateContent>
      </p:grpSp>
      <p:grpSp>
        <p:nvGrpSpPr>
          <p:cNvPr id="21" name="Group 20">
            <a:extLst>
              <a:ext uri="{FF2B5EF4-FFF2-40B4-BE49-F238E27FC236}">
                <a16:creationId xmlns:a16="http://schemas.microsoft.com/office/drawing/2014/main" id="{5C9F3930-9B43-097B-96A2-E15138079E39}"/>
              </a:ext>
            </a:extLst>
          </p:cNvPr>
          <p:cNvGrpSpPr/>
          <p:nvPr/>
        </p:nvGrpSpPr>
        <p:grpSpPr>
          <a:xfrm>
            <a:off x="5688106" y="3570351"/>
            <a:ext cx="2413746" cy="987051"/>
            <a:chOff x="5688106" y="3201708"/>
            <a:chExt cx="2413746" cy="987051"/>
          </a:xfrm>
        </p:grpSpPr>
        <p:sp>
          <p:nvSpPr>
            <p:cNvPr id="17" name="Rectangle 16">
              <a:extLst>
                <a:ext uri="{FF2B5EF4-FFF2-40B4-BE49-F238E27FC236}">
                  <a16:creationId xmlns:a16="http://schemas.microsoft.com/office/drawing/2014/main" id="{103800DF-BF8C-ED21-AF66-39A42F7E0CA8}"/>
                </a:ext>
              </a:extLst>
            </p:cNvPr>
            <p:cNvSpPr/>
            <p:nvPr/>
          </p:nvSpPr>
          <p:spPr>
            <a:xfrm>
              <a:off x="5688106" y="3201708"/>
              <a:ext cx="2413746" cy="987051"/>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C9D292F-3251-D3F4-6A40-0667DF2DEB1B}"/>
                    </a:ext>
                  </a:extLst>
                </p:cNvPr>
                <p:cNvSpPr txBox="1"/>
                <p:nvPr/>
              </p:nvSpPr>
              <p:spPr>
                <a:xfrm>
                  <a:off x="5837524" y="3255496"/>
                  <a:ext cx="1853521" cy="8324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𝐽</m:t>
                            </m:r>
                          </m:e>
                          <m:sub>
                            <m:r>
                              <a:rPr lang="en-GB" sz="1200" b="0" i="1" smtClean="0">
                                <a:latin typeface="Cambria Math" panose="02040503050406030204" pitchFamily="18" charset="0"/>
                              </a:rPr>
                              <m:t>𝑒𝑣</m:t>
                            </m:r>
                          </m:sub>
                        </m:sSub>
                        <m:r>
                          <a:rPr lang="en-GB" sz="1200" b="0" i="1" smtClean="0">
                            <a:latin typeface="Cambria Math" panose="02040503050406030204" pitchFamily="18" charset="0"/>
                          </a:rPr>
                          <m:t>=</m:t>
                        </m:r>
                        <m:d>
                          <m:dPr>
                            <m:begChr m:val="{"/>
                            <m:endChr m:val=""/>
                            <m:ctrlPr>
                              <a:rPr lang="en-GB" sz="1200" b="0" i="1" smtClean="0">
                                <a:latin typeface="Cambria Math" panose="02040503050406030204" pitchFamily="18" charset="0"/>
                              </a:rPr>
                            </m:ctrlPr>
                          </m:dPr>
                          <m:e>
                            <m:m>
                              <m:mPr>
                                <m:mcs>
                                  <m:mc>
                                    <m:mcPr>
                                      <m:count m:val="1"/>
                                      <m:mcJc m:val="center"/>
                                    </m:mcPr>
                                  </m:mc>
                                </m:mcs>
                                <m:ctrlPr>
                                  <a:rPr lang="en-GB" sz="1200" b="0" i="1" smtClean="0">
                                    <a:latin typeface="Cambria Math" panose="02040503050406030204" pitchFamily="18" charset="0"/>
                                  </a:rPr>
                                </m:ctrlPr>
                              </m:mPr>
                              <m:mr>
                                <m:e>
                                  <m:r>
                                    <m:rPr>
                                      <m:brk m:alnAt="7"/>
                                    </m:rPr>
                                    <a:rPr lang="en-GB" sz="1200" b="0" i="1" smtClean="0">
                                      <a:latin typeface="Cambria Math" panose="02040503050406030204" pitchFamily="18" charset="0"/>
                                    </a:rPr>
                                    <m:t>0</m:t>
                                  </m:r>
                                  <m:r>
                                    <a:rPr lang="en-GB" sz="1200" b="0" i="1" smtClean="0">
                                      <a:latin typeface="Cambria Math" panose="02040503050406030204" pitchFamily="18" charset="0"/>
                                    </a:rPr>
                                    <m:t>,   </m:t>
                                  </m:r>
                                  <m:r>
                                    <a:rPr lang="en-GB" sz="1200" b="0" i="1" smtClean="0">
                                      <a:latin typeface="Cambria Math" panose="02040503050406030204" pitchFamily="18" charset="0"/>
                                    </a:rPr>
                                    <m:t>𝑖𝑓</m:t>
                                  </m:r>
                                  <m:r>
                                    <a:rPr lang="en-GB" sz="1200" b="0" i="1" smtClean="0">
                                      <a:latin typeface="Cambria Math" panose="02040503050406030204" pitchFamily="18" charset="0"/>
                                    </a:rPr>
                                    <m:t> </m:t>
                                  </m:r>
                                  <m:sSub>
                                    <m:sSubPr>
                                      <m:ctrlPr>
                                        <a:rPr lang="en-GB" sz="1200" b="0" i="1" smtClean="0">
                                          <a:latin typeface="Cambria Math" panose="02040503050406030204" pitchFamily="18" charset="0"/>
                                        </a:rPr>
                                      </m:ctrlPr>
                                    </m:sSubPr>
                                    <m:e>
                                      <m:r>
                                        <m:rPr>
                                          <m:brk m:alnAt="7"/>
                                        </m:rPr>
                                        <a:rPr lang="en-GB" sz="1200" b="0" i="1" smtClean="0">
                                          <a:latin typeface="Cambria Math" panose="02040503050406030204" pitchFamily="18" charset="0"/>
                                        </a:rPr>
                                        <m:t>𝑁</m:t>
                                      </m:r>
                                    </m:e>
                                    <m:sub>
                                      <m:r>
                                        <a:rPr lang="en-GB" sz="1200" b="0" i="1" smtClean="0">
                                          <a:latin typeface="Cambria Math" panose="02040503050406030204" pitchFamily="18" charset="0"/>
                                        </a:rPr>
                                        <m:t>𝑒𝑣</m:t>
                                      </m:r>
                                    </m:sub>
                                  </m:sSub>
                                  <m:r>
                                    <m:rPr>
                                      <m:brk m:alnAt="7"/>
                                    </m:rPr>
                                    <a:rPr lang="en-GB" sz="1200" b="0" i="1" smtClean="0">
                                      <a:latin typeface="Cambria Math" panose="02040503050406030204" pitchFamily="18" charset="0"/>
                                    </a:rPr>
                                    <m:t>=</m:t>
                                  </m:r>
                                  <m:r>
                                    <a:rPr lang="en-GB" sz="1200" b="0" i="1" smtClean="0">
                                      <a:latin typeface="Cambria Math" panose="02040503050406030204" pitchFamily="18" charset="0"/>
                                    </a:rPr>
                                    <m:t>0</m:t>
                                  </m:r>
                                </m:e>
                              </m:mr>
                              <m:mr>
                                <m:e>
                                  <m:nary>
                                    <m:naryPr>
                                      <m:chr m:val="∑"/>
                                      <m:ctrlPr>
                                        <a:rPr lang="en-GB" sz="1200" b="0" i="1" smtClean="0">
                                          <a:latin typeface="Cambria Math" panose="02040503050406030204" pitchFamily="18" charset="0"/>
                                        </a:rPr>
                                      </m:ctrlPr>
                                    </m:naryPr>
                                    <m:sub>
                                      <m:r>
                                        <m:rPr>
                                          <m:brk m:alnAt="23"/>
                                        </m:rPr>
                                        <a:rPr lang="en-GB" sz="1200" b="0" i="1" smtClean="0">
                                          <a:latin typeface="Cambria Math" panose="02040503050406030204" pitchFamily="18" charset="0"/>
                                        </a:rPr>
                                        <m:t>𝑖</m:t>
                                      </m:r>
                                      <m:r>
                                        <a:rPr lang="en-GB" sz="1200" b="0" i="1" smtClean="0">
                                          <a:latin typeface="Cambria Math" panose="02040503050406030204" pitchFamily="18" charset="0"/>
                                        </a:rPr>
                                        <m:t>=0</m:t>
                                      </m:r>
                                    </m:sub>
                                    <m:sup>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𝑒𝑣</m:t>
                                          </m:r>
                                        </m:sub>
                                      </m:sSub>
                                    </m:sup>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𝑒𝑣</m:t>
                                          </m:r>
                                          <m:r>
                                            <a:rPr lang="en-GB" sz="1200" b="0" i="1" smtClean="0">
                                              <a:latin typeface="Cambria Math" panose="02040503050406030204" pitchFamily="18" charset="0"/>
                                            </a:rPr>
                                            <m:t>,</m:t>
                                          </m:r>
                                          <m:r>
                                            <a:rPr lang="en-GB" sz="1200" b="0" i="1" smtClean="0">
                                              <a:latin typeface="Cambria Math" panose="02040503050406030204" pitchFamily="18" charset="0"/>
                                            </a:rPr>
                                            <m:t>𝑖</m:t>
                                          </m:r>
                                        </m:sub>
                                      </m:sSub>
                                    </m:e>
                                  </m:nary>
                                  <m:r>
                                    <a:rPr lang="en-GB" sz="1200" b="0" i="1" smtClean="0">
                                      <a:latin typeface="Cambria Math" panose="02040503050406030204" pitchFamily="18" charset="0"/>
                                    </a:rPr>
                                    <m:t>   </m:t>
                                  </m:r>
                                  <m:r>
                                    <a:rPr lang="en-GB" sz="1200" b="0" i="1" smtClean="0">
                                      <a:latin typeface="Cambria Math" panose="02040503050406030204" pitchFamily="18" charset="0"/>
                                    </a:rPr>
                                    <m:t>𝑖𝑓</m:t>
                                  </m:r>
                                  <m:r>
                                    <a:rPr lang="en-GB" sz="1200" b="0" i="1" smtClean="0">
                                      <a:latin typeface="Cambria Math" panose="02040503050406030204" pitchFamily="18" charset="0"/>
                                    </a:rPr>
                                    <m:t> </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𝑁</m:t>
                                      </m:r>
                                    </m:e>
                                    <m:sub>
                                      <m:r>
                                        <a:rPr lang="en-GB" sz="1200" b="0" i="1" smtClean="0">
                                          <a:latin typeface="Cambria Math" panose="02040503050406030204" pitchFamily="18" charset="0"/>
                                        </a:rPr>
                                        <m:t>𝑒𝑣</m:t>
                                      </m:r>
                                    </m:sub>
                                  </m:sSub>
                                  <m:r>
                                    <a:rPr lang="en-GB" sz="1200" b="0" i="1" smtClean="0">
                                      <a:latin typeface="Cambria Math" panose="02040503050406030204" pitchFamily="18" charset="0"/>
                                    </a:rPr>
                                    <m:t>&gt;0</m:t>
                                  </m:r>
                                </m:e>
                              </m:mr>
                            </m:m>
                          </m:e>
                        </m:d>
                      </m:oMath>
                    </m:oMathPara>
                  </a14:m>
                  <a:endParaRPr lang="en-DE" sz="1200" dirty="0"/>
                </a:p>
              </p:txBody>
            </p:sp>
          </mc:Choice>
          <mc:Fallback xmlns="">
            <p:sp>
              <p:nvSpPr>
                <p:cNvPr id="11" name="TextBox 10">
                  <a:extLst>
                    <a:ext uri="{FF2B5EF4-FFF2-40B4-BE49-F238E27FC236}">
                      <a16:creationId xmlns:a16="http://schemas.microsoft.com/office/drawing/2014/main" id="{6C9D292F-3251-D3F4-6A40-0667DF2DEB1B}"/>
                    </a:ext>
                  </a:extLst>
                </p:cNvPr>
                <p:cNvSpPr txBox="1">
                  <a:spLocks noRot="1" noChangeAspect="1" noMove="1" noResize="1" noEditPoints="1" noAdjustHandles="1" noChangeArrowheads="1" noChangeShapeType="1" noTextEdit="1"/>
                </p:cNvSpPr>
                <p:nvPr/>
              </p:nvSpPr>
              <p:spPr>
                <a:xfrm>
                  <a:off x="5837524" y="3255496"/>
                  <a:ext cx="1853521" cy="832407"/>
                </a:xfrm>
                <a:prstGeom prst="rect">
                  <a:avLst/>
                </a:prstGeom>
                <a:blipFill>
                  <a:blip r:embed="rId7"/>
                  <a:stretch>
                    <a:fillRect/>
                  </a:stretch>
                </a:blipFill>
              </p:spPr>
              <p:txBody>
                <a:bodyPr/>
                <a:lstStyle/>
                <a:p>
                  <a:r>
                    <a:rPr lang="en-DE">
                      <a:noFill/>
                    </a:rPr>
                    <a:t> </a:t>
                  </a:r>
                </a:p>
              </p:txBody>
            </p:sp>
          </mc:Fallback>
        </mc:AlternateContent>
      </p:grpSp>
      <p:cxnSp>
        <p:nvCxnSpPr>
          <p:cNvPr id="36" name="Connector: Elbow 35">
            <a:extLst>
              <a:ext uri="{FF2B5EF4-FFF2-40B4-BE49-F238E27FC236}">
                <a16:creationId xmlns:a16="http://schemas.microsoft.com/office/drawing/2014/main" id="{01348C91-5DFF-DC7C-D0D7-86F2E0A23A62}"/>
              </a:ext>
            </a:extLst>
          </p:cNvPr>
          <p:cNvCxnSpPr/>
          <p:nvPr/>
        </p:nvCxnSpPr>
        <p:spPr>
          <a:xfrm flipV="1">
            <a:off x="2010666" y="2827592"/>
            <a:ext cx="1371269" cy="211443"/>
          </a:xfrm>
          <a:prstGeom prst="bentConnector3">
            <a:avLst>
              <a:gd name="adj1" fmla="val -12"/>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6ED31223-3378-7F39-E669-183E1B730FB9}"/>
              </a:ext>
            </a:extLst>
          </p:cNvPr>
          <p:cNvCxnSpPr/>
          <p:nvPr/>
        </p:nvCxnSpPr>
        <p:spPr>
          <a:xfrm>
            <a:off x="2349645" y="3624139"/>
            <a:ext cx="1097002" cy="439737"/>
          </a:xfrm>
          <a:prstGeom prst="bentConnector3">
            <a:avLst>
              <a:gd name="adj1" fmla="val -258"/>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CC69D20-6A48-339B-6C6D-5C8B5110B6DC}"/>
              </a:ext>
            </a:extLst>
          </p:cNvPr>
          <p:cNvCxnSpPr/>
          <p:nvPr/>
        </p:nvCxnSpPr>
        <p:spPr>
          <a:xfrm>
            <a:off x="4901453" y="2827592"/>
            <a:ext cx="6656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BBD783D-57D5-4520-B194-139779ADE973}"/>
              </a:ext>
            </a:extLst>
          </p:cNvPr>
          <p:cNvCxnSpPr/>
          <p:nvPr/>
        </p:nvCxnSpPr>
        <p:spPr>
          <a:xfrm>
            <a:off x="4901453" y="4063876"/>
            <a:ext cx="6656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8332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08B59B2-4B47-6C6E-C7B5-584FA1B6CB5D}"/>
              </a:ext>
            </a:extLst>
          </p:cNvPr>
          <p:cNvSpPr/>
          <p:nvPr/>
        </p:nvSpPr>
        <p:spPr>
          <a:xfrm>
            <a:off x="564776" y="2555149"/>
            <a:ext cx="4901453" cy="140707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p:sp>
        <p:nvSpPr>
          <p:cNvPr id="23" name="Rectangle 22">
            <a:extLst>
              <a:ext uri="{FF2B5EF4-FFF2-40B4-BE49-F238E27FC236}">
                <a16:creationId xmlns:a16="http://schemas.microsoft.com/office/drawing/2014/main" id="{0792167F-6D92-CB95-DFE7-E77A7D063220}"/>
              </a:ext>
            </a:extLst>
          </p:cNvPr>
          <p:cNvSpPr/>
          <p:nvPr/>
        </p:nvSpPr>
        <p:spPr>
          <a:xfrm>
            <a:off x="564776" y="993229"/>
            <a:ext cx="4538383" cy="140707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p:sp>
        <p:nvSpPr>
          <p:cNvPr id="3" name="Title 2">
            <a:extLst>
              <a:ext uri="{FF2B5EF4-FFF2-40B4-BE49-F238E27FC236}">
                <a16:creationId xmlns:a16="http://schemas.microsoft.com/office/drawing/2014/main" id="{35E6B978-68FE-D85C-8546-6800DAE4D6CC}"/>
              </a:ext>
            </a:extLst>
          </p:cNvPr>
          <p:cNvSpPr>
            <a:spLocks noGrp="1"/>
          </p:cNvSpPr>
          <p:nvPr>
            <p:ph type="title"/>
          </p:nvPr>
        </p:nvSpPr>
        <p:spPr/>
        <p:txBody>
          <a:bodyPr/>
          <a:lstStyle/>
          <a:p>
            <a:r>
              <a:rPr lang="en-GB" dirty="0"/>
              <a:t>Modular MPC</a:t>
            </a:r>
            <a:endParaRPr lang="en-DE" dirty="0"/>
          </a:p>
        </p:txBody>
      </p:sp>
      <p:sp>
        <p:nvSpPr>
          <p:cNvPr id="6" name="TextBox 5">
            <a:extLst>
              <a:ext uri="{FF2B5EF4-FFF2-40B4-BE49-F238E27FC236}">
                <a16:creationId xmlns:a16="http://schemas.microsoft.com/office/drawing/2014/main" id="{93F6B35C-3B98-51FB-C494-5B6EFB28D157}"/>
              </a:ext>
            </a:extLst>
          </p:cNvPr>
          <p:cNvSpPr txBox="1"/>
          <p:nvPr/>
        </p:nvSpPr>
        <p:spPr>
          <a:xfrm>
            <a:off x="564776" y="993229"/>
            <a:ext cx="4480457" cy="1569660"/>
          </a:xfrm>
          <a:prstGeom prst="rect">
            <a:avLst/>
          </a:prstGeom>
          <a:noFill/>
        </p:spPr>
        <p:txBody>
          <a:bodyPr wrap="none" rtlCol="0">
            <a:spAutoFit/>
          </a:bodyPr>
          <a:lstStyle/>
          <a:p>
            <a:r>
              <a:rPr lang="en-GB" sz="1200" dirty="0"/>
              <a:t>The user is required to input the following parameter for the battery:</a:t>
            </a:r>
          </a:p>
          <a:p>
            <a:pPr marL="285750" indent="-285750">
              <a:buFont typeface="Arial" panose="020B0604020202020204" pitchFamily="34" charset="0"/>
              <a:buChar char="•"/>
            </a:pPr>
            <a:r>
              <a:rPr lang="en-GB" sz="1200" dirty="0"/>
              <a:t>Initial value of SOC [kWh]</a:t>
            </a:r>
          </a:p>
          <a:p>
            <a:pPr marL="285750" indent="-285750">
              <a:buFont typeface="Arial" panose="020B0604020202020204" pitchFamily="34" charset="0"/>
              <a:buChar char="•"/>
            </a:pPr>
            <a:r>
              <a:rPr lang="en-GB" sz="1200" dirty="0"/>
              <a:t>Efficiency Coefficient, </a:t>
            </a:r>
            <a:r>
              <a:rPr lang="en-GB" sz="1200" dirty="0" err="1"/>
              <a:t>eta_bat</a:t>
            </a:r>
            <a:endParaRPr lang="en-GB" sz="1200" dirty="0"/>
          </a:p>
          <a:p>
            <a:pPr marL="285750" indent="-285750">
              <a:buFont typeface="Arial" panose="020B0604020202020204" pitchFamily="34" charset="0"/>
              <a:buChar char="•"/>
            </a:pPr>
            <a:r>
              <a:rPr lang="en-GB" sz="1200" dirty="0"/>
              <a:t>Min SOC value [kWh] – Used for state constraint</a:t>
            </a:r>
          </a:p>
          <a:p>
            <a:pPr marL="285750" indent="-285750">
              <a:buFont typeface="Arial" panose="020B0604020202020204" pitchFamily="34" charset="0"/>
              <a:buChar char="•"/>
            </a:pPr>
            <a:r>
              <a:rPr lang="en-GB" sz="1200" dirty="0"/>
              <a:t>Max SOC value [kWh] – Used for state constraint</a:t>
            </a:r>
          </a:p>
          <a:p>
            <a:pPr marL="285750" indent="-285750">
              <a:buFont typeface="Arial" panose="020B0604020202020204" pitchFamily="34" charset="0"/>
              <a:buChar char="•"/>
            </a:pPr>
            <a:r>
              <a:rPr lang="en-GB" sz="1200" dirty="0"/>
              <a:t>Max discharging power[kW] – Used for input constraint</a:t>
            </a:r>
          </a:p>
          <a:p>
            <a:pPr marL="285750" indent="-285750">
              <a:buFont typeface="Arial" panose="020B0604020202020204" pitchFamily="34" charset="0"/>
              <a:buChar char="•"/>
            </a:pPr>
            <a:r>
              <a:rPr lang="en-GB" sz="1200" dirty="0"/>
              <a:t>Max charging power[kW] – Used for input constraint</a:t>
            </a:r>
          </a:p>
          <a:p>
            <a:pPr marL="285750" indent="-285750">
              <a:buFont typeface="Arial" panose="020B0604020202020204" pitchFamily="34" charset="0"/>
              <a:buChar char="•"/>
            </a:pPr>
            <a:endParaRPr lang="en-DE" sz="1200" dirty="0"/>
          </a:p>
        </p:txBody>
      </p:sp>
      <p:sp>
        <p:nvSpPr>
          <p:cNvPr id="22" name="TextBox 21">
            <a:extLst>
              <a:ext uri="{FF2B5EF4-FFF2-40B4-BE49-F238E27FC236}">
                <a16:creationId xmlns:a16="http://schemas.microsoft.com/office/drawing/2014/main" id="{67C7C8B1-0ADA-EF2A-FA47-C3FDCACF1741}"/>
              </a:ext>
            </a:extLst>
          </p:cNvPr>
          <p:cNvSpPr txBox="1"/>
          <p:nvPr/>
        </p:nvSpPr>
        <p:spPr>
          <a:xfrm>
            <a:off x="564775" y="2555149"/>
            <a:ext cx="4962769" cy="1569660"/>
          </a:xfrm>
          <a:prstGeom prst="rect">
            <a:avLst/>
          </a:prstGeom>
          <a:noFill/>
        </p:spPr>
        <p:txBody>
          <a:bodyPr wrap="none" rtlCol="0">
            <a:spAutoFit/>
          </a:bodyPr>
          <a:lstStyle/>
          <a:p>
            <a:r>
              <a:rPr lang="en-GB" sz="1200" dirty="0"/>
              <a:t>The user is required to input the following parameter for the electric vehicle:</a:t>
            </a:r>
          </a:p>
          <a:p>
            <a:pPr marL="285750" indent="-285750">
              <a:buFont typeface="Arial" panose="020B0604020202020204" pitchFamily="34" charset="0"/>
              <a:buChar char="•"/>
            </a:pPr>
            <a:r>
              <a:rPr lang="en-GB" sz="1200" dirty="0"/>
              <a:t>Initial value of SOC [kWh]</a:t>
            </a:r>
          </a:p>
          <a:p>
            <a:pPr marL="285750" indent="-285750">
              <a:buFont typeface="Arial" panose="020B0604020202020204" pitchFamily="34" charset="0"/>
              <a:buChar char="•"/>
            </a:pPr>
            <a:r>
              <a:rPr lang="en-GB" sz="1200" dirty="0"/>
              <a:t>Efficiency Coefficient, </a:t>
            </a:r>
            <a:r>
              <a:rPr lang="en-GB" sz="1200" dirty="0" err="1"/>
              <a:t>eta_ev</a:t>
            </a:r>
            <a:endParaRPr lang="en-GB" sz="1200" dirty="0"/>
          </a:p>
          <a:p>
            <a:pPr marL="285750" indent="-285750">
              <a:buFont typeface="Arial" panose="020B0604020202020204" pitchFamily="34" charset="0"/>
              <a:buChar char="•"/>
            </a:pPr>
            <a:r>
              <a:rPr lang="en-GB" sz="1200" dirty="0"/>
              <a:t>Min SOC value [kWh] – Used for state constraint</a:t>
            </a:r>
          </a:p>
          <a:p>
            <a:pPr marL="285750" indent="-285750">
              <a:buFont typeface="Arial" panose="020B0604020202020204" pitchFamily="34" charset="0"/>
              <a:buChar char="•"/>
            </a:pPr>
            <a:r>
              <a:rPr lang="en-GB" sz="1200" dirty="0"/>
              <a:t>Max SOC value [kWh] – Used for state constraint</a:t>
            </a:r>
          </a:p>
          <a:p>
            <a:pPr marL="285750" indent="-285750">
              <a:buFont typeface="Arial" panose="020B0604020202020204" pitchFamily="34" charset="0"/>
              <a:buChar char="•"/>
            </a:pPr>
            <a:r>
              <a:rPr lang="en-GB" sz="1200" dirty="0"/>
              <a:t>Max discharging power[kW] – Used for input constraint</a:t>
            </a:r>
          </a:p>
          <a:p>
            <a:pPr marL="285750" indent="-285750">
              <a:buFont typeface="Arial" panose="020B0604020202020204" pitchFamily="34" charset="0"/>
              <a:buChar char="•"/>
            </a:pPr>
            <a:r>
              <a:rPr lang="en-GB" sz="1200" dirty="0"/>
              <a:t>Max charging power[kW] – Used for input constraint</a:t>
            </a:r>
          </a:p>
          <a:p>
            <a:pPr marL="285750" indent="-285750">
              <a:buFont typeface="Arial" panose="020B0604020202020204" pitchFamily="34" charset="0"/>
              <a:buChar char="•"/>
            </a:pPr>
            <a:endParaRPr lang="en-DE" sz="1200" dirty="0"/>
          </a:p>
        </p:txBody>
      </p:sp>
      <p:sp>
        <p:nvSpPr>
          <p:cNvPr id="25" name="TextBox 24">
            <a:extLst>
              <a:ext uri="{FF2B5EF4-FFF2-40B4-BE49-F238E27FC236}">
                <a16:creationId xmlns:a16="http://schemas.microsoft.com/office/drawing/2014/main" id="{09770F8A-99E7-5927-12A4-0196FE6931F5}"/>
              </a:ext>
            </a:extLst>
          </p:cNvPr>
          <p:cNvSpPr txBox="1"/>
          <p:nvPr/>
        </p:nvSpPr>
        <p:spPr>
          <a:xfrm>
            <a:off x="8160921" y="862424"/>
            <a:ext cx="821059" cy="261610"/>
          </a:xfrm>
          <a:prstGeom prst="rect">
            <a:avLst/>
          </a:prstGeom>
          <a:noFill/>
        </p:spPr>
        <p:txBody>
          <a:bodyPr wrap="none" rtlCol="0">
            <a:spAutoFit/>
          </a:bodyPr>
          <a:lstStyle/>
          <a:p>
            <a:r>
              <a:rPr lang="en-GB" sz="1050" dirty="0">
                <a:hlinkClick r:id="rId2" action="ppaction://hlinksldjump"/>
              </a:rPr>
              <a:t>Screenshot</a:t>
            </a:r>
            <a:endParaRPr lang="en-DE" sz="1050" dirty="0"/>
          </a:p>
        </p:txBody>
      </p:sp>
    </p:spTree>
    <p:extLst>
      <p:ext uri="{BB962C8B-B14F-4D97-AF65-F5344CB8AC3E}">
        <p14:creationId xmlns:p14="http://schemas.microsoft.com/office/powerpoint/2010/main" val="23046253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11E38AC5-556C-6346-B799-612121D6B04A}"/>
              </a:ext>
            </a:extLst>
          </p:cNvPr>
          <p:cNvSpPr/>
          <p:nvPr/>
        </p:nvSpPr>
        <p:spPr>
          <a:xfrm>
            <a:off x="4313737" y="3431307"/>
            <a:ext cx="3969274" cy="53699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DE"/>
          </a:p>
        </p:txBody>
      </p:sp>
      <p:sp>
        <p:nvSpPr>
          <p:cNvPr id="29" name="Rectangle 28">
            <a:extLst>
              <a:ext uri="{FF2B5EF4-FFF2-40B4-BE49-F238E27FC236}">
                <a16:creationId xmlns:a16="http://schemas.microsoft.com/office/drawing/2014/main" id="{D1372A91-25AE-B13F-774C-F832DF70CCE4}"/>
              </a:ext>
            </a:extLst>
          </p:cNvPr>
          <p:cNvSpPr/>
          <p:nvPr/>
        </p:nvSpPr>
        <p:spPr>
          <a:xfrm>
            <a:off x="4335441" y="2555030"/>
            <a:ext cx="4211321" cy="50141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DE"/>
          </a:p>
        </p:txBody>
      </p:sp>
      <p:sp>
        <p:nvSpPr>
          <p:cNvPr id="3" name="Title 2">
            <a:extLst>
              <a:ext uri="{FF2B5EF4-FFF2-40B4-BE49-F238E27FC236}">
                <a16:creationId xmlns:a16="http://schemas.microsoft.com/office/drawing/2014/main" id="{14DC8EC2-DB45-488B-7F80-00192DBE0CB0}"/>
              </a:ext>
            </a:extLst>
          </p:cNvPr>
          <p:cNvSpPr>
            <a:spLocks noGrp="1"/>
          </p:cNvSpPr>
          <p:nvPr>
            <p:ph type="title"/>
          </p:nvPr>
        </p:nvSpPr>
        <p:spPr/>
        <p:txBody>
          <a:bodyPr/>
          <a:lstStyle/>
          <a:p>
            <a:r>
              <a:rPr lang="en-GB" dirty="0"/>
              <a:t>Modular MPC</a:t>
            </a:r>
            <a:endParaRPr lang="en-DE" dirty="0"/>
          </a:p>
        </p:txBody>
      </p:sp>
      <p:sp>
        <p:nvSpPr>
          <p:cNvPr id="4" name="TextBox 3">
            <a:extLst>
              <a:ext uri="{FF2B5EF4-FFF2-40B4-BE49-F238E27FC236}">
                <a16:creationId xmlns:a16="http://schemas.microsoft.com/office/drawing/2014/main" id="{5A6DA804-2313-FD39-A76E-78B7769FDA50}"/>
              </a:ext>
            </a:extLst>
          </p:cNvPr>
          <p:cNvSpPr txBox="1"/>
          <p:nvPr/>
        </p:nvSpPr>
        <p:spPr>
          <a:xfrm>
            <a:off x="4335442" y="2575155"/>
            <a:ext cx="4294841" cy="400110"/>
          </a:xfrm>
          <a:prstGeom prst="rect">
            <a:avLst/>
          </a:prstGeom>
          <a:noFill/>
        </p:spPr>
        <p:txBody>
          <a:bodyPr wrap="square">
            <a:spAutoFit/>
          </a:bodyPr>
          <a:lstStyle/>
          <a:p>
            <a:r>
              <a:rPr lang="en-GB" sz="1000" dirty="0">
                <a:latin typeface="Consolas" panose="020B0609020204030204" pitchFamily="49" charset="0"/>
              </a:rPr>
              <a:t>for </a:t>
            </a:r>
            <a:r>
              <a:rPr lang="en-GB" sz="1000" dirty="0" err="1">
                <a:latin typeface="Consolas" panose="020B0609020204030204" pitchFamily="49" charset="0"/>
              </a:rPr>
              <a:t>i</a:t>
            </a:r>
            <a:r>
              <a:rPr lang="en-GB" sz="1000" dirty="0">
                <a:latin typeface="Consolas" panose="020B0609020204030204" pitchFamily="49" charset="0"/>
              </a:rPr>
              <a:t> = </a:t>
            </a:r>
            <a:r>
              <a:rPr lang="en-GB" sz="1000" dirty="0" err="1">
                <a:latin typeface="Consolas" panose="020B0609020204030204" pitchFamily="49" charset="0"/>
              </a:rPr>
              <a:t>i</a:t>
            </a:r>
            <a:r>
              <a:rPr lang="en-GB" sz="1000" dirty="0">
                <a:latin typeface="Consolas" panose="020B0609020204030204" pitchFamily="49" charset="0"/>
              </a:rPr>
              <a:t> + </a:t>
            </a:r>
            <a:r>
              <a:rPr lang="en-GB" sz="1000" dirty="0" err="1">
                <a:latin typeface="Consolas" panose="020B0609020204030204" pitchFamily="49" charset="0"/>
              </a:rPr>
              <a:t>N_bat</a:t>
            </a:r>
            <a:r>
              <a:rPr lang="en-GB" sz="1000" dirty="0">
                <a:latin typeface="Consolas" panose="020B0609020204030204" pitchFamily="49" charset="0"/>
              </a:rPr>
              <a:t>:</a:t>
            </a:r>
          </a:p>
          <a:p>
            <a:r>
              <a:rPr lang="en-GB" sz="1000" dirty="0">
                <a:latin typeface="Consolas" panose="020B0609020204030204" pitchFamily="49" charset="0"/>
              </a:rPr>
              <a:t>	</a:t>
            </a:r>
            <a:r>
              <a:rPr lang="en-GB" sz="1000" dirty="0" err="1">
                <a:highlight>
                  <a:srgbClr val="FFFF00"/>
                </a:highlight>
                <a:latin typeface="Consolas" panose="020B0609020204030204" pitchFamily="49" charset="0"/>
              </a:rPr>
              <a:t>SOC_bat</a:t>
            </a:r>
            <a:r>
              <a:rPr lang="en-GB" sz="1000" dirty="0">
                <a:latin typeface="Consolas" panose="020B0609020204030204" pitchFamily="49" charset="0"/>
              </a:rPr>
              <a:t>[</a:t>
            </a:r>
            <a:r>
              <a:rPr lang="en-GB" sz="1000" dirty="0" err="1">
                <a:latin typeface="Consolas" panose="020B0609020204030204" pitchFamily="49" charset="0"/>
              </a:rPr>
              <a:t>i</a:t>
            </a:r>
            <a:r>
              <a:rPr lang="en-GB" sz="1000" dirty="0">
                <a:latin typeface="Consolas" panose="020B0609020204030204" pitchFamily="49" charset="0"/>
              </a:rPr>
              <a:t>] + </a:t>
            </a:r>
            <a:r>
              <a:rPr lang="en-GB" sz="1000" dirty="0" err="1">
                <a:latin typeface="Consolas" panose="020B0609020204030204" pitchFamily="49" charset="0"/>
              </a:rPr>
              <a:t>eta_bat</a:t>
            </a:r>
            <a:r>
              <a:rPr lang="en-GB" sz="1000" dirty="0">
                <a:latin typeface="Consolas" panose="020B0609020204030204" pitchFamily="49" charset="0"/>
              </a:rPr>
              <a:t>[</a:t>
            </a:r>
            <a:r>
              <a:rPr lang="en-GB" sz="1000" dirty="0" err="1">
                <a:latin typeface="Consolas" panose="020B0609020204030204" pitchFamily="49" charset="0"/>
              </a:rPr>
              <a:t>i</a:t>
            </a:r>
            <a:r>
              <a:rPr lang="en-GB" sz="1000" dirty="0">
                <a:latin typeface="Consolas" panose="020B0609020204030204" pitchFamily="49" charset="0"/>
              </a:rPr>
              <a:t>]**sign(</a:t>
            </a:r>
            <a:r>
              <a:rPr lang="en-GB" sz="1000" dirty="0" err="1">
                <a:highlight>
                  <a:srgbClr val="00FF00"/>
                </a:highlight>
                <a:latin typeface="Consolas" panose="020B0609020204030204" pitchFamily="49" charset="0"/>
              </a:rPr>
              <a:t>P_bat</a:t>
            </a:r>
            <a:r>
              <a:rPr lang="en-GB" sz="1000" dirty="0">
                <a:latin typeface="Consolas" panose="020B0609020204030204" pitchFamily="49" charset="0"/>
              </a:rPr>
              <a:t>[</a:t>
            </a:r>
            <a:r>
              <a:rPr lang="en-GB" sz="1000" dirty="0" err="1">
                <a:latin typeface="Consolas" panose="020B0609020204030204" pitchFamily="49" charset="0"/>
              </a:rPr>
              <a:t>i</a:t>
            </a:r>
            <a:r>
              <a:rPr lang="en-GB" sz="1000" dirty="0">
                <a:latin typeface="Consolas" panose="020B0609020204030204" pitchFamily="49" charset="0"/>
              </a:rPr>
              <a:t>])*Ts*</a:t>
            </a:r>
            <a:r>
              <a:rPr lang="en-GB" sz="1000" dirty="0" err="1">
                <a:highlight>
                  <a:srgbClr val="00FF00"/>
                </a:highlight>
                <a:latin typeface="Consolas" panose="020B0609020204030204" pitchFamily="49" charset="0"/>
              </a:rPr>
              <a:t>P_bat</a:t>
            </a:r>
            <a:r>
              <a:rPr lang="en-GB" sz="1000" dirty="0">
                <a:latin typeface="Consolas" panose="020B0609020204030204" pitchFamily="49" charset="0"/>
              </a:rPr>
              <a:t>[</a:t>
            </a:r>
            <a:r>
              <a:rPr lang="en-GB" sz="1000" dirty="0" err="1">
                <a:latin typeface="Consolas" panose="020B0609020204030204" pitchFamily="49" charset="0"/>
              </a:rPr>
              <a:t>i</a:t>
            </a:r>
            <a:r>
              <a:rPr lang="en-GB" sz="1000" dirty="0">
                <a:latin typeface="Consolas" panose="020B0609020204030204" pitchFamily="49" charset="0"/>
              </a:rPr>
              <a:t>]</a:t>
            </a:r>
          </a:p>
        </p:txBody>
      </p:sp>
      <p:sp>
        <p:nvSpPr>
          <p:cNvPr id="5" name="Rectangle 4">
            <a:extLst>
              <a:ext uri="{FF2B5EF4-FFF2-40B4-BE49-F238E27FC236}">
                <a16:creationId xmlns:a16="http://schemas.microsoft.com/office/drawing/2014/main" id="{36231DF7-3900-466B-3D21-19E3FDB0CB57}"/>
              </a:ext>
            </a:extLst>
          </p:cNvPr>
          <p:cNvSpPr/>
          <p:nvPr/>
        </p:nvSpPr>
        <p:spPr>
          <a:xfrm>
            <a:off x="599780" y="1302477"/>
            <a:ext cx="3328650" cy="34040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003E99B-5EC1-A32D-40EC-D684CC0BFD90}"/>
                  </a:ext>
                </a:extLst>
              </p:cNvPr>
              <p:cNvSpPr txBox="1"/>
              <p:nvPr/>
            </p:nvSpPr>
            <p:spPr>
              <a:xfrm>
                <a:off x="660291" y="1399838"/>
                <a:ext cx="3268138"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𝑥</m:t>
                      </m:r>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d>
                            <m:dPr>
                              <m:begChr m:val="["/>
                              <m:endChr m:val="]"/>
                              <m:ctrlPr>
                                <a:rPr lang="en-GB" sz="1200" b="0" i="1" smtClean="0">
                                  <a:latin typeface="Cambria Math" panose="02040503050406030204" pitchFamily="18" charset="0"/>
                                </a:rPr>
                              </m:ctrlPr>
                            </m:dPr>
                            <m:e>
                              <m:m>
                                <m:mPr>
                                  <m:mcs>
                                    <m:mc>
                                      <m:mcPr>
                                        <m:count m:val="2"/>
                                        <m:mcJc m:val="center"/>
                                      </m:mcPr>
                                    </m:mc>
                                  </m:mcs>
                                  <m:ctrlPr>
                                    <a:rPr lang="en-GB" sz="1200" b="0" i="1" smtClean="0">
                                      <a:latin typeface="Cambria Math" panose="02040503050406030204" pitchFamily="18" charset="0"/>
                                    </a:rPr>
                                  </m:ctrlPr>
                                </m:mPr>
                                <m:mr>
                                  <m:e>
                                    <m:m>
                                      <m:mPr>
                                        <m:mcs>
                                          <m:mc>
                                            <m:mcPr>
                                              <m:count m:val="3"/>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1</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2</m:t>
                                              </m:r>
                                            </m:sub>
                                          </m:sSub>
                                        </m:e>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3</m:t>
                                              </m:r>
                                            </m:sub>
                                          </m:sSub>
                                        </m:e>
                                      </m:mr>
                                    </m:m>
                                  </m:e>
                                  <m:e>
                                    <m:m>
                                      <m:mPr>
                                        <m:mcs>
                                          <m:mc>
                                            <m:mcPr>
                                              <m:count m:val="3"/>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4</m:t>
                                              </m:r>
                                            </m:sub>
                                          </m:sSub>
                                        </m:e>
                                        <m:e>
                                          <m:r>
                                            <a:rPr lang="en-GB" sz="1200" b="0" i="1" smtClean="0">
                                              <a:latin typeface="Cambria Math" panose="02040503050406030204" pitchFamily="18" charset="0"/>
                                            </a:rPr>
                                            <m:t>𝑡𝑖𝑚𝑒</m:t>
                                          </m:r>
                                        </m:e>
                                        <m:e>
                                          <m:m>
                                            <m:mPr>
                                              <m:mcs>
                                                <m:mc>
                                                  <m:mcPr>
                                                    <m:count m:val="2"/>
                                                    <m:mcJc m:val="center"/>
                                                  </m:mcPr>
                                                </m:mc>
                                              </m:mcs>
                                              <m:ctrlPr>
                                                <a:rPr lang="en-GB" sz="1200" b="0" i="1" smtClean="0">
                                                  <a:latin typeface="Cambria Math" panose="02040503050406030204" pitchFamily="18" charset="0"/>
                                                </a:rPr>
                                              </m:ctrlPr>
                                            </m:mPr>
                                            <m:mr>
                                              <m:e>
                                                <m:sSub>
                                                  <m:sSubPr>
                                                    <m:ctrlPr>
                                                      <a:rPr lang="en-GB" sz="1200" b="0" i="1" smtClean="0">
                                                        <a:solidFill>
                                                          <a:schemeClr val="tx1"/>
                                                        </a:solidFill>
                                                        <a:highlight>
                                                          <a:srgbClr val="FFFF00"/>
                                                        </a:highlight>
                                                        <a:latin typeface="Cambria Math" panose="02040503050406030204" pitchFamily="18" charset="0"/>
                                                      </a:rPr>
                                                    </m:ctrlPr>
                                                  </m:sSubPr>
                                                  <m:e>
                                                    <m:r>
                                                      <a:rPr lang="en-GB" sz="1200" b="0" i="1" smtClean="0">
                                                        <a:solidFill>
                                                          <a:schemeClr val="tx1"/>
                                                        </a:solidFill>
                                                        <a:highlight>
                                                          <a:srgbClr val="FFFF00"/>
                                                        </a:highlight>
                                                        <a:latin typeface="Cambria Math" panose="02040503050406030204" pitchFamily="18" charset="0"/>
                                                      </a:rPr>
                                                      <m:t>𝑆𝑂𝐶</m:t>
                                                    </m:r>
                                                  </m:e>
                                                  <m:sub>
                                                    <m:r>
                                                      <a:rPr lang="en-GB" sz="1200" b="0" i="1" smtClean="0">
                                                        <a:solidFill>
                                                          <a:schemeClr val="tx1"/>
                                                        </a:solidFill>
                                                        <a:highlight>
                                                          <a:srgbClr val="FFFF00"/>
                                                        </a:highlight>
                                                        <a:latin typeface="Cambria Math" panose="02040503050406030204" pitchFamily="18" charset="0"/>
                                                      </a:rPr>
                                                      <m:t>𝑏𝑎𝑡</m:t>
                                                    </m:r>
                                                  </m:sub>
                                                </m:sSub>
                                              </m:e>
                                              <m:e>
                                                <m:sSub>
                                                  <m:sSubPr>
                                                    <m:ctrlPr>
                                                      <a:rPr lang="en-GB" sz="1200" b="0" i="1" smtClean="0">
                                                        <a:solidFill>
                                                          <a:schemeClr val="tx1"/>
                                                        </a:solidFill>
                                                        <a:highlight>
                                                          <a:srgbClr val="00FFFF"/>
                                                        </a:highlight>
                                                        <a:latin typeface="Cambria Math" panose="02040503050406030204" pitchFamily="18" charset="0"/>
                                                      </a:rPr>
                                                    </m:ctrlPr>
                                                  </m:sSubPr>
                                                  <m:e>
                                                    <m:r>
                                                      <a:rPr lang="en-GB" sz="1200" b="0" i="1" smtClean="0">
                                                        <a:solidFill>
                                                          <a:schemeClr val="tx1"/>
                                                        </a:solidFill>
                                                        <a:highlight>
                                                          <a:srgbClr val="00FFFF"/>
                                                        </a:highlight>
                                                        <a:latin typeface="Cambria Math" panose="02040503050406030204" pitchFamily="18" charset="0"/>
                                                      </a:rPr>
                                                      <m:t>𝑆𝑂𝐶</m:t>
                                                    </m:r>
                                                  </m:e>
                                                  <m:sub>
                                                    <m:r>
                                                      <a:rPr lang="en-GB" sz="1200" b="0" i="1" smtClean="0">
                                                        <a:solidFill>
                                                          <a:schemeClr val="tx1"/>
                                                        </a:solidFill>
                                                        <a:highlight>
                                                          <a:srgbClr val="00FFFF"/>
                                                        </a:highlight>
                                                        <a:latin typeface="Cambria Math" panose="02040503050406030204" pitchFamily="18" charset="0"/>
                                                      </a:rPr>
                                                      <m:t>𝑒𝑣</m:t>
                                                    </m:r>
                                                  </m:sub>
                                                </m:sSub>
                                              </m:e>
                                            </m:mr>
                                          </m:m>
                                        </m:e>
                                      </m:mr>
                                    </m:m>
                                  </m:e>
                                </m:mr>
                              </m:m>
                            </m:e>
                          </m:d>
                        </m:e>
                        <m:sup>
                          <m:r>
                            <a:rPr lang="en-GB" sz="1200" b="0" i="1" smtClean="0">
                              <a:latin typeface="Cambria Math" panose="02040503050406030204" pitchFamily="18" charset="0"/>
                            </a:rPr>
                            <m:t>𝑇</m:t>
                          </m:r>
                        </m:sup>
                      </m:sSup>
                    </m:oMath>
                  </m:oMathPara>
                </a14:m>
                <a:endParaRPr lang="en-DE" sz="1200" dirty="0"/>
              </a:p>
            </p:txBody>
          </p:sp>
        </mc:Choice>
        <mc:Fallback xmlns="">
          <p:sp>
            <p:nvSpPr>
              <p:cNvPr id="6" name="TextBox 5">
                <a:extLst>
                  <a:ext uri="{FF2B5EF4-FFF2-40B4-BE49-F238E27FC236}">
                    <a16:creationId xmlns:a16="http://schemas.microsoft.com/office/drawing/2014/main" id="{1003E99B-5EC1-A32D-40EC-D684CC0BFD90}"/>
                  </a:ext>
                </a:extLst>
              </p:cNvPr>
              <p:cNvSpPr txBox="1">
                <a:spLocks noRot="1" noChangeAspect="1" noMove="1" noResize="1" noEditPoints="1" noAdjustHandles="1" noChangeArrowheads="1" noChangeShapeType="1" noTextEdit="1"/>
              </p:cNvSpPr>
              <p:nvPr/>
            </p:nvSpPr>
            <p:spPr>
              <a:xfrm>
                <a:off x="660291" y="1399838"/>
                <a:ext cx="3268138" cy="184666"/>
              </a:xfrm>
              <a:prstGeom prst="rect">
                <a:avLst/>
              </a:prstGeom>
              <a:blipFill>
                <a:blip r:embed="rId2"/>
                <a:stretch>
                  <a:fillRect b="-13333"/>
                </a:stretch>
              </a:blipFill>
            </p:spPr>
            <p:txBody>
              <a:bodyPr/>
              <a:lstStyle/>
              <a:p>
                <a:r>
                  <a:rPr lang="en-DE">
                    <a:noFill/>
                  </a:rPr>
                  <a:t> </a:t>
                </a:r>
              </a:p>
            </p:txBody>
          </p:sp>
        </mc:Fallback>
      </mc:AlternateContent>
      <p:cxnSp>
        <p:nvCxnSpPr>
          <p:cNvPr id="7" name="Straight Connector 6">
            <a:extLst>
              <a:ext uri="{FF2B5EF4-FFF2-40B4-BE49-F238E27FC236}">
                <a16:creationId xmlns:a16="http://schemas.microsoft.com/office/drawing/2014/main" id="{85379B16-FB98-3CD7-846D-52A39F5C971F}"/>
              </a:ext>
            </a:extLst>
          </p:cNvPr>
          <p:cNvCxnSpPr>
            <a:cxnSpLocks/>
          </p:cNvCxnSpPr>
          <p:nvPr/>
        </p:nvCxnSpPr>
        <p:spPr>
          <a:xfrm flipV="1">
            <a:off x="3246608" y="1161154"/>
            <a:ext cx="0" cy="65218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7577C76B-7AC2-B686-B42B-F89311BD9B12}"/>
              </a:ext>
            </a:extLst>
          </p:cNvPr>
          <p:cNvCxnSpPr>
            <a:cxnSpLocks/>
          </p:cNvCxnSpPr>
          <p:nvPr/>
        </p:nvCxnSpPr>
        <p:spPr>
          <a:xfrm flipV="1">
            <a:off x="2653696" y="1173483"/>
            <a:ext cx="0" cy="65218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9" name="Group 8">
            <a:extLst>
              <a:ext uri="{FF2B5EF4-FFF2-40B4-BE49-F238E27FC236}">
                <a16:creationId xmlns:a16="http://schemas.microsoft.com/office/drawing/2014/main" id="{2194C8B6-F876-5019-F36D-998F7C74962E}"/>
              </a:ext>
            </a:extLst>
          </p:cNvPr>
          <p:cNvGrpSpPr/>
          <p:nvPr/>
        </p:nvGrpSpPr>
        <p:grpSpPr>
          <a:xfrm>
            <a:off x="5137134" y="1126209"/>
            <a:ext cx="2056222" cy="652182"/>
            <a:chOff x="1444639" y="2658316"/>
            <a:chExt cx="2056222" cy="652182"/>
          </a:xfrm>
        </p:grpSpPr>
        <p:sp>
          <p:nvSpPr>
            <p:cNvPr id="10" name="Rectangle 9">
              <a:extLst>
                <a:ext uri="{FF2B5EF4-FFF2-40B4-BE49-F238E27FC236}">
                  <a16:creationId xmlns:a16="http://schemas.microsoft.com/office/drawing/2014/main" id="{B51326C1-B141-2C1F-9878-B7071D067E36}"/>
                </a:ext>
              </a:extLst>
            </p:cNvPr>
            <p:cNvSpPr/>
            <p:nvPr/>
          </p:nvSpPr>
          <p:spPr>
            <a:xfrm>
              <a:off x="1444639" y="2798580"/>
              <a:ext cx="2056222" cy="41013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CDD58C0-8710-FA79-4F12-D71505A55360}"/>
                    </a:ext>
                  </a:extLst>
                </p:cNvPr>
                <p:cNvSpPr txBox="1"/>
                <p:nvPr/>
              </p:nvSpPr>
              <p:spPr>
                <a:xfrm>
                  <a:off x="1519735" y="2909510"/>
                  <a:ext cx="1939762" cy="1847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𝑢</m:t>
                        </m:r>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d>
                              <m:dPr>
                                <m:begChr m:val="["/>
                                <m:endChr m:val="]"/>
                                <m:ctrlPr>
                                  <a:rPr lang="en-GB" sz="1200" b="0" i="1" smtClean="0">
                                    <a:latin typeface="Cambria Math" panose="02040503050406030204" pitchFamily="18" charset="0"/>
                                  </a:rPr>
                                </m:ctrlPr>
                              </m:dPr>
                              <m:e>
                                <m:m>
                                  <m:mPr>
                                    <m:mcs>
                                      <m:mc>
                                        <m:mcPr>
                                          <m:count m:val="2"/>
                                          <m:mcJc m:val="center"/>
                                        </m:mcPr>
                                      </m:mc>
                                    </m:mcs>
                                    <m:ctrlPr>
                                      <a:rPr lang="en-GB" sz="1200" b="0" i="1" smtClean="0">
                                        <a:latin typeface="Cambria Math" panose="02040503050406030204" pitchFamily="18" charset="0"/>
                                      </a:rPr>
                                    </m:ctrlPr>
                                  </m:mPr>
                                  <m:mr>
                                    <m:e>
                                      <m:m>
                                        <m:mPr>
                                          <m:mcs>
                                            <m:mc>
                                              <m:mcPr>
                                                <m:count m:val="2"/>
                                                <m:mcJc m:val="center"/>
                                              </m:mcPr>
                                            </m:mc>
                                          </m:mcs>
                                          <m:ctrlPr>
                                            <a:rPr lang="en-GB" sz="1200" b="0" i="1" smtClean="0">
                                              <a:latin typeface="Cambria Math" panose="02040503050406030204" pitchFamily="18" charset="0"/>
                                            </a:rPr>
                                          </m:ctrlPr>
                                        </m:mPr>
                                        <m:m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h𝑝</m:t>
                                                </m:r>
                                              </m:sub>
                                            </m:sSub>
                                          </m:e>
                                          <m:e>
                                            <m:sSub>
                                              <m:sSubPr>
                                                <m:ctrlPr>
                                                  <a:rPr lang="en-GB" sz="1200" b="0" i="1" smtClean="0">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𝑡</m:t>
                                                </m:r>
                                              </m:sub>
                                            </m:sSub>
                                          </m:e>
                                        </m:mr>
                                      </m:m>
                                    </m:e>
                                    <m:e>
                                      <m:m>
                                        <m:mPr>
                                          <m:mcs>
                                            <m:mc>
                                              <m:mcPr>
                                                <m:count m:val="2"/>
                                                <m:mcJc m:val="center"/>
                                              </m:mcPr>
                                            </m:mc>
                                          </m:mcs>
                                          <m:ctrlPr>
                                            <a:rPr lang="en-GB" sz="1200" b="0" i="1" smtClean="0">
                                              <a:latin typeface="Cambria Math" panose="02040503050406030204" pitchFamily="18" charset="0"/>
                                            </a:rPr>
                                          </m:ctrlPr>
                                        </m:mPr>
                                        <m:mr>
                                          <m:e>
                                            <m:sSub>
                                              <m:sSubPr>
                                                <m:ctrlPr>
                                                  <a:rPr lang="en-GB" sz="1200" b="0" i="1" smtClean="0">
                                                    <a:solidFill>
                                                      <a:schemeClr val="tx1"/>
                                                    </a:solidFill>
                                                    <a:highlight>
                                                      <a:srgbClr val="00FF00"/>
                                                    </a:highlight>
                                                    <a:latin typeface="Cambria Math" panose="02040503050406030204" pitchFamily="18" charset="0"/>
                                                  </a:rPr>
                                                </m:ctrlPr>
                                              </m:sSubPr>
                                              <m:e>
                                                <m:r>
                                                  <a:rPr lang="en-GB" sz="1200" b="0" i="1" smtClean="0">
                                                    <a:solidFill>
                                                      <a:schemeClr val="tx1"/>
                                                    </a:solidFill>
                                                    <a:highlight>
                                                      <a:srgbClr val="00FF00"/>
                                                    </a:highlight>
                                                    <a:latin typeface="Cambria Math" panose="02040503050406030204" pitchFamily="18" charset="0"/>
                                                  </a:rPr>
                                                  <m:t>𝑃</m:t>
                                                </m:r>
                                              </m:e>
                                              <m:sub>
                                                <m:r>
                                                  <a:rPr lang="en-GB" sz="1200" b="0" i="1" smtClean="0">
                                                    <a:solidFill>
                                                      <a:schemeClr val="tx1"/>
                                                    </a:solidFill>
                                                    <a:highlight>
                                                      <a:srgbClr val="00FF00"/>
                                                    </a:highlight>
                                                    <a:latin typeface="Cambria Math" panose="02040503050406030204" pitchFamily="18" charset="0"/>
                                                  </a:rPr>
                                                  <m:t>𝑏𝑎𝑡</m:t>
                                                </m:r>
                                              </m:sub>
                                            </m:sSub>
                                          </m:e>
                                          <m:e>
                                            <m:sSub>
                                              <m:sSubPr>
                                                <m:ctrlPr>
                                                  <a:rPr lang="en-GB" sz="1200" b="0" i="1" smtClean="0">
                                                    <a:solidFill>
                                                      <a:schemeClr val="tx1"/>
                                                    </a:solidFill>
                                                    <a:highlight>
                                                      <a:srgbClr val="FF00FF"/>
                                                    </a:highlight>
                                                    <a:latin typeface="Cambria Math" panose="02040503050406030204" pitchFamily="18" charset="0"/>
                                                  </a:rPr>
                                                </m:ctrlPr>
                                              </m:sSubPr>
                                              <m:e>
                                                <m:r>
                                                  <a:rPr lang="en-GB" sz="1200" b="0" i="1" smtClean="0">
                                                    <a:solidFill>
                                                      <a:schemeClr val="tx1"/>
                                                    </a:solidFill>
                                                    <a:highlight>
                                                      <a:srgbClr val="FF00FF"/>
                                                    </a:highlight>
                                                    <a:latin typeface="Cambria Math" panose="02040503050406030204" pitchFamily="18" charset="0"/>
                                                  </a:rPr>
                                                  <m:t>𝑃</m:t>
                                                </m:r>
                                              </m:e>
                                              <m:sub>
                                                <m:r>
                                                  <a:rPr lang="en-GB" sz="1200" b="0" i="1" smtClean="0">
                                                    <a:solidFill>
                                                      <a:schemeClr val="tx1"/>
                                                    </a:solidFill>
                                                    <a:highlight>
                                                      <a:srgbClr val="FF00FF"/>
                                                    </a:highlight>
                                                    <a:latin typeface="Cambria Math" panose="02040503050406030204" pitchFamily="18" charset="0"/>
                                                  </a:rPr>
                                                  <m:t>𝑒𝑣</m:t>
                                                </m:r>
                                              </m:sub>
                                            </m:sSub>
                                          </m:e>
                                        </m:mr>
                                      </m:m>
                                    </m:e>
                                  </m:mr>
                                </m:m>
                              </m:e>
                            </m:d>
                          </m:e>
                          <m:sup>
                            <m:r>
                              <a:rPr lang="en-GB" sz="1200" b="0" i="1" smtClean="0">
                                <a:latin typeface="Cambria Math" panose="02040503050406030204" pitchFamily="18" charset="0"/>
                              </a:rPr>
                              <m:t>𝑇</m:t>
                            </m:r>
                          </m:sup>
                        </m:sSup>
                      </m:oMath>
                    </m:oMathPara>
                  </a14:m>
                  <a:endParaRPr lang="en-DE" sz="1200" dirty="0"/>
                </a:p>
              </p:txBody>
            </p:sp>
          </mc:Choice>
          <mc:Fallback xmlns="">
            <p:sp>
              <p:nvSpPr>
                <p:cNvPr id="11" name="TextBox 10">
                  <a:extLst>
                    <a:ext uri="{FF2B5EF4-FFF2-40B4-BE49-F238E27FC236}">
                      <a16:creationId xmlns:a16="http://schemas.microsoft.com/office/drawing/2014/main" id="{BCDD58C0-8710-FA79-4F12-D71505A55360}"/>
                    </a:ext>
                  </a:extLst>
                </p:cNvPr>
                <p:cNvSpPr txBox="1">
                  <a:spLocks noRot="1" noChangeAspect="1" noMove="1" noResize="1" noEditPoints="1" noAdjustHandles="1" noChangeArrowheads="1" noChangeShapeType="1" noTextEdit="1"/>
                </p:cNvSpPr>
                <p:nvPr/>
              </p:nvSpPr>
              <p:spPr>
                <a:xfrm>
                  <a:off x="1519735" y="2909510"/>
                  <a:ext cx="1939762" cy="184731"/>
                </a:xfrm>
                <a:prstGeom prst="rect">
                  <a:avLst/>
                </a:prstGeom>
                <a:blipFill>
                  <a:blip r:embed="rId3"/>
                  <a:stretch>
                    <a:fillRect t="-13333" b="-23333"/>
                  </a:stretch>
                </a:blipFill>
              </p:spPr>
              <p:txBody>
                <a:bodyPr/>
                <a:lstStyle/>
                <a:p>
                  <a:r>
                    <a:rPr lang="en-DE">
                      <a:noFill/>
                    </a:rPr>
                    <a:t> </a:t>
                  </a:r>
                </a:p>
              </p:txBody>
            </p:sp>
          </mc:Fallback>
        </mc:AlternateContent>
        <p:cxnSp>
          <p:nvCxnSpPr>
            <p:cNvPr id="12" name="Straight Connector 11">
              <a:extLst>
                <a:ext uri="{FF2B5EF4-FFF2-40B4-BE49-F238E27FC236}">
                  <a16:creationId xmlns:a16="http://schemas.microsoft.com/office/drawing/2014/main" id="{F17823D3-B44E-0CA9-64EC-D5FC341813D8}"/>
                </a:ext>
              </a:extLst>
            </p:cNvPr>
            <p:cNvCxnSpPr>
              <a:cxnSpLocks/>
            </p:cNvCxnSpPr>
            <p:nvPr/>
          </p:nvCxnSpPr>
          <p:spPr>
            <a:xfrm flipV="1">
              <a:off x="2564049" y="2658316"/>
              <a:ext cx="0" cy="65218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 name="Straight Connector 12">
              <a:extLst>
                <a:ext uri="{FF2B5EF4-FFF2-40B4-BE49-F238E27FC236}">
                  <a16:creationId xmlns:a16="http://schemas.microsoft.com/office/drawing/2014/main" id="{C03FE050-E077-96BD-A7C0-03AC1C4B0199}"/>
                </a:ext>
              </a:extLst>
            </p:cNvPr>
            <p:cNvCxnSpPr>
              <a:cxnSpLocks/>
            </p:cNvCxnSpPr>
            <p:nvPr/>
          </p:nvCxnSpPr>
          <p:spPr>
            <a:xfrm flipV="1">
              <a:off x="3002320" y="2658316"/>
              <a:ext cx="0" cy="65218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14" name="Left Brace 13">
            <a:extLst>
              <a:ext uri="{FF2B5EF4-FFF2-40B4-BE49-F238E27FC236}">
                <a16:creationId xmlns:a16="http://schemas.microsoft.com/office/drawing/2014/main" id="{CCB53F64-014C-D8B8-DE70-297417ED9838}"/>
              </a:ext>
            </a:extLst>
          </p:cNvPr>
          <p:cNvSpPr/>
          <p:nvPr/>
        </p:nvSpPr>
        <p:spPr>
          <a:xfrm rot="16200000">
            <a:off x="2857281" y="1576098"/>
            <a:ext cx="134857" cy="44282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a:p>
        </p:txBody>
      </p:sp>
      <p:sp>
        <p:nvSpPr>
          <p:cNvPr id="15" name="Left Brace 14">
            <a:extLst>
              <a:ext uri="{FF2B5EF4-FFF2-40B4-BE49-F238E27FC236}">
                <a16:creationId xmlns:a16="http://schemas.microsoft.com/office/drawing/2014/main" id="{18B8966E-8924-CD95-0C7D-A92F66457FE6}"/>
              </a:ext>
            </a:extLst>
          </p:cNvPr>
          <p:cNvSpPr/>
          <p:nvPr/>
        </p:nvSpPr>
        <p:spPr>
          <a:xfrm rot="16200000">
            <a:off x="3446410" y="1604336"/>
            <a:ext cx="134858" cy="38634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65DF5F4-08A8-6CAA-1F5D-BE0EA5A2C3C9}"/>
                  </a:ext>
                </a:extLst>
              </p:cNvPr>
              <p:cNvSpPr txBox="1"/>
              <p:nvPr/>
            </p:nvSpPr>
            <p:spPr>
              <a:xfrm>
                <a:off x="2786658" y="1912648"/>
                <a:ext cx="27610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1000" b="0" i="1" smtClean="0">
                              <a:latin typeface="Cambria Math" panose="02040503050406030204" pitchFamily="18" charset="0"/>
                            </a:rPr>
                          </m:ctrlPr>
                        </m:sSubPr>
                        <m:e>
                          <m:r>
                            <a:rPr lang="en-GB" sz="1000" b="0" i="1" smtClean="0">
                              <a:latin typeface="Cambria Math" panose="02040503050406030204" pitchFamily="18" charset="0"/>
                            </a:rPr>
                            <m:t>𝑁</m:t>
                          </m:r>
                        </m:e>
                        <m:sub>
                          <m:r>
                            <a:rPr lang="en-GB" sz="1000" b="0" i="1" smtClean="0">
                              <a:latin typeface="Cambria Math" panose="02040503050406030204" pitchFamily="18" charset="0"/>
                            </a:rPr>
                            <m:t>𝑏𝑎𝑡</m:t>
                          </m:r>
                        </m:sub>
                      </m:sSub>
                    </m:oMath>
                  </m:oMathPara>
                </a14:m>
                <a:endParaRPr lang="en-DE" sz="1000" dirty="0"/>
              </a:p>
            </p:txBody>
          </p:sp>
        </mc:Choice>
        <mc:Fallback xmlns="">
          <p:sp>
            <p:nvSpPr>
              <p:cNvPr id="16" name="TextBox 15">
                <a:extLst>
                  <a:ext uri="{FF2B5EF4-FFF2-40B4-BE49-F238E27FC236}">
                    <a16:creationId xmlns:a16="http://schemas.microsoft.com/office/drawing/2014/main" id="{265DF5F4-08A8-6CAA-1F5D-BE0EA5A2C3C9}"/>
                  </a:ext>
                </a:extLst>
              </p:cNvPr>
              <p:cNvSpPr txBox="1">
                <a:spLocks noRot="1" noChangeAspect="1" noMove="1" noResize="1" noEditPoints="1" noAdjustHandles="1" noChangeArrowheads="1" noChangeShapeType="1" noTextEdit="1"/>
              </p:cNvSpPr>
              <p:nvPr/>
            </p:nvSpPr>
            <p:spPr>
              <a:xfrm>
                <a:off x="2786658" y="1912648"/>
                <a:ext cx="276101" cy="153888"/>
              </a:xfrm>
              <a:prstGeom prst="rect">
                <a:avLst/>
              </a:prstGeom>
              <a:blipFill>
                <a:blip r:embed="rId4"/>
                <a:stretch>
                  <a:fillRect l="-11111" r="-4444" b="-16000"/>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D231710-E141-FCBD-178A-5394609A8065}"/>
                  </a:ext>
                </a:extLst>
              </p:cNvPr>
              <p:cNvSpPr txBox="1"/>
              <p:nvPr/>
            </p:nvSpPr>
            <p:spPr>
              <a:xfrm>
                <a:off x="3320666" y="1928569"/>
                <a:ext cx="428239" cy="15388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1000" b="0" i="1" smtClean="0">
                              <a:latin typeface="Cambria Math" panose="02040503050406030204" pitchFamily="18" charset="0"/>
                            </a:rPr>
                          </m:ctrlPr>
                        </m:sSubPr>
                        <m:e>
                          <m:r>
                            <a:rPr lang="en-GB" sz="1000" b="0" i="1" smtClean="0">
                              <a:latin typeface="Cambria Math" panose="02040503050406030204" pitchFamily="18" charset="0"/>
                            </a:rPr>
                            <m:t>𝑁</m:t>
                          </m:r>
                        </m:e>
                        <m:sub>
                          <m:r>
                            <a:rPr lang="en-GB" sz="1000" b="0" i="1" smtClean="0">
                              <a:latin typeface="Cambria Math" panose="02040503050406030204" pitchFamily="18" charset="0"/>
                            </a:rPr>
                            <m:t>𝑒𝑣</m:t>
                          </m:r>
                        </m:sub>
                      </m:sSub>
                    </m:oMath>
                  </m:oMathPara>
                </a14:m>
                <a:endParaRPr lang="en-DE" sz="1000" dirty="0"/>
              </a:p>
            </p:txBody>
          </p:sp>
        </mc:Choice>
        <mc:Fallback xmlns="">
          <p:sp>
            <p:nvSpPr>
              <p:cNvPr id="17" name="TextBox 16">
                <a:extLst>
                  <a:ext uri="{FF2B5EF4-FFF2-40B4-BE49-F238E27FC236}">
                    <a16:creationId xmlns:a16="http://schemas.microsoft.com/office/drawing/2014/main" id="{4D231710-E141-FCBD-178A-5394609A8065}"/>
                  </a:ext>
                </a:extLst>
              </p:cNvPr>
              <p:cNvSpPr txBox="1">
                <a:spLocks noRot="1" noChangeAspect="1" noMove="1" noResize="1" noEditPoints="1" noAdjustHandles="1" noChangeArrowheads="1" noChangeShapeType="1" noTextEdit="1"/>
              </p:cNvSpPr>
              <p:nvPr/>
            </p:nvSpPr>
            <p:spPr>
              <a:xfrm>
                <a:off x="3320666" y="1928569"/>
                <a:ext cx="428239" cy="153888"/>
              </a:xfrm>
              <a:prstGeom prst="rect">
                <a:avLst/>
              </a:prstGeom>
              <a:blipFill>
                <a:blip r:embed="rId5"/>
                <a:stretch>
                  <a:fillRect b="-7692"/>
                </a:stretch>
              </a:blipFill>
            </p:spPr>
            <p:txBody>
              <a:bodyPr/>
              <a:lstStyle/>
              <a:p>
                <a:r>
                  <a:rPr lang="en-DE">
                    <a:noFill/>
                  </a:rPr>
                  <a:t> </a:t>
                </a:r>
              </a:p>
            </p:txBody>
          </p:sp>
        </mc:Fallback>
      </mc:AlternateContent>
      <p:sp>
        <p:nvSpPr>
          <p:cNvPr id="18" name="Left Brace 17">
            <a:extLst>
              <a:ext uri="{FF2B5EF4-FFF2-40B4-BE49-F238E27FC236}">
                <a16:creationId xmlns:a16="http://schemas.microsoft.com/office/drawing/2014/main" id="{5297874F-788C-4389-0890-33835899649E}"/>
              </a:ext>
            </a:extLst>
          </p:cNvPr>
          <p:cNvSpPr/>
          <p:nvPr/>
        </p:nvSpPr>
        <p:spPr>
          <a:xfrm rot="16200000">
            <a:off x="6408249" y="1628175"/>
            <a:ext cx="134861" cy="35461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a:p>
        </p:txBody>
      </p:sp>
      <p:sp>
        <p:nvSpPr>
          <p:cNvPr id="19" name="Left Brace 18">
            <a:extLst>
              <a:ext uri="{FF2B5EF4-FFF2-40B4-BE49-F238E27FC236}">
                <a16:creationId xmlns:a16="http://schemas.microsoft.com/office/drawing/2014/main" id="{AA092B5D-5CC0-3267-7062-67458261EEDE}"/>
              </a:ext>
            </a:extLst>
          </p:cNvPr>
          <p:cNvSpPr/>
          <p:nvPr/>
        </p:nvSpPr>
        <p:spPr>
          <a:xfrm rot="16200000">
            <a:off x="6791834" y="1697362"/>
            <a:ext cx="134863" cy="22431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a:p>
        </p:txBody>
      </p:sp>
      <p:sp>
        <p:nvSpPr>
          <p:cNvPr id="20" name="TextBox 19">
            <a:extLst>
              <a:ext uri="{FF2B5EF4-FFF2-40B4-BE49-F238E27FC236}">
                <a16:creationId xmlns:a16="http://schemas.microsoft.com/office/drawing/2014/main" id="{85D392E1-E82E-1AC8-EE28-B2072346D211}"/>
              </a:ext>
            </a:extLst>
          </p:cNvPr>
          <p:cNvSpPr txBox="1"/>
          <p:nvPr/>
        </p:nvSpPr>
        <p:spPr>
          <a:xfrm>
            <a:off x="503678" y="862484"/>
            <a:ext cx="662938" cy="369332"/>
          </a:xfrm>
          <a:prstGeom prst="rect">
            <a:avLst/>
          </a:prstGeom>
          <a:noFill/>
        </p:spPr>
        <p:txBody>
          <a:bodyPr wrap="none" rtlCol="0">
            <a:spAutoFit/>
          </a:bodyPr>
          <a:lstStyle/>
          <a:p>
            <a:r>
              <a:rPr lang="en-GB" dirty="0"/>
              <a:t>State</a:t>
            </a:r>
            <a:endParaRPr lang="en-DE" dirty="0"/>
          </a:p>
        </p:txBody>
      </p:sp>
      <p:sp>
        <p:nvSpPr>
          <p:cNvPr id="21" name="TextBox 20">
            <a:extLst>
              <a:ext uri="{FF2B5EF4-FFF2-40B4-BE49-F238E27FC236}">
                <a16:creationId xmlns:a16="http://schemas.microsoft.com/office/drawing/2014/main" id="{5E08D533-61AA-77C1-74A5-9A950ABB87B6}"/>
              </a:ext>
            </a:extLst>
          </p:cNvPr>
          <p:cNvSpPr txBox="1"/>
          <p:nvPr/>
        </p:nvSpPr>
        <p:spPr>
          <a:xfrm>
            <a:off x="4960273" y="808563"/>
            <a:ext cx="1467646" cy="369332"/>
          </a:xfrm>
          <a:prstGeom prst="rect">
            <a:avLst/>
          </a:prstGeom>
          <a:noFill/>
        </p:spPr>
        <p:txBody>
          <a:bodyPr wrap="none" rtlCol="0">
            <a:spAutoFit/>
          </a:bodyPr>
          <a:lstStyle/>
          <a:p>
            <a:r>
              <a:rPr lang="en-GB" dirty="0"/>
              <a:t>Input/Control</a:t>
            </a:r>
            <a:endParaRPr lang="en-DE"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80D8970-895A-E386-E045-78827749E92F}"/>
                  </a:ext>
                </a:extLst>
              </p:cNvPr>
              <p:cNvSpPr txBox="1"/>
              <p:nvPr/>
            </p:nvSpPr>
            <p:spPr>
              <a:xfrm>
                <a:off x="6376884" y="1936576"/>
                <a:ext cx="27610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1000" b="0" i="1" smtClean="0">
                              <a:latin typeface="Cambria Math" panose="02040503050406030204" pitchFamily="18" charset="0"/>
                            </a:rPr>
                          </m:ctrlPr>
                        </m:sSubPr>
                        <m:e>
                          <m:r>
                            <a:rPr lang="en-GB" sz="1000" b="0" i="1" smtClean="0">
                              <a:latin typeface="Cambria Math" panose="02040503050406030204" pitchFamily="18" charset="0"/>
                            </a:rPr>
                            <m:t>𝑁</m:t>
                          </m:r>
                        </m:e>
                        <m:sub>
                          <m:r>
                            <a:rPr lang="en-GB" sz="1000" b="0" i="1" smtClean="0">
                              <a:latin typeface="Cambria Math" panose="02040503050406030204" pitchFamily="18" charset="0"/>
                            </a:rPr>
                            <m:t>𝑏𝑎𝑡</m:t>
                          </m:r>
                        </m:sub>
                      </m:sSub>
                    </m:oMath>
                  </m:oMathPara>
                </a14:m>
                <a:endParaRPr lang="en-DE" sz="1000" dirty="0"/>
              </a:p>
            </p:txBody>
          </p:sp>
        </mc:Choice>
        <mc:Fallback xmlns="">
          <p:sp>
            <p:nvSpPr>
              <p:cNvPr id="22" name="TextBox 21">
                <a:extLst>
                  <a:ext uri="{FF2B5EF4-FFF2-40B4-BE49-F238E27FC236}">
                    <a16:creationId xmlns:a16="http://schemas.microsoft.com/office/drawing/2014/main" id="{E80D8970-895A-E386-E045-78827749E92F}"/>
                  </a:ext>
                </a:extLst>
              </p:cNvPr>
              <p:cNvSpPr txBox="1">
                <a:spLocks noRot="1" noChangeAspect="1" noMove="1" noResize="1" noEditPoints="1" noAdjustHandles="1" noChangeArrowheads="1" noChangeShapeType="1" noTextEdit="1"/>
              </p:cNvSpPr>
              <p:nvPr/>
            </p:nvSpPr>
            <p:spPr>
              <a:xfrm>
                <a:off x="6376884" y="1936576"/>
                <a:ext cx="276101" cy="153888"/>
              </a:xfrm>
              <a:prstGeom prst="rect">
                <a:avLst/>
              </a:prstGeom>
              <a:blipFill>
                <a:blip r:embed="rId4"/>
                <a:stretch>
                  <a:fillRect l="-11111" r="-4444" b="-16000"/>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10659C4-08D1-AF29-494C-C869C8D45454}"/>
                  </a:ext>
                </a:extLst>
              </p:cNvPr>
              <p:cNvSpPr txBox="1"/>
              <p:nvPr/>
            </p:nvSpPr>
            <p:spPr>
              <a:xfrm>
                <a:off x="6643437" y="1952671"/>
                <a:ext cx="428239" cy="15388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1000" b="0" i="1" smtClean="0">
                              <a:latin typeface="Cambria Math" panose="02040503050406030204" pitchFamily="18" charset="0"/>
                            </a:rPr>
                          </m:ctrlPr>
                        </m:sSubPr>
                        <m:e>
                          <m:r>
                            <a:rPr lang="en-GB" sz="1000" b="0" i="1" smtClean="0">
                              <a:latin typeface="Cambria Math" panose="02040503050406030204" pitchFamily="18" charset="0"/>
                            </a:rPr>
                            <m:t>𝑁</m:t>
                          </m:r>
                        </m:e>
                        <m:sub>
                          <m:r>
                            <a:rPr lang="en-GB" sz="1000" b="0" i="1" smtClean="0">
                              <a:latin typeface="Cambria Math" panose="02040503050406030204" pitchFamily="18" charset="0"/>
                            </a:rPr>
                            <m:t>𝑒𝑣</m:t>
                          </m:r>
                        </m:sub>
                      </m:sSub>
                    </m:oMath>
                  </m:oMathPara>
                </a14:m>
                <a:endParaRPr lang="en-DE" sz="1000" dirty="0"/>
              </a:p>
            </p:txBody>
          </p:sp>
        </mc:Choice>
        <mc:Fallback xmlns="">
          <p:sp>
            <p:nvSpPr>
              <p:cNvPr id="23" name="TextBox 22">
                <a:extLst>
                  <a:ext uri="{FF2B5EF4-FFF2-40B4-BE49-F238E27FC236}">
                    <a16:creationId xmlns:a16="http://schemas.microsoft.com/office/drawing/2014/main" id="{410659C4-08D1-AF29-494C-C869C8D45454}"/>
                  </a:ext>
                </a:extLst>
              </p:cNvPr>
              <p:cNvSpPr txBox="1">
                <a:spLocks noRot="1" noChangeAspect="1" noMove="1" noResize="1" noEditPoints="1" noAdjustHandles="1" noChangeArrowheads="1" noChangeShapeType="1" noTextEdit="1"/>
              </p:cNvSpPr>
              <p:nvPr/>
            </p:nvSpPr>
            <p:spPr>
              <a:xfrm>
                <a:off x="6643437" y="1952671"/>
                <a:ext cx="428239" cy="153888"/>
              </a:xfrm>
              <a:prstGeom prst="rect">
                <a:avLst/>
              </a:prstGeom>
              <a:blipFill>
                <a:blip r:embed="rId5"/>
                <a:stretch>
                  <a:fillRect b="-7692"/>
                </a:stretch>
              </a:blipFill>
            </p:spPr>
            <p:txBody>
              <a:bodyPr/>
              <a:lstStyle/>
              <a:p>
                <a:r>
                  <a:rPr lang="en-DE">
                    <a:noFill/>
                  </a:rPr>
                  <a:t> </a:t>
                </a:r>
              </a:p>
            </p:txBody>
          </p:sp>
        </mc:Fallback>
      </mc:AlternateContent>
      <p:sp>
        <p:nvSpPr>
          <p:cNvPr id="24" name="TextBox 23">
            <a:extLst>
              <a:ext uri="{FF2B5EF4-FFF2-40B4-BE49-F238E27FC236}">
                <a16:creationId xmlns:a16="http://schemas.microsoft.com/office/drawing/2014/main" id="{55FB215A-70BA-786B-1228-935AE5C474CE}"/>
              </a:ext>
            </a:extLst>
          </p:cNvPr>
          <p:cNvSpPr txBox="1"/>
          <p:nvPr/>
        </p:nvSpPr>
        <p:spPr>
          <a:xfrm>
            <a:off x="4313737" y="3495840"/>
            <a:ext cx="4294841" cy="400110"/>
          </a:xfrm>
          <a:prstGeom prst="rect">
            <a:avLst/>
          </a:prstGeom>
          <a:noFill/>
        </p:spPr>
        <p:txBody>
          <a:bodyPr wrap="square">
            <a:spAutoFit/>
          </a:bodyPr>
          <a:lstStyle/>
          <a:p>
            <a:r>
              <a:rPr lang="en-GB" sz="1000" dirty="0">
                <a:latin typeface="Consolas" panose="020B0609020204030204" pitchFamily="49" charset="0"/>
              </a:rPr>
              <a:t>for j = j + </a:t>
            </a:r>
            <a:r>
              <a:rPr lang="en-GB" sz="1000" dirty="0" err="1">
                <a:latin typeface="Consolas" panose="020B0609020204030204" pitchFamily="49" charset="0"/>
              </a:rPr>
              <a:t>N_ev</a:t>
            </a:r>
            <a:r>
              <a:rPr lang="en-GB" sz="1000" dirty="0">
                <a:latin typeface="Consolas" panose="020B0609020204030204" pitchFamily="49" charset="0"/>
              </a:rPr>
              <a:t>:</a:t>
            </a:r>
          </a:p>
          <a:p>
            <a:r>
              <a:rPr lang="en-GB" sz="1000" dirty="0">
                <a:latin typeface="Consolas" panose="020B0609020204030204" pitchFamily="49" charset="0"/>
              </a:rPr>
              <a:t>	</a:t>
            </a:r>
            <a:r>
              <a:rPr lang="en-GB" sz="1000" dirty="0" err="1">
                <a:highlight>
                  <a:srgbClr val="00FFFF"/>
                </a:highlight>
                <a:latin typeface="Consolas" panose="020B0609020204030204" pitchFamily="49" charset="0"/>
              </a:rPr>
              <a:t>SOC_ev</a:t>
            </a:r>
            <a:r>
              <a:rPr lang="en-GB" sz="1000" dirty="0">
                <a:latin typeface="Consolas" panose="020B0609020204030204" pitchFamily="49" charset="0"/>
              </a:rPr>
              <a:t>[j] + </a:t>
            </a:r>
            <a:r>
              <a:rPr lang="en-GB" sz="1000" dirty="0" err="1">
                <a:latin typeface="Consolas" panose="020B0609020204030204" pitchFamily="49" charset="0"/>
              </a:rPr>
              <a:t>eta_ev</a:t>
            </a:r>
            <a:r>
              <a:rPr lang="en-GB" sz="1000" dirty="0">
                <a:latin typeface="Consolas" panose="020B0609020204030204" pitchFamily="49" charset="0"/>
              </a:rPr>
              <a:t>[j]**sign(</a:t>
            </a:r>
            <a:r>
              <a:rPr lang="en-GB" sz="1000" dirty="0" err="1">
                <a:highlight>
                  <a:srgbClr val="FF00FF"/>
                </a:highlight>
                <a:latin typeface="Consolas" panose="020B0609020204030204" pitchFamily="49" charset="0"/>
              </a:rPr>
              <a:t>P_ev</a:t>
            </a:r>
            <a:r>
              <a:rPr lang="en-GB" sz="1000" dirty="0">
                <a:latin typeface="Consolas" panose="020B0609020204030204" pitchFamily="49" charset="0"/>
              </a:rPr>
              <a:t>[j])*Ts*</a:t>
            </a:r>
            <a:r>
              <a:rPr lang="en-GB" sz="1000" dirty="0" err="1">
                <a:highlight>
                  <a:srgbClr val="FF00FF"/>
                </a:highlight>
                <a:latin typeface="Consolas" panose="020B0609020204030204" pitchFamily="49" charset="0"/>
              </a:rPr>
              <a:t>P_ev</a:t>
            </a:r>
            <a:r>
              <a:rPr lang="en-GB" sz="1000" dirty="0">
                <a:latin typeface="Consolas" panose="020B0609020204030204" pitchFamily="49" charset="0"/>
              </a:rPr>
              <a:t>[j]</a:t>
            </a:r>
          </a:p>
        </p:txBody>
      </p:sp>
      <p:sp>
        <p:nvSpPr>
          <p:cNvPr id="25" name="Rectangle 24">
            <a:extLst>
              <a:ext uri="{FF2B5EF4-FFF2-40B4-BE49-F238E27FC236}">
                <a16:creationId xmlns:a16="http://schemas.microsoft.com/office/drawing/2014/main" id="{EDA6115F-1428-3B53-B187-EE5337D721EF}"/>
              </a:ext>
            </a:extLst>
          </p:cNvPr>
          <p:cNvSpPr/>
          <p:nvPr/>
        </p:nvSpPr>
        <p:spPr>
          <a:xfrm>
            <a:off x="728701" y="2551623"/>
            <a:ext cx="2790433" cy="5014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C26652A-911D-4032-3DEB-37C8160D4595}"/>
                  </a:ext>
                </a:extLst>
              </p:cNvPr>
              <p:cNvSpPr txBox="1"/>
              <p:nvPr/>
            </p:nvSpPr>
            <p:spPr>
              <a:xfrm>
                <a:off x="513717" y="2650801"/>
                <a:ext cx="3206659" cy="3516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DE" sz="1200" i="1" smtClean="0">
                              <a:latin typeface="Cambria Math" panose="02040503050406030204" pitchFamily="18" charset="0"/>
                            </a:rPr>
                          </m:ctrlPr>
                        </m:fPr>
                        <m:num>
                          <m:r>
                            <a:rPr lang="en-GB" sz="1200" b="0" i="1" smtClean="0">
                              <a:latin typeface="Cambria Math" panose="02040503050406030204" pitchFamily="18" charset="0"/>
                            </a:rPr>
                            <m:t>𝑑</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𝑏𝑎𝑡</m:t>
                          </m:r>
                        </m:sub>
                      </m:sSub>
                      <m:r>
                        <a:rPr lang="en-GB" sz="1200" b="0" i="1" smtClean="0">
                          <a:latin typeface="Cambria Math" panose="02040503050406030204" pitchFamily="18" charset="0"/>
                        </a:rPr>
                        <m:t>+</m:t>
                      </m:r>
                      <m:sSubSup>
                        <m:sSubSupPr>
                          <m:ctrlPr>
                            <a:rPr lang="en-GB" sz="1200" b="0" i="1" smtClean="0">
                              <a:latin typeface="Cambria Math" panose="02040503050406030204" pitchFamily="18" charset="0"/>
                            </a:rPr>
                          </m:ctrlPr>
                        </m:sSubSupPr>
                        <m:e>
                          <m:r>
                            <a:rPr lang="en-GB" sz="1200" b="0" i="1" smtClean="0">
                              <a:latin typeface="Cambria Math" panose="02040503050406030204" pitchFamily="18" charset="0"/>
                              <a:ea typeface="Cambria Math" panose="02040503050406030204" pitchFamily="18" charset="0"/>
                            </a:rPr>
                            <m:t>𝜂</m:t>
                          </m:r>
                        </m:e>
                        <m:sub>
                          <m:r>
                            <a:rPr lang="en-GB" sz="1200" b="0" i="1" smtClean="0">
                              <a:latin typeface="Cambria Math" panose="02040503050406030204" pitchFamily="18" charset="0"/>
                            </a:rPr>
                            <m:t>𝑏𝑎𝑡</m:t>
                          </m:r>
                        </m:sub>
                        <m:sup>
                          <m:func>
                            <m:funcPr>
                              <m:ctrlPr>
                                <a:rPr lang="en-GB" sz="1200" i="1">
                                  <a:latin typeface="Cambria Math" panose="02040503050406030204" pitchFamily="18" charset="0"/>
                                </a:rPr>
                              </m:ctrlPr>
                            </m:funcPr>
                            <m:fName>
                              <m:r>
                                <m:rPr>
                                  <m:sty m:val="p"/>
                                </m:rPr>
                                <a:rPr lang="en-GB" sz="1200">
                                  <a:latin typeface="Cambria Math" panose="02040503050406030204" pitchFamily="18" charset="0"/>
                                </a:rPr>
                                <m:t>sgn</m:t>
                              </m:r>
                            </m:fName>
                            <m:e>
                              <m:d>
                                <m:dPr>
                                  <m:ctrlPr>
                                    <a:rPr lang="en-GB" sz="1200" i="1">
                                      <a:latin typeface="Cambria Math" panose="02040503050406030204" pitchFamily="18" charset="0"/>
                                    </a:rPr>
                                  </m:ctrlPr>
                                </m:dPr>
                                <m:e>
                                  <m:sSub>
                                    <m:sSubPr>
                                      <m:ctrlPr>
                                        <a:rPr lang="en-GB" sz="1200" i="1">
                                          <a:latin typeface="Cambria Math" panose="02040503050406030204" pitchFamily="18" charset="0"/>
                                        </a:rPr>
                                      </m:ctrlPr>
                                    </m:sSubPr>
                                    <m:e>
                                      <m:r>
                                        <a:rPr lang="en-GB" sz="1200" i="1">
                                          <a:latin typeface="Cambria Math" panose="02040503050406030204" pitchFamily="18" charset="0"/>
                                        </a:rPr>
                                        <m:t>𝑃</m:t>
                                      </m:r>
                                    </m:e>
                                    <m:sub>
                                      <m:r>
                                        <a:rPr lang="en-GB" sz="1200" b="0" i="1" smtClean="0">
                                          <a:latin typeface="Cambria Math" panose="02040503050406030204" pitchFamily="18" charset="0"/>
                                        </a:rPr>
                                        <m:t>𝑏𝑎𝑡</m:t>
                                      </m:r>
                                    </m:sub>
                                  </m:sSub>
                                </m:e>
                              </m:d>
                            </m:e>
                          </m:func>
                        </m:sup>
                      </m:sSubSup>
                      <m:sSub>
                        <m:sSubPr>
                          <m:ctrlPr>
                            <a:rPr lang="en-GB" sz="1200" b="0" i="1" smtClean="0">
                              <a:solidFill>
                                <a:schemeClr val="tx1"/>
                              </a:solidFill>
                              <a:latin typeface="Cambria Math" panose="02040503050406030204" pitchFamily="18" charset="0"/>
                            </a:rPr>
                          </m:ctrlPr>
                        </m:sSubPr>
                        <m:e>
                          <m:r>
                            <a:rPr lang="en-GB" sz="1200" b="0" i="1" smtClean="0">
                              <a:solidFill>
                                <a:schemeClr val="tx1"/>
                              </a:solidFill>
                              <a:latin typeface="Cambria Math" panose="02040503050406030204" pitchFamily="18" charset="0"/>
                            </a:rPr>
                            <m:t>𝑇</m:t>
                          </m:r>
                        </m:e>
                        <m:sub>
                          <m:r>
                            <a:rPr lang="en-GB" sz="1200" b="0" i="1" smtClean="0">
                              <a:solidFill>
                                <a:schemeClr val="tx1"/>
                              </a:solidFill>
                              <a:latin typeface="Cambria Math" panose="02040503050406030204" pitchFamily="18" charset="0"/>
                            </a:rPr>
                            <m:t>𝑠</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𝑏𝑎𝑡</m:t>
                          </m:r>
                        </m:sub>
                      </m:sSub>
                    </m:oMath>
                  </m:oMathPara>
                </a14:m>
                <a:endParaRPr lang="en-DE" sz="1200" dirty="0"/>
              </a:p>
            </p:txBody>
          </p:sp>
        </mc:Choice>
        <mc:Fallback xmlns="">
          <p:sp>
            <p:nvSpPr>
              <p:cNvPr id="26" name="TextBox 25">
                <a:extLst>
                  <a:ext uri="{FF2B5EF4-FFF2-40B4-BE49-F238E27FC236}">
                    <a16:creationId xmlns:a16="http://schemas.microsoft.com/office/drawing/2014/main" id="{5C26652A-911D-4032-3DEB-37C8160D4595}"/>
                  </a:ext>
                </a:extLst>
              </p:cNvPr>
              <p:cNvSpPr txBox="1">
                <a:spLocks noRot="1" noChangeAspect="1" noMove="1" noResize="1" noEditPoints="1" noAdjustHandles="1" noChangeArrowheads="1" noChangeShapeType="1" noTextEdit="1"/>
              </p:cNvSpPr>
              <p:nvPr/>
            </p:nvSpPr>
            <p:spPr>
              <a:xfrm>
                <a:off x="513717" y="2650801"/>
                <a:ext cx="3206659" cy="351699"/>
              </a:xfrm>
              <a:prstGeom prst="rect">
                <a:avLst/>
              </a:prstGeom>
              <a:blipFill>
                <a:blip r:embed="rId6"/>
                <a:stretch>
                  <a:fillRect t="-6897" b="-13793"/>
                </a:stretch>
              </a:blipFill>
            </p:spPr>
            <p:txBody>
              <a:bodyPr/>
              <a:lstStyle/>
              <a:p>
                <a:r>
                  <a:rPr lang="en-DE">
                    <a:noFill/>
                  </a:rPr>
                  <a:t> </a:t>
                </a:r>
              </a:p>
            </p:txBody>
          </p:sp>
        </mc:Fallback>
      </mc:AlternateContent>
      <p:sp>
        <p:nvSpPr>
          <p:cNvPr id="27" name="Rectangle 26">
            <a:extLst>
              <a:ext uri="{FF2B5EF4-FFF2-40B4-BE49-F238E27FC236}">
                <a16:creationId xmlns:a16="http://schemas.microsoft.com/office/drawing/2014/main" id="{2DF93721-26EE-06E7-9520-2B6A3240BC82}"/>
              </a:ext>
            </a:extLst>
          </p:cNvPr>
          <p:cNvSpPr/>
          <p:nvPr/>
        </p:nvSpPr>
        <p:spPr>
          <a:xfrm>
            <a:off x="728701" y="3424778"/>
            <a:ext cx="2521492" cy="536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851A5FE-A7DA-3589-078B-DF14323CF5F9}"/>
                  </a:ext>
                </a:extLst>
              </p:cNvPr>
              <p:cNvSpPr txBox="1"/>
              <p:nvPr/>
            </p:nvSpPr>
            <p:spPr>
              <a:xfrm>
                <a:off x="355163" y="3555833"/>
                <a:ext cx="3206659" cy="3516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DE" sz="1200" i="1" smtClean="0">
                              <a:latin typeface="Cambria Math" panose="02040503050406030204" pitchFamily="18" charset="0"/>
                            </a:rPr>
                          </m:ctrlPr>
                        </m:fPr>
                        <m:num>
                          <m:r>
                            <a:rPr lang="en-GB" sz="1200" b="0" i="1" smtClean="0">
                              <a:latin typeface="Cambria Math" panose="02040503050406030204" pitchFamily="18" charset="0"/>
                            </a:rPr>
                            <m:t>𝑑</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𝑒𝑣</m:t>
                              </m:r>
                            </m:sub>
                          </m:sSub>
                          <m:r>
                            <a:rPr lang="en-GB" sz="1200" b="0" i="1" smtClean="0">
                              <a:latin typeface="Cambria Math" panose="02040503050406030204" pitchFamily="18" charset="0"/>
                            </a:rPr>
                            <m:t>)</m:t>
                          </m:r>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𝑆𝑂𝐶</m:t>
                          </m:r>
                        </m:e>
                        <m:sub>
                          <m:r>
                            <a:rPr lang="en-GB" sz="1200" b="0" i="1" smtClean="0">
                              <a:latin typeface="Cambria Math" panose="02040503050406030204" pitchFamily="18" charset="0"/>
                            </a:rPr>
                            <m:t>𝑒𝑣</m:t>
                          </m:r>
                        </m:sub>
                      </m:sSub>
                      <m:r>
                        <a:rPr lang="en-GB" sz="1200" b="0" i="1" smtClean="0">
                          <a:latin typeface="Cambria Math" panose="02040503050406030204" pitchFamily="18" charset="0"/>
                        </a:rPr>
                        <m:t>+</m:t>
                      </m:r>
                      <m:sSubSup>
                        <m:sSubSupPr>
                          <m:ctrlPr>
                            <a:rPr lang="en-GB" sz="1200" b="0" i="1" smtClean="0">
                              <a:latin typeface="Cambria Math" panose="02040503050406030204" pitchFamily="18" charset="0"/>
                            </a:rPr>
                          </m:ctrlPr>
                        </m:sSubSupPr>
                        <m:e>
                          <m:r>
                            <a:rPr lang="en-GB" sz="1200" b="0" i="1" smtClean="0">
                              <a:latin typeface="Cambria Math" panose="02040503050406030204" pitchFamily="18" charset="0"/>
                              <a:ea typeface="Cambria Math" panose="02040503050406030204" pitchFamily="18" charset="0"/>
                            </a:rPr>
                            <m:t>𝜂</m:t>
                          </m:r>
                        </m:e>
                        <m:sub>
                          <m:r>
                            <a:rPr lang="en-GB" sz="1200" b="0" i="1" smtClean="0">
                              <a:latin typeface="Cambria Math" panose="02040503050406030204" pitchFamily="18" charset="0"/>
                            </a:rPr>
                            <m:t>𝑒𝑣</m:t>
                          </m:r>
                        </m:sub>
                        <m:sup>
                          <m:func>
                            <m:funcPr>
                              <m:ctrlPr>
                                <a:rPr lang="en-GB" sz="1200" i="1">
                                  <a:latin typeface="Cambria Math" panose="02040503050406030204" pitchFamily="18" charset="0"/>
                                </a:rPr>
                              </m:ctrlPr>
                            </m:funcPr>
                            <m:fName>
                              <m:r>
                                <m:rPr>
                                  <m:sty m:val="p"/>
                                </m:rPr>
                                <a:rPr lang="en-GB" sz="1200">
                                  <a:latin typeface="Cambria Math" panose="02040503050406030204" pitchFamily="18" charset="0"/>
                                </a:rPr>
                                <m:t>sgn</m:t>
                              </m:r>
                            </m:fName>
                            <m:e>
                              <m:d>
                                <m:dPr>
                                  <m:ctrlPr>
                                    <a:rPr lang="en-GB" sz="1200" i="1">
                                      <a:latin typeface="Cambria Math" panose="02040503050406030204" pitchFamily="18" charset="0"/>
                                    </a:rPr>
                                  </m:ctrlPr>
                                </m:dPr>
                                <m:e>
                                  <m:sSub>
                                    <m:sSubPr>
                                      <m:ctrlPr>
                                        <a:rPr lang="en-GB" sz="1200" i="1">
                                          <a:latin typeface="Cambria Math" panose="02040503050406030204" pitchFamily="18" charset="0"/>
                                        </a:rPr>
                                      </m:ctrlPr>
                                    </m:sSubPr>
                                    <m:e>
                                      <m:r>
                                        <a:rPr lang="en-GB" sz="1200" i="1">
                                          <a:latin typeface="Cambria Math" panose="02040503050406030204" pitchFamily="18" charset="0"/>
                                        </a:rPr>
                                        <m:t>𝑃</m:t>
                                      </m:r>
                                    </m:e>
                                    <m:sub>
                                      <m:r>
                                        <a:rPr lang="en-GB" sz="1200" b="0" i="1" smtClean="0">
                                          <a:latin typeface="Cambria Math" panose="02040503050406030204" pitchFamily="18" charset="0"/>
                                        </a:rPr>
                                        <m:t>𝑒𝑣</m:t>
                                      </m:r>
                                    </m:sub>
                                  </m:sSub>
                                </m:e>
                              </m:d>
                            </m:e>
                          </m:func>
                        </m:sup>
                      </m:sSubSup>
                      <m:sSub>
                        <m:sSubPr>
                          <m:ctrlPr>
                            <a:rPr lang="en-GB" sz="1200" b="0" i="1" smtClean="0">
                              <a:solidFill>
                                <a:schemeClr val="tx1"/>
                              </a:solidFill>
                              <a:latin typeface="Cambria Math" panose="02040503050406030204" pitchFamily="18" charset="0"/>
                            </a:rPr>
                          </m:ctrlPr>
                        </m:sSubPr>
                        <m:e>
                          <m:r>
                            <a:rPr lang="en-GB" sz="1200" b="0" i="1" smtClean="0">
                              <a:solidFill>
                                <a:schemeClr val="tx1"/>
                              </a:solidFill>
                              <a:latin typeface="Cambria Math" panose="02040503050406030204" pitchFamily="18" charset="0"/>
                            </a:rPr>
                            <m:t>𝑇</m:t>
                          </m:r>
                        </m:e>
                        <m:sub>
                          <m:r>
                            <a:rPr lang="en-GB" sz="1200" b="0" i="1" smtClean="0">
                              <a:solidFill>
                                <a:schemeClr val="tx1"/>
                              </a:solidFill>
                              <a:latin typeface="Cambria Math" panose="02040503050406030204" pitchFamily="18" charset="0"/>
                            </a:rPr>
                            <m:t>𝑠</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𝑒𝑣</m:t>
                          </m:r>
                        </m:sub>
                      </m:sSub>
                    </m:oMath>
                  </m:oMathPara>
                </a14:m>
                <a:endParaRPr lang="en-DE" sz="1200" dirty="0"/>
              </a:p>
            </p:txBody>
          </p:sp>
        </mc:Choice>
        <mc:Fallback xmlns="">
          <p:sp>
            <p:nvSpPr>
              <p:cNvPr id="28" name="TextBox 27">
                <a:extLst>
                  <a:ext uri="{FF2B5EF4-FFF2-40B4-BE49-F238E27FC236}">
                    <a16:creationId xmlns:a16="http://schemas.microsoft.com/office/drawing/2014/main" id="{E851A5FE-A7DA-3589-078B-DF14323CF5F9}"/>
                  </a:ext>
                </a:extLst>
              </p:cNvPr>
              <p:cNvSpPr txBox="1">
                <a:spLocks noRot="1" noChangeAspect="1" noMove="1" noResize="1" noEditPoints="1" noAdjustHandles="1" noChangeArrowheads="1" noChangeShapeType="1" noTextEdit="1"/>
              </p:cNvSpPr>
              <p:nvPr/>
            </p:nvSpPr>
            <p:spPr>
              <a:xfrm>
                <a:off x="355163" y="3555833"/>
                <a:ext cx="3206659" cy="351699"/>
              </a:xfrm>
              <a:prstGeom prst="rect">
                <a:avLst/>
              </a:prstGeom>
              <a:blipFill>
                <a:blip r:embed="rId7"/>
                <a:stretch>
                  <a:fillRect t="-5172" b="-15517"/>
                </a:stretch>
              </a:blipFill>
            </p:spPr>
            <p:txBody>
              <a:bodyPr/>
              <a:lstStyle/>
              <a:p>
                <a:r>
                  <a:rPr lang="en-DE">
                    <a:noFill/>
                  </a:rPr>
                  <a:t> </a:t>
                </a:r>
              </a:p>
            </p:txBody>
          </p:sp>
        </mc:Fallback>
      </mc:AlternateContent>
      <p:cxnSp>
        <p:nvCxnSpPr>
          <p:cNvPr id="32" name="Straight Arrow Connector 31">
            <a:extLst>
              <a:ext uri="{FF2B5EF4-FFF2-40B4-BE49-F238E27FC236}">
                <a16:creationId xmlns:a16="http://schemas.microsoft.com/office/drawing/2014/main" id="{086BD324-65A4-19C6-160B-D5812542CA17}"/>
              </a:ext>
            </a:extLst>
          </p:cNvPr>
          <p:cNvCxnSpPr>
            <a:stCxn id="26" idx="3"/>
          </p:cNvCxnSpPr>
          <p:nvPr/>
        </p:nvCxnSpPr>
        <p:spPr>
          <a:xfrm flipV="1">
            <a:off x="3720376" y="2826650"/>
            <a:ext cx="49527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E1F9FE3D-2AA2-C086-F639-3B0951B893A3}"/>
              </a:ext>
            </a:extLst>
          </p:cNvPr>
          <p:cNvCxnSpPr/>
          <p:nvPr/>
        </p:nvCxnSpPr>
        <p:spPr>
          <a:xfrm flipV="1">
            <a:off x="3415553" y="3693276"/>
            <a:ext cx="712694" cy="65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8961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B9D68A-69AD-228A-C818-E8AA9BC20640}"/>
              </a:ext>
            </a:extLst>
          </p:cNvPr>
          <p:cNvSpPr>
            <a:spLocks noGrp="1"/>
          </p:cNvSpPr>
          <p:nvPr>
            <p:ph idx="1"/>
          </p:nvPr>
        </p:nvSpPr>
        <p:spPr/>
        <p:txBody>
          <a:bodyPr/>
          <a:lstStyle/>
          <a:p>
            <a:r>
              <a:rPr lang="en-GB" dirty="0"/>
              <a:t>The MPC program was developed in Python environment with the help of </a:t>
            </a:r>
            <a:r>
              <a:rPr lang="en-GB" dirty="0" err="1"/>
              <a:t>CasADi</a:t>
            </a:r>
            <a:r>
              <a:rPr lang="en-GB" dirty="0"/>
              <a:t> library.</a:t>
            </a:r>
          </a:p>
          <a:p>
            <a:r>
              <a:rPr lang="en-GB" dirty="0" err="1"/>
              <a:t>CasADi</a:t>
            </a:r>
            <a:r>
              <a:rPr lang="en-GB" dirty="0"/>
              <a:t> is a open-source software tool for numerical optimization and algorithmic differentiation. It provides a platform for solving nonlinear optimization problem.</a:t>
            </a:r>
          </a:p>
          <a:p>
            <a:r>
              <a:rPr lang="en-GB" dirty="0"/>
              <a:t>The GUI was designed using Qt Creator and </a:t>
            </a:r>
            <a:r>
              <a:rPr lang="en-GB" dirty="0" err="1"/>
              <a:t>PyQt</a:t>
            </a:r>
            <a:r>
              <a:rPr lang="en-GB" dirty="0"/>
              <a:t> library in Python.</a:t>
            </a:r>
          </a:p>
          <a:p>
            <a:r>
              <a:rPr lang="en-GB" dirty="0"/>
              <a:t>Qt is a cross-platform C++ application development framework used for creating GUI. </a:t>
            </a:r>
            <a:r>
              <a:rPr lang="en-GB" dirty="0" err="1"/>
              <a:t>PyQt</a:t>
            </a:r>
            <a:r>
              <a:rPr lang="en-GB" dirty="0"/>
              <a:t> is a binding for Qt that allows developers to use Qt with python</a:t>
            </a:r>
          </a:p>
          <a:p>
            <a:r>
              <a:rPr lang="en-GB" dirty="0"/>
              <a:t>The database utilized into the program is SQLite, suitable for lightweight application.</a:t>
            </a:r>
          </a:p>
          <a:p>
            <a:r>
              <a:rPr lang="en-GB" dirty="0"/>
              <a:t>The database is used to store the parameters to compute the MPC.</a:t>
            </a:r>
          </a:p>
        </p:txBody>
      </p:sp>
      <p:sp>
        <p:nvSpPr>
          <p:cNvPr id="3" name="Title 2">
            <a:extLst>
              <a:ext uri="{FF2B5EF4-FFF2-40B4-BE49-F238E27FC236}">
                <a16:creationId xmlns:a16="http://schemas.microsoft.com/office/drawing/2014/main" id="{758404C4-B54B-6565-3C0C-9E9A15B79429}"/>
              </a:ext>
            </a:extLst>
          </p:cNvPr>
          <p:cNvSpPr>
            <a:spLocks noGrp="1"/>
          </p:cNvSpPr>
          <p:nvPr>
            <p:ph type="title"/>
          </p:nvPr>
        </p:nvSpPr>
        <p:spPr/>
        <p:txBody>
          <a:bodyPr/>
          <a:lstStyle/>
          <a:p>
            <a:r>
              <a:rPr lang="en-GB" sz="2800" dirty="0"/>
              <a:t>Development and Implementation</a:t>
            </a:r>
            <a:endParaRPr lang="en-DE" sz="2800" dirty="0"/>
          </a:p>
        </p:txBody>
      </p:sp>
    </p:spTree>
    <p:extLst>
      <p:ext uri="{BB962C8B-B14F-4D97-AF65-F5344CB8AC3E}">
        <p14:creationId xmlns:p14="http://schemas.microsoft.com/office/powerpoint/2010/main" val="3257523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33534D-D26E-1DF9-2815-FBC0DCC3A33B}"/>
              </a:ext>
            </a:extLst>
          </p:cNvPr>
          <p:cNvSpPr>
            <a:spLocks noGrp="1"/>
          </p:cNvSpPr>
          <p:nvPr>
            <p:ph type="title"/>
          </p:nvPr>
        </p:nvSpPr>
        <p:spPr/>
        <p:txBody>
          <a:bodyPr/>
          <a:lstStyle/>
          <a:p>
            <a:r>
              <a:rPr lang="en-GB" sz="2800" dirty="0"/>
              <a:t>Development and Implementation</a:t>
            </a:r>
            <a:endParaRPr lang="en-DE" sz="2800" dirty="0"/>
          </a:p>
        </p:txBody>
      </p:sp>
      <p:pic>
        <p:nvPicPr>
          <p:cNvPr id="5" name="Picture 4" descr="A diagram of a database&#10;&#10;Description automatically generated with low confidence">
            <a:extLst>
              <a:ext uri="{FF2B5EF4-FFF2-40B4-BE49-F238E27FC236}">
                <a16:creationId xmlns:a16="http://schemas.microsoft.com/office/drawing/2014/main" id="{205F0DE5-0500-8F2E-DA9E-EC94696AD861}"/>
              </a:ext>
            </a:extLst>
          </p:cNvPr>
          <p:cNvPicPr>
            <a:picLocks noChangeAspect="1"/>
          </p:cNvPicPr>
          <p:nvPr/>
        </p:nvPicPr>
        <p:blipFill>
          <a:blip r:embed="rId2"/>
          <a:stretch>
            <a:fillRect/>
          </a:stretch>
        </p:blipFill>
        <p:spPr>
          <a:xfrm>
            <a:off x="932909" y="1605071"/>
            <a:ext cx="4774001" cy="2230576"/>
          </a:xfrm>
          <a:prstGeom prst="rect">
            <a:avLst/>
          </a:prstGeom>
        </p:spPr>
      </p:pic>
      <p:sp>
        <p:nvSpPr>
          <p:cNvPr id="6" name="TextBox 5">
            <a:extLst>
              <a:ext uri="{FF2B5EF4-FFF2-40B4-BE49-F238E27FC236}">
                <a16:creationId xmlns:a16="http://schemas.microsoft.com/office/drawing/2014/main" id="{EE549D31-97E2-5F48-DC7E-999B29D8C737}"/>
              </a:ext>
            </a:extLst>
          </p:cNvPr>
          <p:cNvSpPr txBox="1"/>
          <p:nvPr/>
        </p:nvSpPr>
        <p:spPr>
          <a:xfrm>
            <a:off x="611840" y="899562"/>
            <a:ext cx="2242345" cy="369332"/>
          </a:xfrm>
          <a:prstGeom prst="rect">
            <a:avLst/>
          </a:prstGeom>
          <a:noFill/>
        </p:spPr>
        <p:txBody>
          <a:bodyPr wrap="none" rtlCol="0">
            <a:spAutoFit/>
          </a:bodyPr>
          <a:lstStyle/>
          <a:p>
            <a:r>
              <a:rPr lang="en-GB" dirty="0">
                <a:effectLst>
                  <a:outerShdw blurRad="38100" dist="38100" dir="2700000" algn="tl">
                    <a:srgbClr val="000000">
                      <a:alpha val="43137"/>
                    </a:srgbClr>
                  </a:outerShdw>
                </a:effectLst>
              </a:rPr>
              <a:t>Software Architecture</a:t>
            </a:r>
            <a:endParaRPr lang="en-DE"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EB86BCA0-5E55-A22D-A2F4-29012B612C13}"/>
              </a:ext>
            </a:extLst>
          </p:cNvPr>
          <p:cNvSpPr txBox="1"/>
          <p:nvPr/>
        </p:nvSpPr>
        <p:spPr>
          <a:xfrm>
            <a:off x="5658785" y="899562"/>
            <a:ext cx="3299586" cy="1938992"/>
          </a:xfrm>
          <a:prstGeom prst="rect">
            <a:avLst/>
          </a:prstGeom>
          <a:noFill/>
        </p:spPr>
        <p:txBody>
          <a:bodyPr wrap="square" rtlCol="0">
            <a:spAutoFit/>
          </a:bodyPr>
          <a:lstStyle/>
          <a:p>
            <a:pPr marL="285750" indent="-285750">
              <a:buFont typeface="Arial" panose="020B0604020202020204" pitchFamily="34" charset="0"/>
              <a:buChar char="•"/>
            </a:pPr>
            <a:r>
              <a:rPr lang="en-GB" sz="1200" dirty="0"/>
              <a:t>There are two types of GUI developed</a:t>
            </a:r>
          </a:p>
          <a:p>
            <a:pPr marL="742846" lvl="1" indent="-285750">
              <a:buFont typeface="Arial" panose="020B0604020202020204" pitchFamily="34" charset="0"/>
              <a:buChar char="•"/>
            </a:pPr>
            <a:r>
              <a:rPr lang="en-GB" sz="1200" dirty="0"/>
              <a:t>Main GUI – Visualize Result</a:t>
            </a:r>
          </a:p>
          <a:p>
            <a:pPr marL="742846" lvl="1" indent="-285750">
              <a:buFont typeface="Arial" panose="020B0604020202020204" pitchFamily="34" charset="0"/>
              <a:buChar char="•"/>
            </a:pPr>
            <a:r>
              <a:rPr lang="en-GB" sz="1200" dirty="0"/>
              <a:t>Secondary GUI – Data entry</a:t>
            </a:r>
          </a:p>
          <a:p>
            <a:pPr marL="285750" indent="-285750">
              <a:buFont typeface="Arial" panose="020B0604020202020204" pitchFamily="34" charset="0"/>
              <a:buChar char="•"/>
            </a:pPr>
            <a:r>
              <a:rPr lang="en-GB" sz="1200" dirty="0"/>
              <a:t>Parameter saved in the secondary GUI are stored directly in the database.</a:t>
            </a:r>
          </a:p>
          <a:p>
            <a:pPr marL="285750" indent="-285750">
              <a:buFont typeface="Arial" panose="020B0604020202020204" pitchFamily="34" charset="0"/>
              <a:buChar char="•"/>
            </a:pPr>
            <a:r>
              <a:rPr lang="en-GB" sz="1200" dirty="0"/>
              <a:t>MPC program will fetch the parameter from the database and execute its computation</a:t>
            </a:r>
          </a:p>
          <a:p>
            <a:pPr marL="285750" indent="-285750">
              <a:buFont typeface="Arial" panose="020B0604020202020204" pitchFamily="34" charset="0"/>
              <a:buChar char="•"/>
            </a:pPr>
            <a:r>
              <a:rPr lang="en-GB" sz="1200" dirty="0"/>
              <a:t>After MPC complete it computation, it will pass the data to the main GUI for visualization.</a:t>
            </a:r>
          </a:p>
        </p:txBody>
      </p:sp>
    </p:spTree>
    <p:extLst>
      <p:ext uri="{BB962C8B-B14F-4D97-AF65-F5344CB8AC3E}">
        <p14:creationId xmlns:p14="http://schemas.microsoft.com/office/powerpoint/2010/main" val="1018559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C6D7FA-7C48-C151-5D52-73A36E284518}"/>
              </a:ext>
            </a:extLst>
          </p:cNvPr>
          <p:cNvSpPr>
            <a:spLocks noGrp="1"/>
          </p:cNvSpPr>
          <p:nvPr>
            <p:ph type="title"/>
          </p:nvPr>
        </p:nvSpPr>
        <p:spPr/>
        <p:txBody>
          <a:bodyPr/>
          <a:lstStyle/>
          <a:p>
            <a:r>
              <a:rPr lang="en-GB" sz="2800" dirty="0"/>
              <a:t>Development and Implementation</a:t>
            </a:r>
            <a:endParaRPr lang="en-DE" sz="2800" dirty="0"/>
          </a:p>
        </p:txBody>
      </p:sp>
      <p:pic>
        <p:nvPicPr>
          <p:cNvPr id="7" name="Picture 6" descr="A screenshot of a cell phone&#10;&#10;Description automatically generated with medium confidence">
            <a:extLst>
              <a:ext uri="{FF2B5EF4-FFF2-40B4-BE49-F238E27FC236}">
                <a16:creationId xmlns:a16="http://schemas.microsoft.com/office/drawing/2014/main" id="{38CEEE56-C6EE-D9AD-B077-CC82864296F7}"/>
              </a:ext>
            </a:extLst>
          </p:cNvPr>
          <p:cNvPicPr>
            <a:picLocks noChangeAspect="1"/>
          </p:cNvPicPr>
          <p:nvPr/>
        </p:nvPicPr>
        <p:blipFill>
          <a:blip r:embed="rId2"/>
          <a:stretch>
            <a:fillRect/>
          </a:stretch>
        </p:blipFill>
        <p:spPr>
          <a:xfrm>
            <a:off x="278378" y="1655711"/>
            <a:ext cx="1180627" cy="2361254"/>
          </a:xfrm>
          <a:prstGeom prst="rect">
            <a:avLst/>
          </a:prstGeom>
        </p:spPr>
      </p:pic>
      <p:sp>
        <p:nvSpPr>
          <p:cNvPr id="8" name="TextBox 7">
            <a:extLst>
              <a:ext uri="{FF2B5EF4-FFF2-40B4-BE49-F238E27FC236}">
                <a16:creationId xmlns:a16="http://schemas.microsoft.com/office/drawing/2014/main" id="{AAC82E1F-E2C6-1FCF-96E3-0BDA14DCC133}"/>
              </a:ext>
            </a:extLst>
          </p:cNvPr>
          <p:cNvSpPr txBox="1"/>
          <p:nvPr/>
        </p:nvSpPr>
        <p:spPr>
          <a:xfrm>
            <a:off x="472597" y="757203"/>
            <a:ext cx="1071127" cy="369332"/>
          </a:xfrm>
          <a:prstGeom prst="rect">
            <a:avLst/>
          </a:prstGeom>
          <a:noFill/>
        </p:spPr>
        <p:txBody>
          <a:bodyPr wrap="none" rtlCol="0">
            <a:spAutoFit/>
          </a:bodyPr>
          <a:lstStyle/>
          <a:p>
            <a:r>
              <a:rPr lang="en-GB" u="sng" dirty="0">
                <a:effectLst>
                  <a:outerShdw blurRad="38100" dist="38100" dir="2700000" algn="tl">
                    <a:srgbClr val="000000">
                      <a:alpha val="43137"/>
                    </a:srgbClr>
                  </a:outerShdw>
                </a:effectLst>
              </a:rPr>
              <a:t>Main GUI</a:t>
            </a:r>
            <a:endParaRPr lang="en-DE" u="sng" dirty="0">
              <a:effectLst>
                <a:outerShdw blurRad="38100" dist="38100" dir="2700000" algn="tl">
                  <a:srgbClr val="000000">
                    <a:alpha val="43137"/>
                  </a:srgbClr>
                </a:outerShdw>
              </a:effectLst>
            </a:endParaRPr>
          </a:p>
        </p:txBody>
      </p:sp>
      <p:cxnSp>
        <p:nvCxnSpPr>
          <p:cNvPr id="10" name="Straight Arrow Connector 9">
            <a:extLst>
              <a:ext uri="{FF2B5EF4-FFF2-40B4-BE49-F238E27FC236}">
                <a16:creationId xmlns:a16="http://schemas.microsoft.com/office/drawing/2014/main" id="{0CD4DE56-AAA8-1C5C-793F-B398DA2D35A3}"/>
              </a:ext>
            </a:extLst>
          </p:cNvPr>
          <p:cNvCxnSpPr>
            <a:cxnSpLocks/>
          </p:cNvCxnSpPr>
          <p:nvPr/>
        </p:nvCxnSpPr>
        <p:spPr>
          <a:xfrm flipV="1">
            <a:off x="1647265" y="1781735"/>
            <a:ext cx="567463" cy="8673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5" name="Picture 14" descr="A picture containing text, screenshot, software&#10;&#10;Description automatically generated">
            <a:extLst>
              <a:ext uri="{FF2B5EF4-FFF2-40B4-BE49-F238E27FC236}">
                <a16:creationId xmlns:a16="http://schemas.microsoft.com/office/drawing/2014/main" id="{3CD3E1C6-0ED4-F2AC-C36E-4E8661EA0E78}"/>
              </a:ext>
            </a:extLst>
          </p:cNvPr>
          <p:cNvPicPr>
            <a:picLocks noChangeAspect="1"/>
          </p:cNvPicPr>
          <p:nvPr/>
        </p:nvPicPr>
        <p:blipFill>
          <a:blip r:embed="rId3"/>
          <a:stretch>
            <a:fillRect/>
          </a:stretch>
        </p:blipFill>
        <p:spPr>
          <a:xfrm>
            <a:off x="2313693" y="757203"/>
            <a:ext cx="6551929" cy="3538725"/>
          </a:xfrm>
          <a:prstGeom prst="rect">
            <a:avLst/>
          </a:prstGeom>
        </p:spPr>
      </p:pic>
    </p:spTree>
    <p:extLst>
      <p:ext uri="{BB962C8B-B14F-4D97-AF65-F5344CB8AC3E}">
        <p14:creationId xmlns:p14="http://schemas.microsoft.com/office/powerpoint/2010/main" val="2343527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002C8E-CD28-625F-41A4-FA10B87E0004}"/>
              </a:ext>
            </a:extLst>
          </p:cNvPr>
          <p:cNvSpPr>
            <a:spLocks noGrp="1"/>
          </p:cNvSpPr>
          <p:nvPr>
            <p:ph type="title"/>
          </p:nvPr>
        </p:nvSpPr>
        <p:spPr/>
        <p:txBody>
          <a:bodyPr/>
          <a:lstStyle/>
          <a:p>
            <a:r>
              <a:rPr lang="en-GB" sz="2800" dirty="0"/>
              <a:t>Development and Implementation</a:t>
            </a:r>
            <a:endParaRPr lang="en-DE" sz="2800" dirty="0"/>
          </a:p>
        </p:txBody>
      </p:sp>
      <p:pic>
        <p:nvPicPr>
          <p:cNvPr id="5" name="Picture 4" descr="A screenshot of a computer&#10;&#10;Description automatically generated with medium confidence">
            <a:extLst>
              <a:ext uri="{FF2B5EF4-FFF2-40B4-BE49-F238E27FC236}">
                <a16:creationId xmlns:a16="http://schemas.microsoft.com/office/drawing/2014/main" id="{2FA34840-AB30-0738-E7EF-1E8DFCBBB3AF}"/>
              </a:ext>
            </a:extLst>
          </p:cNvPr>
          <p:cNvPicPr>
            <a:picLocks noChangeAspect="1"/>
          </p:cNvPicPr>
          <p:nvPr/>
        </p:nvPicPr>
        <p:blipFill>
          <a:blip r:embed="rId2"/>
          <a:stretch>
            <a:fillRect/>
          </a:stretch>
        </p:blipFill>
        <p:spPr>
          <a:xfrm>
            <a:off x="1196788" y="830165"/>
            <a:ext cx="7463118" cy="3483169"/>
          </a:xfrm>
          <a:prstGeom prst="rect">
            <a:avLst/>
          </a:prstGeom>
        </p:spPr>
      </p:pic>
    </p:spTree>
    <p:extLst>
      <p:ext uri="{BB962C8B-B14F-4D97-AF65-F5344CB8AC3E}">
        <p14:creationId xmlns:p14="http://schemas.microsoft.com/office/powerpoint/2010/main" val="3014610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0D3538-61B5-3A1B-6E3A-2E7FB5B362A7}"/>
              </a:ext>
            </a:extLst>
          </p:cNvPr>
          <p:cNvSpPr>
            <a:spLocks noGrp="1"/>
          </p:cNvSpPr>
          <p:nvPr>
            <p:ph type="title"/>
          </p:nvPr>
        </p:nvSpPr>
        <p:spPr/>
        <p:txBody>
          <a:bodyPr/>
          <a:lstStyle/>
          <a:p>
            <a:r>
              <a:rPr lang="en-GB" sz="2800" dirty="0"/>
              <a:t>Development and Implementation</a:t>
            </a:r>
            <a:endParaRPr lang="en-DE" sz="2800" dirty="0"/>
          </a:p>
        </p:txBody>
      </p:sp>
      <p:pic>
        <p:nvPicPr>
          <p:cNvPr id="5" name="Picture 4" descr="A screenshot of a computer&#10;&#10;Description automatically generated with medium confidence">
            <a:extLst>
              <a:ext uri="{FF2B5EF4-FFF2-40B4-BE49-F238E27FC236}">
                <a16:creationId xmlns:a16="http://schemas.microsoft.com/office/drawing/2014/main" id="{15B76EDD-F47F-A942-3681-99AB238098B6}"/>
              </a:ext>
            </a:extLst>
          </p:cNvPr>
          <p:cNvPicPr>
            <a:picLocks noChangeAspect="1"/>
          </p:cNvPicPr>
          <p:nvPr/>
        </p:nvPicPr>
        <p:blipFill>
          <a:blip r:embed="rId2"/>
          <a:stretch>
            <a:fillRect/>
          </a:stretch>
        </p:blipFill>
        <p:spPr>
          <a:xfrm>
            <a:off x="2514600" y="793377"/>
            <a:ext cx="6315980" cy="3421156"/>
          </a:xfrm>
          <a:prstGeom prst="rect">
            <a:avLst/>
          </a:prstGeom>
        </p:spPr>
      </p:pic>
      <p:sp>
        <p:nvSpPr>
          <p:cNvPr id="6" name="TextBox 5">
            <a:extLst>
              <a:ext uri="{FF2B5EF4-FFF2-40B4-BE49-F238E27FC236}">
                <a16:creationId xmlns:a16="http://schemas.microsoft.com/office/drawing/2014/main" id="{A2DC1A55-7970-EAAB-A460-D9A51D7924A8}"/>
              </a:ext>
            </a:extLst>
          </p:cNvPr>
          <p:cNvSpPr txBox="1"/>
          <p:nvPr/>
        </p:nvSpPr>
        <p:spPr>
          <a:xfrm>
            <a:off x="316006" y="1203512"/>
            <a:ext cx="2043953" cy="1754326"/>
          </a:xfrm>
          <a:prstGeom prst="rect">
            <a:avLst/>
          </a:prstGeom>
          <a:noFill/>
        </p:spPr>
        <p:txBody>
          <a:bodyPr wrap="square" rtlCol="0">
            <a:spAutoFit/>
          </a:bodyPr>
          <a:lstStyle/>
          <a:p>
            <a:pPr marL="171450" indent="-171450">
              <a:buFont typeface="Arial" panose="020B0604020202020204" pitchFamily="34" charset="0"/>
              <a:buChar char="•"/>
            </a:pPr>
            <a:r>
              <a:rPr lang="en-GB" sz="1200" dirty="0"/>
              <a:t>When MPC program start, a progress bar will appear to indicate how the status of the computation.</a:t>
            </a:r>
          </a:p>
          <a:p>
            <a:pPr marL="171450" indent="-171450">
              <a:buFont typeface="Arial" panose="020B0604020202020204" pitchFamily="34" charset="0"/>
              <a:buChar char="•"/>
            </a:pPr>
            <a:r>
              <a:rPr lang="en-GB" sz="1200" dirty="0"/>
              <a:t>The window for the progress bar is a bit delay because it is running MPC computation in the background.</a:t>
            </a:r>
            <a:endParaRPr lang="en-DE" sz="1200" dirty="0"/>
          </a:p>
        </p:txBody>
      </p:sp>
    </p:spTree>
    <p:extLst>
      <p:ext uri="{BB962C8B-B14F-4D97-AF65-F5344CB8AC3E}">
        <p14:creationId xmlns:p14="http://schemas.microsoft.com/office/powerpoint/2010/main" val="29865950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04E89-C7DB-FDC7-197C-2CFCF0599E43}"/>
              </a:ext>
            </a:extLst>
          </p:cNvPr>
          <p:cNvSpPr>
            <a:spLocks noGrp="1"/>
          </p:cNvSpPr>
          <p:nvPr>
            <p:ph type="title"/>
          </p:nvPr>
        </p:nvSpPr>
        <p:spPr/>
        <p:txBody>
          <a:bodyPr/>
          <a:lstStyle/>
          <a:p>
            <a:r>
              <a:rPr lang="en-GB" sz="2800" dirty="0"/>
              <a:t>Development and Implementation</a:t>
            </a:r>
            <a:endParaRPr lang="en-DE" sz="2800" dirty="0"/>
          </a:p>
        </p:txBody>
      </p:sp>
      <p:sp>
        <p:nvSpPr>
          <p:cNvPr id="6" name="TextBox 5">
            <a:extLst>
              <a:ext uri="{FF2B5EF4-FFF2-40B4-BE49-F238E27FC236}">
                <a16:creationId xmlns:a16="http://schemas.microsoft.com/office/drawing/2014/main" id="{5BEA9481-512D-2E66-69FF-E7E7482AE22C}"/>
              </a:ext>
            </a:extLst>
          </p:cNvPr>
          <p:cNvSpPr txBox="1"/>
          <p:nvPr/>
        </p:nvSpPr>
        <p:spPr>
          <a:xfrm>
            <a:off x="147918" y="1163171"/>
            <a:ext cx="2052596" cy="830997"/>
          </a:xfrm>
          <a:prstGeom prst="rect">
            <a:avLst/>
          </a:prstGeom>
          <a:noFill/>
        </p:spPr>
        <p:txBody>
          <a:bodyPr wrap="square" rtlCol="0">
            <a:spAutoFit/>
          </a:bodyPr>
          <a:lstStyle/>
          <a:p>
            <a:r>
              <a:rPr lang="en-GB" sz="1200" dirty="0"/>
              <a:t>When the computation end, the progress bar will close itself and the all the result will plotted</a:t>
            </a:r>
            <a:endParaRPr lang="en-DE" sz="1200" dirty="0"/>
          </a:p>
        </p:txBody>
      </p:sp>
      <p:pic>
        <p:nvPicPr>
          <p:cNvPr id="8" name="Picture 7" descr="A screenshot of a graph&#10;&#10;Description automatically generated with low confidence">
            <a:extLst>
              <a:ext uri="{FF2B5EF4-FFF2-40B4-BE49-F238E27FC236}">
                <a16:creationId xmlns:a16="http://schemas.microsoft.com/office/drawing/2014/main" id="{96682496-04E6-47CA-3D1D-D2E1B5623B64}"/>
              </a:ext>
            </a:extLst>
          </p:cNvPr>
          <p:cNvPicPr>
            <a:picLocks noChangeAspect="1"/>
          </p:cNvPicPr>
          <p:nvPr/>
        </p:nvPicPr>
        <p:blipFill>
          <a:blip r:embed="rId2"/>
          <a:stretch>
            <a:fillRect/>
          </a:stretch>
        </p:blipFill>
        <p:spPr>
          <a:xfrm>
            <a:off x="2200514" y="847165"/>
            <a:ext cx="6697877" cy="3621040"/>
          </a:xfrm>
          <a:prstGeom prst="rect">
            <a:avLst/>
          </a:prstGeom>
        </p:spPr>
      </p:pic>
    </p:spTree>
    <p:extLst>
      <p:ext uri="{BB962C8B-B14F-4D97-AF65-F5344CB8AC3E}">
        <p14:creationId xmlns:p14="http://schemas.microsoft.com/office/powerpoint/2010/main" val="10009127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FCEC97-0878-6584-7B5C-8A64E10098E3}"/>
              </a:ext>
            </a:extLst>
          </p:cNvPr>
          <p:cNvSpPr>
            <a:spLocks noGrp="1"/>
          </p:cNvSpPr>
          <p:nvPr>
            <p:ph type="title"/>
          </p:nvPr>
        </p:nvSpPr>
        <p:spPr/>
        <p:txBody>
          <a:bodyPr/>
          <a:lstStyle/>
          <a:p>
            <a:r>
              <a:rPr lang="en-GB" sz="2800" dirty="0"/>
              <a:t>Development and implementation</a:t>
            </a:r>
            <a:endParaRPr lang="en-DE" sz="2800" dirty="0"/>
          </a:p>
        </p:txBody>
      </p:sp>
      <p:pic>
        <p:nvPicPr>
          <p:cNvPr id="5" name="Picture 4" descr="A picture containing text, screenshot&#10;&#10;Description automatically generated">
            <a:extLst>
              <a:ext uri="{FF2B5EF4-FFF2-40B4-BE49-F238E27FC236}">
                <a16:creationId xmlns:a16="http://schemas.microsoft.com/office/drawing/2014/main" id="{9092D402-2687-A236-D453-A05715B53B8E}"/>
              </a:ext>
            </a:extLst>
          </p:cNvPr>
          <p:cNvPicPr>
            <a:picLocks noChangeAspect="1"/>
          </p:cNvPicPr>
          <p:nvPr/>
        </p:nvPicPr>
        <p:blipFill>
          <a:blip r:embed="rId2"/>
          <a:stretch>
            <a:fillRect/>
          </a:stretch>
        </p:blipFill>
        <p:spPr>
          <a:xfrm>
            <a:off x="691817" y="2749924"/>
            <a:ext cx="3444161" cy="1273426"/>
          </a:xfrm>
          <a:prstGeom prst="rect">
            <a:avLst/>
          </a:prstGeom>
        </p:spPr>
      </p:pic>
      <p:pic>
        <p:nvPicPr>
          <p:cNvPr id="7" name="Picture 6" descr="A screenshot of a computer screen&#10;&#10;Description automatically generated with low confidence">
            <a:extLst>
              <a:ext uri="{FF2B5EF4-FFF2-40B4-BE49-F238E27FC236}">
                <a16:creationId xmlns:a16="http://schemas.microsoft.com/office/drawing/2014/main" id="{5EA5BF71-1EE3-8967-48D4-C6F6A038086B}"/>
              </a:ext>
            </a:extLst>
          </p:cNvPr>
          <p:cNvPicPr>
            <a:picLocks noChangeAspect="1"/>
          </p:cNvPicPr>
          <p:nvPr/>
        </p:nvPicPr>
        <p:blipFill>
          <a:blip r:embed="rId3"/>
          <a:stretch>
            <a:fillRect/>
          </a:stretch>
        </p:blipFill>
        <p:spPr>
          <a:xfrm>
            <a:off x="5256539" y="920046"/>
            <a:ext cx="2881760" cy="3659756"/>
          </a:xfrm>
          <a:prstGeom prst="rect">
            <a:avLst/>
          </a:prstGeom>
        </p:spPr>
      </p:pic>
      <p:sp>
        <p:nvSpPr>
          <p:cNvPr id="8" name="TextBox 7">
            <a:extLst>
              <a:ext uri="{FF2B5EF4-FFF2-40B4-BE49-F238E27FC236}">
                <a16:creationId xmlns:a16="http://schemas.microsoft.com/office/drawing/2014/main" id="{B64EE6FD-5402-182B-6C68-1FE8A700D962}"/>
              </a:ext>
            </a:extLst>
          </p:cNvPr>
          <p:cNvSpPr txBox="1"/>
          <p:nvPr/>
        </p:nvSpPr>
        <p:spPr>
          <a:xfrm>
            <a:off x="544606" y="1082488"/>
            <a:ext cx="4612341" cy="923330"/>
          </a:xfrm>
          <a:prstGeom prst="rect">
            <a:avLst/>
          </a:prstGeom>
          <a:noFill/>
        </p:spPr>
        <p:txBody>
          <a:bodyPr wrap="square" rtlCol="0">
            <a:spAutoFit/>
          </a:bodyPr>
          <a:lstStyle/>
          <a:p>
            <a:r>
              <a:rPr lang="en-GB" dirty="0"/>
              <a:t>Log files is also generated in the end and are stored in the text file for later analysis and visualization.</a:t>
            </a:r>
            <a:endParaRPr lang="en-DE" dirty="0"/>
          </a:p>
        </p:txBody>
      </p:sp>
    </p:spTree>
    <p:extLst>
      <p:ext uri="{BB962C8B-B14F-4D97-AF65-F5344CB8AC3E}">
        <p14:creationId xmlns:p14="http://schemas.microsoft.com/office/powerpoint/2010/main" val="16389640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C86DD2D-F31C-B84F-7AC1-3ECA039309F7}"/>
              </a:ext>
            </a:extLst>
          </p:cNvPr>
          <p:cNvSpPr/>
          <p:nvPr/>
        </p:nvSpPr>
        <p:spPr>
          <a:xfrm>
            <a:off x="3299026" y="2841913"/>
            <a:ext cx="5091926" cy="120745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DE"/>
          </a:p>
        </p:txBody>
      </p:sp>
      <p:sp>
        <p:nvSpPr>
          <p:cNvPr id="12" name="Rectangle 11">
            <a:extLst>
              <a:ext uri="{FF2B5EF4-FFF2-40B4-BE49-F238E27FC236}">
                <a16:creationId xmlns:a16="http://schemas.microsoft.com/office/drawing/2014/main" id="{4CF2C5BF-D567-092A-2FA3-779061D3A7FC}"/>
              </a:ext>
            </a:extLst>
          </p:cNvPr>
          <p:cNvSpPr/>
          <p:nvPr/>
        </p:nvSpPr>
        <p:spPr>
          <a:xfrm>
            <a:off x="3299026" y="1425389"/>
            <a:ext cx="5091926" cy="124649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DE"/>
          </a:p>
        </p:txBody>
      </p:sp>
      <p:sp>
        <p:nvSpPr>
          <p:cNvPr id="11" name="Rectangle 10">
            <a:extLst>
              <a:ext uri="{FF2B5EF4-FFF2-40B4-BE49-F238E27FC236}">
                <a16:creationId xmlns:a16="http://schemas.microsoft.com/office/drawing/2014/main" id="{F7FB6966-A330-3FFB-FA62-D6A52EB33272}"/>
              </a:ext>
            </a:extLst>
          </p:cNvPr>
          <p:cNvSpPr/>
          <p:nvPr/>
        </p:nvSpPr>
        <p:spPr>
          <a:xfrm>
            <a:off x="591671" y="1425389"/>
            <a:ext cx="2122632" cy="6463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DE"/>
          </a:p>
        </p:txBody>
      </p:sp>
      <p:sp>
        <p:nvSpPr>
          <p:cNvPr id="3" name="Title 2">
            <a:extLst>
              <a:ext uri="{FF2B5EF4-FFF2-40B4-BE49-F238E27FC236}">
                <a16:creationId xmlns:a16="http://schemas.microsoft.com/office/drawing/2014/main" id="{FA62DBC0-A1B2-C66C-3D48-10C50D5A408D}"/>
              </a:ext>
            </a:extLst>
          </p:cNvPr>
          <p:cNvSpPr>
            <a:spLocks noGrp="1"/>
          </p:cNvSpPr>
          <p:nvPr>
            <p:ph type="title"/>
          </p:nvPr>
        </p:nvSpPr>
        <p:spPr/>
        <p:txBody>
          <a:bodyPr/>
          <a:lstStyle/>
          <a:p>
            <a:r>
              <a:rPr lang="en-GB" dirty="0"/>
              <a:t>Case Study 1</a:t>
            </a:r>
            <a:endParaRPr lang="en-DE" dirty="0"/>
          </a:p>
        </p:txBody>
      </p:sp>
      <p:sp>
        <p:nvSpPr>
          <p:cNvPr id="4" name="TextBox 3">
            <a:extLst>
              <a:ext uri="{FF2B5EF4-FFF2-40B4-BE49-F238E27FC236}">
                <a16:creationId xmlns:a16="http://schemas.microsoft.com/office/drawing/2014/main" id="{72EC846E-FDF3-9D36-4B8D-10C038F4ED2C}"/>
              </a:ext>
            </a:extLst>
          </p:cNvPr>
          <p:cNvSpPr txBox="1"/>
          <p:nvPr/>
        </p:nvSpPr>
        <p:spPr>
          <a:xfrm>
            <a:off x="221438" y="878903"/>
            <a:ext cx="4868320" cy="369332"/>
          </a:xfrm>
          <a:prstGeom prst="rect">
            <a:avLst/>
          </a:prstGeom>
          <a:noFill/>
        </p:spPr>
        <p:txBody>
          <a:bodyPr wrap="none" rtlCol="0">
            <a:spAutoFit/>
          </a:bodyPr>
          <a:lstStyle/>
          <a:p>
            <a:r>
              <a:rPr lang="en-GB" dirty="0">
                <a:effectLst>
                  <a:outerShdw blurRad="38100" dist="38100" dir="2700000" algn="tl">
                    <a:srgbClr val="000000">
                      <a:alpha val="43137"/>
                    </a:srgbClr>
                  </a:outerShdw>
                </a:effectLst>
              </a:rPr>
              <a:t>Case study 1: One battery and one electric vehicle</a:t>
            </a:r>
            <a:endParaRPr lang="en-DE"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C51DA3D2-9FEF-0EDA-9A21-3489D648E629}"/>
              </a:ext>
            </a:extLst>
          </p:cNvPr>
          <p:cNvSpPr txBox="1"/>
          <p:nvPr/>
        </p:nvSpPr>
        <p:spPr>
          <a:xfrm>
            <a:off x="591671" y="1425389"/>
            <a:ext cx="2122632" cy="646331"/>
          </a:xfrm>
          <a:prstGeom prst="rect">
            <a:avLst/>
          </a:prstGeom>
          <a:noFill/>
        </p:spPr>
        <p:txBody>
          <a:bodyPr wrap="none" rtlCol="0">
            <a:spAutoFit/>
          </a:bodyPr>
          <a:lstStyle/>
          <a:p>
            <a:pPr marL="171450" indent="-171450">
              <a:buFont typeface="Arial" panose="020B0604020202020204" pitchFamily="34" charset="0"/>
              <a:buChar char="•"/>
            </a:pPr>
            <a:r>
              <a:rPr lang="en-GB" sz="1200" dirty="0"/>
              <a:t>Sampling time: 15 minutes</a:t>
            </a:r>
          </a:p>
          <a:p>
            <a:pPr marL="171450" indent="-171450">
              <a:buFont typeface="Arial" panose="020B0604020202020204" pitchFamily="34" charset="0"/>
              <a:buChar char="•"/>
            </a:pPr>
            <a:r>
              <a:rPr lang="en-GB" sz="1200" dirty="0"/>
              <a:t>Prediction horizon: 24 hours</a:t>
            </a:r>
          </a:p>
          <a:p>
            <a:pPr marL="171450" indent="-171450">
              <a:buFont typeface="Arial" panose="020B0604020202020204" pitchFamily="34" charset="0"/>
              <a:buChar char="•"/>
            </a:pPr>
            <a:r>
              <a:rPr lang="en-GB" sz="1200" dirty="0"/>
              <a:t>Simulation length: 5 days</a:t>
            </a:r>
          </a:p>
        </p:txBody>
      </p:sp>
      <p:sp>
        <p:nvSpPr>
          <p:cNvPr id="7" name="TextBox 6">
            <a:extLst>
              <a:ext uri="{FF2B5EF4-FFF2-40B4-BE49-F238E27FC236}">
                <a16:creationId xmlns:a16="http://schemas.microsoft.com/office/drawing/2014/main" id="{7BD320E9-FE02-4B37-01CE-0B84DE0109AC}"/>
              </a:ext>
            </a:extLst>
          </p:cNvPr>
          <p:cNvSpPr txBox="1"/>
          <p:nvPr/>
        </p:nvSpPr>
        <p:spPr>
          <a:xfrm>
            <a:off x="3800402" y="1452719"/>
            <a:ext cx="767711" cy="307777"/>
          </a:xfrm>
          <a:prstGeom prst="rect">
            <a:avLst/>
          </a:prstGeom>
          <a:noFill/>
        </p:spPr>
        <p:txBody>
          <a:bodyPr wrap="none" rtlCol="0">
            <a:spAutoFit/>
          </a:bodyPr>
          <a:lstStyle/>
          <a:p>
            <a:r>
              <a:rPr lang="en-GB" sz="1400" dirty="0"/>
              <a:t>Battery:</a:t>
            </a:r>
            <a:endParaRPr lang="en-DE" sz="1400" dirty="0"/>
          </a:p>
        </p:txBody>
      </p:sp>
      <p:sp>
        <p:nvSpPr>
          <p:cNvPr id="8" name="TextBox 7">
            <a:extLst>
              <a:ext uri="{FF2B5EF4-FFF2-40B4-BE49-F238E27FC236}">
                <a16:creationId xmlns:a16="http://schemas.microsoft.com/office/drawing/2014/main" id="{D96BCA69-A3B5-CD85-AA68-A131D2297216}"/>
              </a:ext>
            </a:extLst>
          </p:cNvPr>
          <p:cNvSpPr txBox="1"/>
          <p:nvPr/>
        </p:nvSpPr>
        <p:spPr>
          <a:xfrm>
            <a:off x="4793877" y="1471555"/>
            <a:ext cx="3597075" cy="1200329"/>
          </a:xfrm>
          <a:prstGeom prst="rect">
            <a:avLst/>
          </a:prstGeom>
          <a:noFill/>
        </p:spPr>
        <p:txBody>
          <a:bodyPr wrap="none" rtlCol="0">
            <a:spAutoFit/>
          </a:bodyPr>
          <a:lstStyle/>
          <a:p>
            <a:pPr marL="285750" indent="-285750">
              <a:buFont typeface="Arial" panose="020B0604020202020204" pitchFamily="34" charset="0"/>
              <a:buChar char="•"/>
            </a:pPr>
            <a:r>
              <a:rPr lang="en-GB" sz="1200" dirty="0"/>
              <a:t>Charging and discharging coefficient: 0.96</a:t>
            </a:r>
          </a:p>
          <a:p>
            <a:pPr marL="285750" indent="-285750">
              <a:buFont typeface="Arial" panose="020B0604020202020204" pitchFamily="34" charset="0"/>
              <a:buChar char="•"/>
            </a:pPr>
            <a:r>
              <a:rPr lang="en-GB" sz="1200" dirty="0"/>
              <a:t>Initial State of Charge(SOC): 2 kWh</a:t>
            </a:r>
          </a:p>
          <a:p>
            <a:pPr marL="285750" indent="-285750">
              <a:buFont typeface="Arial" panose="020B0604020202020204" pitchFamily="34" charset="0"/>
              <a:buChar char="•"/>
            </a:pPr>
            <a:r>
              <a:rPr lang="en-GB" sz="1200" dirty="0"/>
              <a:t>Min State of Charge(SOC)/Storage Value : 1.2 kWh</a:t>
            </a:r>
          </a:p>
          <a:p>
            <a:pPr marL="285750" indent="-285750">
              <a:buFont typeface="Arial" panose="020B0604020202020204" pitchFamily="34" charset="0"/>
              <a:buChar char="•"/>
            </a:pPr>
            <a:r>
              <a:rPr lang="en-GB" sz="1200" dirty="0"/>
              <a:t>Max State of Charge(SOC)/Storage Value: 12 kWh</a:t>
            </a:r>
          </a:p>
          <a:p>
            <a:pPr marL="285750" indent="-285750">
              <a:buFont typeface="Arial" panose="020B0604020202020204" pitchFamily="34" charset="0"/>
              <a:buChar char="•"/>
            </a:pPr>
            <a:r>
              <a:rPr lang="en-GB" sz="1200" dirty="0"/>
              <a:t>Min charging power: -8 kW</a:t>
            </a:r>
          </a:p>
          <a:p>
            <a:pPr marL="285750" indent="-285750">
              <a:buFont typeface="Arial" panose="020B0604020202020204" pitchFamily="34" charset="0"/>
              <a:buChar char="•"/>
            </a:pPr>
            <a:r>
              <a:rPr lang="en-GB" sz="1200" dirty="0"/>
              <a:t>Max charging power: 8 kW</a:t>
            </a:r>
            <a:endParaRPr lang="en-DE" sz="1200" dirty="0"/>
          </a:p>
        </p:txBody>
      </p:sp>
      <p:sp>
        <p:nvSpPr>
          <p:cNvPr id="9" name="TextBox 8">
            <a:extLst>
              <a:ext uri="{FF2B5EF4-FFF2-40B4-BE49-F238E27FC236}">
                <a16:creationId xmlns:a16="http://schemas.microsoft.com/office/drawing/2014/main" id="{1763F900-5F77-E733-40F8-EAC3CED3F1F9}"/>
              </a:ext>
            </a:extLst>
          </p:cNvPr>
          <p:cNvSpPr txBox="1"/>
          <p:nvPr/>
        </p:nvSpPr>
        <p:spPr>
          <a:xfrm>
            <a:off x="3299026" y="2841913"/>
            <a:ext cx="1344705" cy="307777"/>
          </a:xfrm>
          <a:prstGeom prst="rect">
            <a:avLst/>
          </a:prstGeom>
          <a:noFill/>
        </p:spPr>
        <p:txBody>
          <a:bodyPr wrap="square" rtlCol="0">
            <a:spAutoFit/>
          </a:bodyPr>
          <a:lstStyle/>
          <a:p>
            <a:r>
              <a:rPr lang="en-GB" sz="1400" dirty="0"/>
              <a:t>Electric Vehicle:</a:t>
            </a:r>
            <a:endParaRPr lang="en-DE" sz="1400" dirty="0"/>
          </a:p>
        </p:txBody>
      </p:sp>
      <p:sp>
        <p:nvSpPr>
          <p:cNvPr id="10" name="TextBox 9">
            <a:extLst>
              <a:ext uri="{FF2B5EF4-FFF2-40B4-BE49-F238E27FC236}">
                <a16:creationId xmlns:a16="http://schemas.microsoft.com/office/drawing/2014/main" id="{38820926-AE8D-E2A8-DE39-97FAE268EA1A}"/>
              </a:ext>
            </a:extLst>
          </p:cNvPr>
          <p:cNvSpPr txBox="1"/>
          <p:nvPr/>
        </p:nvSpPr>
        <p:spPr>
          <a:xfrm>
            <a:off x="4793877" y="2849038"/>
            <a:ext cx="3597075" cy="1200329"/>
          </a:xfrm>
          <a:prstGeom prst="rect">
            <a:avLst/>
          </a:prstGeom>
          <a:noFill/>
        </p:spPr>
        <p:txBody>
          <a:bodyPr wrap="none" rtlCol="0">
            <a:spAutoFit/>
          </a:bodyPr>
          <a:lstStyle/>
          <a:p>
            <a:pPr marL="285750" indent="-285750">
              <a:buFont typeface="Arial" panose="020B0604020202020204" pitchFamily="34" charset="0"/>
              <a:buChar char="•"/>
            </a:pPr>
            <a:r>
              <a:rPr lang="en-GB" sz="1200" dirty="0"/>
              <a:t>Charging and discharging coefficient: 0.88</a:t>
            </a:r>
          </a:p>
          <a:p>
            <a:pPr marL="285750" indent="-285750">
              <a:buFont typeface="Arial" panose="020B0604020202020204" pitchFamily="34" charset="0"/>
              <a:buChar char="•"/>
            </a:pPr>
            <a:r>
              <a:rPr lang="en-GB" sz="1200" dirty="0"/>
              <a:t>Initial State of Charge(SOC): 20 kWh</a:t>
            </a:r>
          </a:p>
          <a:p>
            <a:pPr marL="285750" indent="-285750">
              <a:buFont typeface="Arial" panose="020B0604020202020204" pitchFamily="34" charset="0"/>
              <a:buChar char="•"/>
            </a:pPr>
            <a:r>
              <a:rPr lang="en-GB" sz="1200" dirty="0"/>
              <a:t>Min State of Charge(SOC)/Storage Value : 0 kWh</a:t>
            </a:r>
          </a:p>
          <a:p>
            <a:pPr marL="285750" indent="-285750">
              <a:buFont typeface="Arial" panose="020B0604020202020204" pitchFamily="34" charset="0"/>
              <a:buChar char="•"/>
            </a:pPr>
            <a:r>
              <a:rPr lang="en-GB" sz="1200" dirty="0"/>
              <a:t>Max State of Charge(SOC)/Storage Value: 48 kWh</a:t>
            </a:r>
          </a:p>
          <a:p>
            <a:pPr marL="285750" indent="-285750">
              <a:buFont typeface="Arial" panose="020B0604020202020204" pitchFamily="34" charset="0"/>
              <a:buChar char="•"/>
            </a:pPr>
            <a:r>
              <a:rPr lang="en-GB" sz="1200" dirty="0"/>
              <a:t>Min charging power: 0 kW</a:t>
            </a:r>
          </a:p>
          <a:p>
            <a:pPr marL="285750" indent="-285750">
              <a:buFont typeface="Arial" panose="020B0604020202020204" pitchFamily="34" charset="0"/>
              <a:buChar char="•"/>
            </a:pPr>
            <a:r>
              <a:rPr lang="en-GB" sz="1200" dirty="0"/>
              <a:t>Max charging power: 8 kW</a:t>
            </a:r>
            <a:endParaRPr lang="en-DE" sz="1200" dirty="0"/>
          </a:p>
        </p:txBody>
      </p:sp>
    </p:spTree>
    <p:extLst>
      <p:ext uri="{BB962C8B-B14F-4D97-AF65-F5344CB8AC3E}">
        <p14:creationId xmlns:p14="http://schemas.microsoft.com/office/powerpoint/2010/main" val="2805135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6572E2-7AD3-FBC0-C9A9-2F11720D1D91}"/>
              </a:ext>
            </a:extLst>
          </p:cNvPr>
          <p:cNvSpPr>
            <a:spLocks noGrp="1"/>
          </p:cNvSpPr>
          <p:nvPr>
            <p:ph type="title"/>
          </p:nvPr>
        </p:nvSpPr>
        <p:spPr/>
        <p:txBody>
          <a:bodyPr/>
          <a:lstStyle/>
          <a:p>
            <a:r>
              <a:rPr lang="en-GB" dirty="0"/>
              <a:t>Case Study 1</a:t>
            </a:r>
            <a:endParaRPr lang="en-DE" dirty="0"/>
          </a:p>
        </p:txBody>
      </p:sp>
      <p:pic>
        <p:nvPicPr>
          <p:cNvPr id="7" name="Picture 6" descr="A picture containing text, line, plot, screenshot&#10;&#10;Description automatically generated">
            <a:extLst>
              <a:ext uri="{FF2B5EF4-FFF2-40B4-BE49-F238E27FC236}">
                <a16:creationId xmlns:a16="http://schemas.microsoft.com/office/drawing/2014/main" id="{9BD7420B-28D9-A706-EDA7-3ED87D80B22D}"/>
              </a:ext>
            </a:extLst>
          </p:cNvPr>
          <p:cNvPicPr>
            <a:picLocks noChangeAspect="1"/>
          </p:cNvPicPr>
          <p:nvPr/>
        </p:nvPicPr>
        <p:blipFill>
          <a:blip r:embed="rId2"/>
          <a:stretch>
            <a:fillRect/>
          </a:stretch>
        </p:blipFill>
        <p:spPr>
          <a:xfrm>
            <a:off x="1996888" y="757053"/>
            <a:ext cx="7147112" cy="3629393"/>
          </a:xfrm>
          <a:prstGeom prst="rect">
            <a:avLst/>
          </a:prstGeom>
        </p:spPr>
      </p:pic>
      <p:sp>
        <p:nvSpPr>
          <p:cNvPr id="8" name="TextBox 7">
            <a:extLst>
              <a:ext uri="{FF2B5EF4-FFF2-40B4-BE49-F238E27FC236}">
                <a16:creationId xmlns:a16="http://schemas.microsoft.com/office/drawing/2014/main" id="{56701E0C-6370-FE05-6E52-329A57C1C993}"/>
              </a:ext>
            </a:extLst>
          </p:cNvPr>
          <p:cNvSpPr txBox="1"/>
          <p:nvPr/>
        </p:nvSpPr>
        <p:spPr>
          <a:xfrm>
            <a:off x="275665" y="993229"/>
            <a:ext cx="1848969" cy="2123658"/>
          </a:xfrm>
          <a:prstGeom prst="rect">
            <a:avLst/>
          </a:prstGeom>
          <a:noFill/>
        </p:spPr>
        <p:txBody>
          <a:bodyPr wrap="square" rtlCol="0">
            <a:spAutoFit/>
          </a:bodyPr>
          <a:lstStyle/>
          <a:p>
            <a:r>
              <a:rPr lang="en-GB" sz="1200" dirty="0"/>
              <a:t>The graph display the interaction between outside temperature, power consumption by heat pump, power discharge by battery and electricity price in maintaining temperature of the hot water tank(HWT) within predefined boundary.</a:t>
            </a:r>
            <a:endParaRPr lang="en-DE" sz="1200" dirty="0"/>
          </a:p>
        </p:txBody>
      </p:sp>
    </p:spTree>
    <p:extLst>
      <p:ext uri="{BB962C8B-B14F-4D97-AF65-F5344CB8AC3E}">
        <p14:creationId xmlns:p14="http://schemas.microsoft.com/office/powerpoint/2010/main" val="8686571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A679D0-DC87-4573-9647-87283DFD3733}"/>
              </a:ext>
            </a:extLst>
          </p:cNvPr>
          <p:cNvSpPr>
            <a:spLocks noGrp="1"/>
          </p:cNvSpPr>
          <p:nvPr>
            <p:ph type="title"/>
          </p:nvPr>
        </p:nvSpPr>
        <p:spPr/>
        <p:txBody>
          <a:bodyPr/>
          <a:lstStyle/>
          <a:p>
            <a:r>
              <a:rPr lang="en-GB" dirty="0"/>
              <a:t>Case Study 1</a:t>
            </a:r>
            <a:endParaRPr lang="en-DE" dirty="0"/>
          </a:p>
        </p:txBody>
      </p:sp>
      <p:sp>
        <p:nvSpPr>
          <p:cNvPr id="6" name="TextBox 5">
            <a:extLst>
              <a:ext uri="{FF2B5EF4-FFF2-40B4-BE49-F238E27FC236}">
                <a16:creationId xmlns:a16="http://schemas.microsoft.com/office/drawing/2014/main" id="{1C79E790-7E1B-F4C2-067D-0A5491CD85AC}"/>
              </a:ext>
            </a:extLst>
          </p:cNvPr>
          <p:cNvSpPr txBox="1"/>
          <p:nvPr/>
        </p:nvSpPr>
        <p:spPr>
          <a:xfrm>
            <a:off x="168090" y="1033570"/>
            <a:ext cx="2306170" cy="1384995"/>
          </a:xfrm>
          <a:prstGeom prst="rect">
            <a:avLst/>
          </a:prstGeom>
          <a:noFill/>
        </p:spPr>
        <p:txBody>
          <a:bodyPr wrap="square" rtlCol="0">
            <a:spAutoFit/>
          </a:bodyPr>
          <a:lstStyle/>
          <a:p>
            <a:r>
              <a:rPr lang="en-GB" sz="1200" dirty="0"/>
              <a:t>The graph illustrate the dynamic relationship between battery power, solar power and the state of charge(SOC) of the battery. The charging and discharging of the battery operate within the specified limit.</a:t>
            </a:r>
            <a:endParaRPr lang="en-DE" sz="1200" dirty="0"/>
          </a:p>
        </p:txBody>
      </p:sp>
      <p:pic>
        <p:nvPicPr>
          <p:cNvPr id="8" name="Picture 7" descr="A picture containing text, line, plot, font&#10;&#10;Description automatically generated">
            <a:extLst>
              <a:ext uri="{FF2B5EF4-FFF2-40B4-BE49-F238E27FC236}">
                <a16:creationId xmlns:a16="http://schemas.microsoft.com/office/drawing/2014/main" id="{278AAEAB-27DB-74A5-16BC-18177EA85284}"/>
              </a:ext>
            </a:extLst>
          </p:cNvPr>
          <p:cNvPicPr>
            <a:picLocks noChangeAspect="1"/>
          </p:cNvPicPr>
          <p:nvPr/>
        </p:nvPicPr>
        <p:blipFill>
          <a:blip r:embed="rId2"/>
          <a:stretch>
            <a:fillRect/>
          </a:stretch>
        </p:blipFill>
        <p:spPr>
          <a:xfrm>
            <a:off x="2351787" y="847164"/>
            <a:ext cx="6792213" cy="3449171"/>
          </a:xfrm>
          <a:prstGeom prst="rect">
            <a:avLst/>
          </a:prstGeom>
        </p:spPr>
      </p:pic>
      <p:sp>
        <p:nvSpPr>
          <p:cNvPr id="2" name="Arrow: Right 1">
            <a:hlinkClick r:id="rId3" action="ppaction://hlinksldjump"/>
            <a:extLst>
              <a:ext uri="{FF2B5EF4-FFF2-40B4-BE49-F238E27FC236}">
                <a16:creationId xmlns:a16="http://schemas.microsoft.com/office/drawing/2014/main" id="{01BA9437-2B06-EE15-E48E-C866F3118EDF}"/>
              </a:ext>
            </a:extLst>
          </p:cNvPr>
          <p:cNvSpPr/>
          <p:nvPr/>
        </p:nvSpPr>
        <p:spPr>
          <a:xfrm>
            <a:off x="8450580" y="4296335"/>
            <a:ext cx="358140" cy="33662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2653823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E08AED-D292-A312-15C7-27123CAE1390}"/>
              </a:ext>
            </a:extLst>
          </p:cNvPr>
          <p:cNvSpPr>
            <a:spLocks noGrp="1"/>
          </p:cNvSpPr>
          <p:nvPr>
            <p:ph type="title"/>
          </p:nvPr>
        </p:nvSpPr>
        <p:spPr/>
        <p:txBody>
          <a:bodyPr/>
          <a:lstStyle/>
          <a:p>
            <a:r>
              <a:rPr lang="en-GB" dirty="0"/>
              <a:t>Case Study 1</a:t>
            </a:r>
            <a:endParaRPr lang="en-DE" dirty="0"/>
          </a:p>
        </p:txBody>
      </p:sp>
      <p:pic>
        <p:nvPicPr>
          <p:cNvPr id="5" name="Picture 4" descr="A picture containing text, line, plot, font&#10;&#10;Description automatically generated">
            <a:extLst>
              <a:ext uri="{FF2B5EF4-FFF2-40B4-BE49-F238E27FC236}">
                <a16:creationId xmlns:a16="http://schemas.microsoft.com/office/drawing/2014/main" id="{A541B491-C611-1158-1B16-47D07AB4B1D6}"/>
              </a:ext>
            </a:extLst>
          </p:cNvPr>
          <p:cNvPicPr>
            <a:picLocks noChangeAspect="1"/>
          </p:cNvPicPr>
          <p:nvPr/>
        </p:nvPicPr>
        <p:blipFill>
          <a:blip r:embed="rId2"/>
          <a:stretch>
            <a:fillRect/>
          </a:stretch>
        </p:blipFill>
        <p:spPr>
          <a:xfrm>
            <a:off x="1586753" y="744053"/>
            <a:ext cx="7442947" cy="3779622"/>
          </a:xfrm>
          <a:prstGeom prst="rect">
            <a:avLst/>
          </a:prstGeom>
        </p:spPr>
      </p:pic>
      <p:sp>
        <p:nvSpPr>
          <p:cNvPr id="6" name="TextBox 5">
            <a:extLst>
              <a:ext uri="{FF2B5EF4-FFF2-40B4-BE49-F238E27FC236}">
                <a16:creationId xmlns:a16="http://schemas.microsoft.com/office/drawing/2014/main" id="{16C0B9AA-6F74-66BB-475A-49807DF9A197}"/>
              </a:ext>
            </a:extLst>
          </p:cNvPr>
          <p:cNvSpPr txBox="1"/>
          <p:nvPr/>
        </p:nvSpPr>
        <p:spPr>
          <a:xfrm>
            <a:off x="161365" y="927847"/>
            <a:ext cx="1623265" cy="2123658"/>
          </a:xfrm>
          <a:prstGeom prst="rect">
            <a:avLst/>
          </a:prstGeom>
          <a:noFill/>
        </p:spPr>
        <p:txBody>
          <a:bodyPr wrap="square" rtlCol="0">
            <a:spAutoFit/>
          </a:bodyPr>
          <a:lstStyle/>
          <a:p>
            <a:pPr marL="171450" indent="-171450">
              <a:buFont typeface="Arial" panose="020B0604020202020204" pitchFamily="34" charset="0"/>
              <a:buChar char="•"/>
            </a:pPr>
            <a:r>
              <a:rPr lang="en-GB" sz="1200" dirty="0"/>
              <a:t>The graph illustrate the relationship between battery power, battery state of charge(SOC) and the power required to support the heat pump operation. </a:t>
            </a:r>
          </a:p>
          <a:p>
            <a:pPr marL="171450" indent="-171450">
              <a:buFont typeface="Arial" panose="020B0604020202020204" pitchFamily="34" charset="0"/>
              <a:buChar char="•"/>
            </a:pPr>
            <a:r>
              <a:rPr lang="en-GB" sz="1200" dirty="0"/>
              <a:t>The battery SOC is within the limit of operation.</a:t>
            </a:r>
            <a:endParaRPr lang="en-DE" sz="1200" dirty="0"/>
          </a:p>
        </p:txBody>
      </p:sp>
    </p:spTree>
    <p:extLst>
      <p:ext uri="{BB962C8B-B14F-4D97-AF65-F5344CB8AC3E}">
        <p14:creationId xmlns:p14="http://schemas.microsoft.com/office/powerpoint/2010/main" val="37224460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55E4EF-0A57-13B3-D964-23388B97BF95}"/>
              </a:ext>
            </a:extLst>
          </p:cNvPr>
          <p:cNvSpPr>
            <a:spLocks noGrp="1"/>
          </p:cNvSpPr>
          <p:nvPr>
            <p:ph type="title"/>
          </p:nvPr>
        </p:nvSpPr>
        <p:spPr/>
        <p:txBody>
          <a:bodyPr/>
          <a:lstStyle/>
          <a:p>
            <a:r>
              <a:rPr lang="en-GB" dirty="0"/>
              <a:t>Case Study 1</a:t>
            </a:r>
            <a:endParaRPr lang="en-DE" dirty="0"/>
          </a:p>
        </p:txBody>
      </p:sp>
      <p:pic>
        <p:nvPicPr>
          <p:cNvPr id="5" name="Picture 4" descr="A picture containing text, line, plot, diagram&#10;&#10;Description automatically generated">
            <a:extLst>
              <a:ext uri="{FF2B5EF4-FFF2-40B4-BE49-F238E27FC236}">
                <a16:creationId xmlns:a16="http://schemas.microsoft.com/office/drawing/2014/main" id="{548EE47B-34C5-A6A5-3413-B39195741880}"/>
              </a:ext>
            </a:extLst>
          </p:cNvPr>
          <p:cNvPicPr>
            <a:picLocks noChangeAspect="1"/>
          </p:cNvPicPr>
          <p:nvPr/>
        </p:nvPicPr>
        <p:blipFill>
          <a:blip r:embed="rId2"/>
          <a:stretch>
            <a:fillRect/>
          </a:stretch>
        </p:blipFill>
        <p:spPr>
          <a:xfrm>
            <a:off x="2057401" y="826995"/>
            <a:ext cx="6731476" cy="3418328"/>
          </a:xfrm>
          <a:prstGeom prst="rect">
            <a:avLst/>
          </a:prstGeom>
        </p:spPr>
      </p:pic>
      <p:sp>
        <p:nvSpPr>
          <p:cNvPr id="6" name="TextBox 5">
            <a:extLst>
              <a:ext uri="{FF2B5EF4-FFF2-40B4-BE49-F238E27FC236}">
                <a16:creationId xmlns:a16="http://schemas.microsoft.com/office/drawing/2014/main" id="{D02736E6-4075-CCE8-F5EA-70581268F586}"/>
              </a:ext>
            </a:extLst>
          </p:cNvPr>
          <p:cNvSpPr txBox="1"/>
          <p:nvPr/>
        </p:nvSpPr>
        <p:spPr>
          <a:xfrm>
            <a:off x="275665" y="1136276"/>
            <a:ext cx="1943100" cy="1569660"/>
          </a:xfrm>
          <a:prstGeom prst="rect">
            <a:avLst/>
          </a:prstGeom>
          <a:noFill/>
        </p:spPr>
        <p:txBody>
          <a:bodyPr wrap="square" rtlCol="0">
            <a:spAutoFit/>
          </a:bodyPr>
          <a:lstStyle/>
          <a:p>
            <a:r>
              <a:rPr lang="en-GB" sz="1200" dirty="0"/>
              <a:t>The integration of EV charging does not impact the operation of the heat pump, as the hot water tank maintains its temperature within the specified range. The charging of the EV is also in predefined limit.</a:t>
            </a:r>
            <a:endParaRPr lang="en-DE" sz="1200" dirty="0"/>
          </a:p>
        </p:txBody>
      </p:sp>
    </p:spTree>
    <p:extLst>
      <p:ext uri="{BB962C8B-B14F-4D97-AF65-F5344CB8AC3E}">
        <p14:creationId xmlns:p14="http://schemas.microsoft.com/office/powerpoint/2010/main" val="30611598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62DBC0-A1B2-C66C-3D48-10C50D5A408D}"/>
              </a:ext>
            </a:extLst>
          </p:cNvPr>
          <p:cNvSpPr>
            <a:spLocks noGrp="1"/>
          </p:cNvSpPr>
          <p:nvPr>
            <p:ph type="title"/>
          </p:nvPr>
        </p:nvSpPr>
        <p:spPr/>
        <p:txBody>
          <a:bodyPr/>
          <a:lstStyle/>
          <a:p>
            <a:r>
              <a:rPr lang="en-GB" dirty="0"/>
              <a:t>Case Study 2</a:t>
            </a:r>
            <a:endParaRPr lang="en-DE" dirty="0"/>
          </a:p>
        </p:txBody>
      </p:sp>
      <p:sp>
        <p:nvSpPr>
          <p:cNvPr id="4" name="TextBox 3">
            <a:extLst>
              <a:ext uri="{FF2B5EF4-FFF2-40B4-BE49-F238E27FC236}">
                <a16:creationId xmlns:a16="http://schemas.microsoft.com/office/drawing/2014/main" id="{72EC846E-FDF3-9D36-4B8D-10C038F4ED2C}"/>
              </a:ext>
            </a:extLst>
          </p:cNvPr>
          <p:cNvSpPr txBox="1"/>
          <p:nvPr/>
        </p:nvSpPr>
        <p:spPr>
          <a:xfrm>
            <a:off x="221438" y="878903"/>
            <a:ext cx="4990662" cy="369332"/>
          </a:xfrm>
          <a:prstGeom prst="rect">
            <a:avLst/>
          </a:prstGeom>
          <a:noFill/>
        </p:spPr>
        <p:txBody>
          <a:bodyPr wrap="none" rtlCol="0">
            <a:spAutoFit/>
          </a:bodyPr>
          <a:lstStyle/>
          <a:p>
            <a:r>
              <a:rPr lang="en-GB" dirty="0">
                <a:effectLst>
                  <a:outerShdw blurRad="38100" dist="38100" dir="2700000" algn="tl">
                    <a:srgbClr val="000000">
                      <a:alpha val="43137"/>
                    </a:srgbClr>
                  </a:outerShdw>
                </a:effectLst>
              </a:rPr>
              <a:t>Case study 1: Two battery and two electric vehicle</a:t>
            </a:r>
            <a:endParaRPr lang="en-DE" dirty="0">
              <a:effectLst>
                <a:outerShdw blurRad="38100" dist="38100" dir="2700000" algn="tl">
                  <a:srgbClr val="000000">
                    <a:alpha val="43137"/>
                  </a:srgbClr>
                </a:outerShdw>
              </a:effectLst>
            </a:endParaRPr>
          </a:p>
        </p:txBody>
      </p:sp>
      <p:grpSp>
        <p:nvGrpSpPr>
          <p:cNvPr id="14" name="Group 13">
            <a:extLst>
              <a:ext uri="{FF2B5EF4-FFF2-40B4-BE49-F238E27FC236}">
                <a16:creationId xmlns:a16="http://schemas.microsoft.com/office/drawing/2014/main" id="{A06AAF9E-78EA-8CD0-B276-4CADC10FF104}"/>
              </a:ext>
            </a:extLst>
          </p:cNvPr>
          <p:cNvGrpSpPr/>
          <p:nvPr/>
        </p:nvGrpSpPr>
        <p:grpSpPr>
          <a:xfrm>
            <a:off x="5385108" y="1240273"/>
            <a:ext cx="2122632" cy="646331"/>
            <a:chOff x="591671" y="1425389"/>
            <a:chExt cx="2122632" cy="646331"/>
          </a:xfrm>
        </p:grpSpPr>
        <p:sp>
          <p:nvSpPr>
            <p:cNvPr id="11" name="Rectangle 10">
              <a:extLst>
                <a:ext uri="{FF2B5EF4-FFF2-40B4-BE49-F238E27FC236}">
                  <a16:creationId xmlns:a16="http://schemas.microsoft.com/office/drawing/2014/main" id="{F7FB6966-A330-3FFB-FA62-D6A52EB33272}"/>
                </a:ext>
              </a:extLst>
            </p:cNvPr>
            <p:cNvSpPr/>
            <p:nvPr/>
          </p:nvSpPr>
          <p:spPr>
            <a:xfrm>
              <a:off x="591671" y="1425389"/>
              <a:ext cx="2122632" cy="6463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DE"/>
            </a:p>
          </p:txBody>
        </p:sp>
        <p:sp>
          <p:nvSpPr>
            <p:cNvPr id="6" name="TextBox 5">
              <a:extLst>
                <a:ext uri="{FF2B5EF4-FFF2-40B4-BE49-F238E27FC236}">
                  <a16:creationId xmlns:a16="http://schemas.microsoft.com/office/drawing/2014/main" id="{C51DA3D2-9FEF-0EDA-9A21-3489D648E629}"/>
                </a:ext>
              </a:extLst>
            </p:cNvPr>
            <p:cNvSpPr txBox="1"/>
            <p:nvPr/>
          </p:nvSpPr>
          <p:spPr>
            <a:xfrm>
              <a:off x="591671" y="1425389"/>
              <a:ext cx="2122632" cy="646331"/>
            </a:xfrm>
            <a:prstGeom prst="rect">
              <a:avLst/>
            </a:prstGeom>
            <a:noFill/>
          </p:spPr>
          <p:txBody>
            <a:bodyPr wrap="none" rtlCol="0">
              <a:spAutoFit/>
            </a:bodyPr>
            <a:lstStyle/>
            <a:p>
              <a:pPr marL="171450" indent="-171450">
                <a:buFont typeface="Arial" panose="020B0604020202020204" pitchFamily="34" charset="0"/>
                <a:buChar char="•"/>
              </a:pPr>
              <a:r>
                <a:rPr lang="en-GB" sz="1200" dirty="0"/>
                <a:t>Sampling time: 15 minutes</a:t>
              </a:r>
            </a:p>
            <a:p>
              <a:pPr marL="171450" indent="-171450">
                <a:buFont typeface="Arial" panose="020B0604020202020204" pitchFamily="34" charset="0"/>
                <a:buChar char="•"/>
              </a:pPr>
              <a:r>
                <a:rPr lang="en-GB" sz="1200" dirty="0"/>
                <a:t>Prediction horizon: 24 hours</a:t>
              </a:r>
            </a:p>
            <a:p>
              <a:pPr marL="171450" indent="-171450">
                <a:buFont typeface="Arial" panose="020B0604020202020204" pitchFamily="34" charset="0"/>
                <a:buChar char="•"/>
              </a:pPr>
              <a:r>
                <a:rPr lang="en-GB" sz="1200" dirty="0"/>
                <a:t>Simulation length: 5 days</a:t>
              </a:r>
            </a:p>
          </p:txBody>
        </p:sp>
      </p:grpSp>
      <p:grpSp>
        <p:nvGrpSpPr>
          <p:cNvPr id="20" name="Group 19">
            <a:extLst>
              <a:ext uri="{FF2B5EF4-FFF2-40B4-BE49-F238E27FC236}">
                <a16:creationId xmlns:a16="http://schemas.microsoft.com/office/drawing/2014/main" id="{85D7B27A-CB08-B3C2-F635-EE3A0DF64B95}"/>
              </a:ext>
            </a:extLst>
          </p:cNvPr>
          <p:cNvGrpSpPr/>
          <p:nvPr/>
        </p:nvGrpSpPr>
        <p:grpSpPr>
          <a:xfrm>
            <a:off x="308853" y="1936524"/>
            <a:ext cx="3745018" cy="1164023"/>
            <a:chOff x="307056" y="2347562"/>
            <a:chExt cx="3745018" cy="1164023"/>
          </a:xfrm>
        </p:grpSpPr>
        <p:sp>
          <p:nvSpPr>
            <p:cNvPr id="12" name="Rectangle 11">
              <a:extLst>
                <a:ext uri="{FF2B5EF4-FFF2-40B4-BE49-F238E27FC236}">
                  <a16:creationId xmlns:a16="http://schemas.microsoft.com/office/drawing/2014/main" id="{4CF2C5BF-D567-092A-2FA3-779061D3A7FC}"/>
                </a:ext>
              </a:extLst>
            </p:cNvPr>
            <p:cNvSpPr/>
            <p:nvPr/>
          </p:nvSpPr>
          <p:spPr>
            <a:xfrm>
              <a:off x="307056" y="2347562"/>
              <a:ext cx="3745018" cy="116402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DE"/>
            </a:p>
          </p:txBody>
        </p:sp>
        <p:sp>
          <p:nvSpPr>
            <p:cNvPr id="7" name="TextBox 6">
              <a:extLst>
                <a:ext uri="{FF2B5EF4-FFF2-40B4-BE49-F238E27FC236}">
                  <a16:creationId xmlns:a16="http://schemas.microsoft.com/office/drawing/2014/main" id="{7BD320E9-FE02-4B37-01CE-0B84DE0109AC}"/>
                </a:ext>
              </a:extLst>
            </p:cNvPr>
            <p:cNvSpPr txBox="1"/>
            <p:nvPr/>
          </p:nvSpPr>
          <p:spPr>
            <a:xfrm>
              <a:off x="316617" y="2399883"/>
              <a:ext cx="680314" cy="276999"/>
            </a:xfrm>
            <a:prstGeom prst="rect">
              <a:avLst/>
            </a:prstGeom>
            <a:noFill/>
          </p:spPr>
          <p:txBody>
            <a:bodyPr wrap="none" rtlCol="0">
              <a:spAutoFit/>
            </a:bodyPr>
            <a:lstStyle/>
            <a:p>
              <a:r>
                <a:rPr lang="en-GB" sz="1200" dirty="0"/>
                <a:t>Battery:</a:t>
              </a:r>
              <a:endParaRPr lang="en-DE" sz="1200" dirty="0"/>
            </a:p>
          </p:txBody>
        </p:sp>
        <p:sp>
          <p:nvSpPr>
            <p:cNvPr id="8" name="TextBox 7">
              <a:extLst>
                <a:ext uri="{FF2B5EF4-FFF2-40B4-BE49-F238E27FC236}">
                  <a16:creationId xmlns:a16="http://schemas.microsoft.com/office/drawing/2014/main" id="{D96BCA69-A3B5-CD85-AA68-A131D2297216}"/>
                </a:ext>
              </a:extLst>
            </p:cNvPr>
            <p:cNvSpPr txBox="1"/>
            <p:nvPr/>
          </p:nvSpPr>
          <p:spPr>
            <a:xfrm>
              <a:off x="957957" y="2421743"/>
              <a:ext cx="3094117" cy="1015663"/>
            </a:xfrm>
            <a:prstGeom prst="rect">
              <a:avLst/>
            </a:prstGeom>
            <a:noFill/>
          </p:spPr>
          <p:txBody>
            <a:bodyPr wrap="none" rtlCol="0">
              <a:spAutoFit/>
            </a:bodyPr>
            <a:lstStyle/>
            <a:p>
              <a:pPr marL="285750" indent="-285750">
                <a:buFont typeface="Arial" panose="020B0604020202020204" pitchFamily="34" charset="0"/>
                <a:buChar char="•"/>
              </a:pPr>
              <a:r>
                <a:rPr lang="en-GB" sz="1000" dirty="0"/>
                <a:t>Charging and discharging coefficient: 0.96</a:t>
              </a:r>
            </a:p>
            <a:p>
              <a:pPr marL="285750" indent="-285750">
                <a:buFont typeface="Arial" panose="020B0604020202020204" pitchFamily="34" charset="0"/>
                <a:buChar char="•"/>
              </a:pPr>
              <a:r>
                <a:rPr lang="en-GB" sz="1000" dirty="0"/>
                <a:t>Initial State of Charge(SOC): 2 kWh</a:t>
              </a:r>
            </a:p>
            <a:p>
              <a:pPr marL="285750" indent="-285750">
                <a:buFont typeface="Arial" panose="020B0604020202020204" pitchFamily="34" charset="0"/>
                <a:buChar char="•"/>
              </a:pPr>
              <a:r>
                <a:rPr lang="en-GB" sz="1000" dirty="0"/>
                <a:t>Min State of Charge(SOC)/Storage Value : 1.6 kWh</a:t>
              </a:r>
            </a:p>
            <a:p>
              <a:pPr marL="285750" indent="-285750">
                <a:buFont typeface="Arial" panose="020B0604020202020204" pitchFamily="34" charset="0"/>
                <a:buChar char="•"/>
              </a:pPr>
              <a:r>
                <a:rPr lang="en-GB" sz="1000" dirty="0"/>
                <a:t>Max State of Charge(SOC)/Storage Value: 16 kWh</a:t>
              </a:r>
            </a:p>
            <a:p>
              <a:pPr marL="285750" indent="-285750">
                <a:buFont typeface="Arial" panose="020B0604020202020204" pitchFamily="34" charset="0"/>
                <a:buChar char="•"/>
              </a:pPr>
              <a:r>
                <a:rPr lang="en-GB" sz="1000" dirty="0"/>
                <a:t>Min charging power: -8 kW</a:t>
              </a:r>
            </a:p>
            <a:p>
              <a:pPr marL="285750" indent="-285750">
                <a:buFont typeface="Arial" panose="020B0604020202020204" pitchFamily="34" charset="0"/>
                <a:buChar char="•"/>
              </a:pPr>
              <a:r>
                <a:rPr lang="en-GB" sz="1000" dirty="0"/>
                <a:t>Max charging power: 8 kW</a:t>
              </a:r>
              <a:endParaRPr lang="en-DE" sz="1000" dirty="0"/>
            </a:p>
          </p:txBody>
        </p:sp>
      </p:grpSp>
      <p:grpSp>
        <p:nvGrpSpPr>
          <p:cNvPr id="15" name="Group 14">
            <a:extLst>
              <a:ext uri="{FF2B5EF4-FFF2-40B4-BE49-F238E27FC236}">
                <a16:creationId xmlns:a16="http://schemas.microsoft.com/office/drawing/2014/main" id="{76C38E8D-721B-1C7A-98CA-8EB992814B18}"/>
              </a:ext>
            </a:extLst>
          </p:cNvPr>
          <p:cNvGrpSpPr/>
          <p:nvPr/>
        </p:nvGrpSpPr>
        <p:grpSpPr>
          <a:xfrm>
            <a:off x="4432333" y="2222575"/>
            <a:ext cx="4395050" cy="1041274"/>
            <a:chOff x="4052074" y="1140504"/>
            <a:chExt cx="4395050" cy="1041274"/>
          </a:xfrm>
        </p:grpSpPr>
        <p:sp>
          <p:nvSpPr>
            <p:cNvPr id="13" name="Rectangle 12">
              <a:extLst>
                <a:ext uri="{FF2B5EF4-FFF2-40B4-BE49-F238E27FC236}">
                  <a16:creationId xmlns:a16="http://schemas.microsoft.com/office/drawing/2014/main" id="{7C86DD2D-F31C-B84F-7AC1-3ECA039309F7}"/>
                </a:ext>
              </a:extLst>
            </p:cNvPr>
            <p:cNvSpPr/>
            <p:nvPr/>
          </p:nvSpPr>
          <p:spPr>
            <a:xfrm>
              <a:off x="4052074" y="1140504"/>
              <a:ext cx="4395050" cy="10412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DE"/>
            </a:p>
          </p:txBody>
        </p:sp>
        <p:sp>
          <p:nvSpPr>
            <p:cNvPr id="9" name="TextBox 8">
              <a:extLst>
                <a:ext uri="{FF2B5EF4-FFF2-40B4-BE49-F238E27FC236}">
                  <a16:creationId xmlns:a16="http://schemas.microsoft.com/office/drawing/2014/main" id="{1763F900-5F77-E733-40F8-EAC3CED3F1F9}"/>
                </a:ext>
              </a:extLst>
            </p:cNvPr>
            <p:cNvSpPr txBox="1"/>
            <p:nvPr/>
          </p:nvSpPr>
          <p:spPr>
            <a:xfrm>
              <a:off x="4052074" y="1140504"/>
              <a:ext cx="1344705" cy="276999"/>
            </a:xfrm>
            <a:prstGeom prst="rect">
              <a:avLst/>
            </a:prstGeom>
            <a:noFill/>
          </p:spPr>
          <p:txBody>
            <a:bodyPr wrap="square" rtlCol="0">
              <a:spAutoFit/>
            </a:bodyPr>
            <a:lstStyle/>
            <a:p>
              <a:r>
                <a:rPr lang="en-GB" sz="1100" dirty="0"/>
                <a:t>Electric </a:t>
              </a:r>
              <a:r>
                <a:rPr lang="en-GB" sz="1200" dirty="0"/>
                <a:t>Vehicle 1</a:t>
              </a:r>
              <a:r>
                <a:rPr lang="en-GB" sz="1100" dirty="0"/>
                <a:t>:</a:t>
              </a:r>
              <a:endParaRPr lang="en-DE" sz="1100" dirty="0"/>
            </a:p>
          </p:txBody>
        </p:sp>
        <p:sp>
          <p:nvSpPr>
            <p:cNvPr id="10" name="TextBox 9">
              <a:extLst>
                <a:ext uri="{FF2B5EF4-FFF2-40B4-BE49-F238E27FC236}">
                  <a16:creationId xmlns:a16="http://schemas.microsoft.com/office/drawing/2014/main" id="{38820926-AE8D-E2A8-DE39-97FAE268EA1A}"/>
                </a:ext>
              </a:extLst>
            </p:cNvPr>
            <p:cNvSpPr txBox="1"/>
            <p:nvPr/>
          </p:nvSpPr>
          <p:spPr>
            <a:xfrm>
              <a:off x="5393083" y="1166115"/>
              <a:ext cx="3054041" cy="1015663"/>
            </a:xfrm>
            <a:prstGeom prst="rect">
              <a:avLst/>
            </a:prstGeom>
            <a:noFill/>
          </p:spPr>
          <p:txBody>
            <a:bodyPr wrap="none" rtlCol="0">
              <a:spAutoFit/>
            </a:bodyPr>
            <a:lstStyle/>
            <a:p>
              <a:pPr marL="285750" indent="-285750">
                <a:buFont typeface="Arial" panose="020B0604020202020204" pitchFamily="34" charset="0"/>
                <a:buChar char="•"/>
              </a:pPr>
              <a:r>
                <a:rPr lang="en-GB" sz="1000" dirty="0"/>
                <a:t>Charging and discharging coefficient: 0.88</a:t>
              </a:r>
            </a:p>
            <a:p>
              <a:pPr marL="285750" indent="-285750">
                <a:buFont typeface="Arial" panose="020B0604020202020204" pitchFamily="34" charset="0"/>
                <a:buChar char="•"/>
              </a:pPr>
              <a:r>
                <a:rPr lang="en-GB" sz="1000" dirty="0"/>
                <a:t>Initial State of Charge(SOC): 38 kWh</a:t>
              </a:r>
            </a:p>
            <a:p>
              <a:pPr marL="285750" indent="-285750">
                <a:buFont typeface="Arial" panose="020B0604020202020204" pitchFamily="34" charset="0"/>
                <a:buChar char="•"/>
              </a:pPr>
              <a:r>
                <a:rPr lang="en-GB" sz="1000" dirty="0"/>
                <a:t>Min State of Charge(SOC)/Storage Value : 0 kWh</a:t>
              </a:r>
            </a:p>
            <a:p>
              <a:pPr marL="285750" indent="-285750">
                <a:buFont typeface="Arial" panose="020B0604020202020204" pitchFamily="34" charset="0"/>
                <a:buChar char="•"/>
              </a:pPr>
              <a:r>
                <a:rPr lang="en-GB" sz="1000" dirty="0"/>
                <a:t>Max State of Charge(SOC)/Storage Value: 48 kWh</a:t>
              </a:r>
            </a:p>
            <a:p>
              <a:pPr marL="285750" indent="-285750">
                <a:buFont typeface="Arial" panose="020B0604020202020204" pitchFamily="34" charset="0"/>
                <a:buChar char="•"/>
              </a:pPr>
              <a:r>
                <a:rPr lang="en-GB" sz="1000" dirty="0"/>
                <a:t>Min charging power: 0 kW</a:t>
              </a:r>
            </a:p>
            <a:p>
              <a:pPr marL="285750" indent="-285750">
                <a:buFont typeface="Arial" panose="020B0604020202020204" pitchFamily="34" charset="0"/>
                <a:buChar char="•"/>
              </a:pPr>
              <a:r>
                <a:rPr lang="en-GB" sz="1000" dirty="0"/>
                <a:t>Max charging power: 8 kW</a:t>
              </a:r>
              <a:endParaRPr lang="en-DE" sz="1000" dirty="0"/>
            </a:p>
          </p:txBody>
        </p:sp>
      </p:grpSp>
      <p:grpSp>
        <p:nvGrpSpPr>
          <p:cNvPr id="16" name="Group 15">
            <a:extLst>
              <a:ext uri="{FF2B5EF4-FFF2-40B4-BE49-F238E27FC236}">
                <a16:creationId xmlns:a16="http://schemas.microsoft.com/office/drawing/2014/main" id="{1C12D83A-2D7A-CD14-2215-003CA1E50FE0}"/>
              </a:ext>
            </a:extLst>
          </p:cNvPr>
          <p:cNvGrpSpPr/>
          <p:nvPr/>
        </p:nvGrpSpPr>
        <p:grpSpPr>
          <a:xfrm>
            <a:off x="4432333" y="3426584"/>
            <a:ext cx="4395050" cy="1041274"/>
            <a:chOff x="4052074" y="1140504"/>
            <a:chExt cx="4395050" cy="1041274"/>
          </a:xfrm>
        </p:grpSpPr>
        <p:sp>
          <p:nvSpPr>
            <p:cNvPr id="17" name="Rectangle 16">
              <a:extLst>
                <a:ext uri="{FF2B5EF4-FFF2-40B4-BE49-F238E27FC236}">
                  <a16:creationId xmlns:a16="http://schemas.microsoft.com/office/drawing/2014/main" id="{600F3362-1C5C-ABF5-99A9-6B988DAA69E0}"/>
                </a:ext>
              </a:extLst>
            </p:cNvPr>
            <p:cNvSpPr/>
            <p:nvPr/>
          </p:nvSpPr>
          <p:spPr>
            <a:xfrm>
              <a:off x="4052074" y="1140504"/>
              <a:ext cx="4395050" cy="10412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DE"/>
            </a:p>
          </p:txBody>
        </p:sp>
        <p:sp>
          <p:nvSpPr>
            <p:cNvPr id="18" name="TextBox 17">
              <a:extLst>
                <a:ext uri="{FF2B5EF4-FFF2-40B4-BE49-F238E27FC236}">
                  <a16:creationId xmlns:a16="http://schemas.microsoft.com/office/drawing/2014/main" id="{FA1C7586-5485-2F5D-F188-657C16B8BC45}"/>
                </a:ext>
              </a:extLst>
            </p:cNvPr>
            <p:cNvSpPr txBox="1"/>
            <p:nvPr/>
          </p:nvSpPr>
          <p:spPr>
            <a:xfrm>
              <a:off x="4052074" y="1140504"/>
              <a:ext cx="1344705" cy="276999"/>
            </a:xfrm>
            <a:prstGeom prst="rect">
              <a:avLst/>
            </a:prstGeom>
            <a:noFill/>
          </p:spPr>
          <p:txBody>
            <a:bodyPr wrap="square" rtlCol="0">
              <a:spAutoFit/>
            </a:bodyPr>
            <a:lstStyle/>
            <a:p>
              <a:r>
                <a:rPr lang="en-GB" sz="1100" dirty="0"/>
                <a:t>Electric </a:t>
              </a:r>
              <a:r>
                <a:rPr lang="en-GB" sz="1200" dirty="0"/>
                <a:t>Vehicle 2</a:t>
              </a:r>
              <a:r>
                <a:rPr lang="en-GB" sz="1100" dirty="0"/>
                <a:t>:</a:t>
              </a:r>
              <a:endParaRPr lang="en-DE" sz="1100" dirty="0"/>
            </a:p>
          </p:txBody>
        </p:sp>
        <p:sp>
          <p:nvSpPr>
            <p:cNvPr id="19" name="TextBox 18">
              <a:extLst>
                <a:ext uri="{FF2B5EF4-FFF2-40B4-BE49-F238E27FC236}">
                  <a16:creationId xmlns:a16="http://schemas.microsoft.com/office/drawing/2014/main" id="{601A1C43-84D9-EB3A-9020-7578DA129265}"/>
                </a:ext>
              </a:extLst>
            </p:cNvPr>
            <p:cNvSpPr txBox="1"/>
            <p:nvPr/>
          </p:nvSpPr>
          <p:spPr>
            <a:xfrm>
              <a:off x="5393083" y="1166115"/>
              <a:ext cx="3054041" cy="1015663"/>
            </a:xfrm>
            <a:prstGeom prst="rect">
              <a:avLst/>
            </a:prstGeom>
            <a:noFill/>
          </p:spPr>
          <p:txBody>
            <a:bodyPr wrap="none" rtlCol="0">
              <a:spAutoFit/>
            </a:bodyPr>
            <a:lstStyle/>
            <a:p>
              <a:pPr marL="285750" indent="-285750">
                <a:buFont typeface="Arial" panose="020B0604020202020204" pitchFamily="34" charset="0"/>
                <a:buChar char="•"/>
              </a:pPr>
              <a:r>
                <a:rPr lang="en-GB" sz="1000" dirty="0"/>
                <a:t>Charging and discharging coefficient: 0.95</a:t>
              </a:r>
            </a:p>
            <a:p>
              <a:pPr marL="285750" indent="-285750">
                <a:buFont typeface="Arial" panose="020B0604020202020204" pitchFamily="34" charset="0"/>
                <a:buChar char="•"/>
              </a:pPr>
              <a:r>
                <a:rPr lang="en-GB" sz="1000" dirty="0"/>
                <a:t>Initial State of Charge(SOC): 30 kWh</a:t>
              </a:r>
            </a:p>
            <a:p>
              <a:pPr marL="285750" indent="-285750">
                <a:buFont typeface="Arial" panose="020B0604020202020204" pitchFamily="34" charset="0"/>
                <a:buChar char="•"/>
              </a:pPr>
              <a:r>
                <a:rPr lang="en-GB" sz="1000" dirty="0"/>
                <a:t>Min State of Charge(SOC)/Storage Value : 0 kWh</a:t>
              </a:r>
            </a:p>
            <a:p>
              <a:pPr marL="285750" indent="-285750">
                <a:buFont typeface="Arial" panose="020B0604020202020204" pitchFamily="34" charset="0"/>
                <a:buChar char="•"/>
              </a:pPr>
              <a:r>
                <a:rPr lang="en-GB" sz="1000" dirty="0"/>
                <a:t>Max State of Charge(SOC)/Storage Value: 40 kWh</a:t>
              </a:r>
            </a:p>
            <a:p>
              <a:pPr marL="285750" indent="-285750">
                <a:buFont typeface="Arial" panose="020B0604020202020204" pitchFamily="34" charset="0"/>
                <a:buChar char="•"/>
              </a:pPr>
              <a:r>
                <a:rPr lang="en-GB" sz="1000" dirty="0"/>
                <a:t>Min charging power: 0 kW</a:t>
              </a:r>
            </a:p>
            <a:p>
              <a:pPr marL="285750" indent="-285750">
                <a:buFont typeface="Arial" panose="020B0604020202020204" pitchFamily="34" charset="0"/>
                <a:buChar char="•"/>
              </a:pPr>
              <a:r>
                <a:rPr lang="en-GB" sz="1000" dirty="0"/>
                <a:t>Max charging power: 10 kW</a:t>
              </a:r>
              <a:endParaRPr lang="en-DE" sz="1000" dirty="0"/>
            </a:p>
          </p:txBody>
        </p:sp>
      </p:grpSp>
      <p:grpSp>
        <p:nvGrpSpPr>
          <p:cNvPr id="21" name="Group 20">
            <a:extLst>
              <a:ext uri="{FF2B5EF4-FFF2-40B4-BE49-F238E27FC236}">
                <a16:creationId xmlns:a16="http://schemas.microsoft.com/office/drawing/2014/main" id="{759AA705-74F9-A26C-7A5A-3B94809F0B5C}"/>
              </a:ext>
            </a:extLst>
          </p:cNvPr>
          <p:cNvGrpSpPr/>
          <p:nvPr/>
        </p:nvGrpSpPr>
        <p:grpSpPr>
          <a:xfrm>
            <a:off x="326178" y="3258241"/>
            <a:ext cx="3745018" cy="1164023"/>
            <a:chOff x="307056" y="2347562"/>
            <a:chExt cx="3745018" cy="1164023"/>
          </a:xfrm>
        </p:grpSpPr>
        <p:sp>
          <p:nvSpPr>
            <p:cNvPr id="22" name="Rectangle 21">
              <a:extLst>
                <a:ext uri="{FF2B5EF4-FFF2-40B4-BE49-F238E27FC236}">
                  <a16:creationId xmlns:a16="http://schemas.microsoft.com/office/drawing/2014/main" id="{56C3C5DE-23FD-342E-A3DD-5B16A534C23A}"/>
                </a:ext>
              </a:extLst>
            </p:cNvPr>
            <p:cNvSpPr/>
            <p:nvPr/>
          </p:nvSpPr>
          <p:spPr>
            <a:xfrm>
              <a:off x="307056" y="2347562"/>
              <a:ext cx="3745018" cy="116402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DE"/>
            </a:p>
          </p:txBody>
        </p:sp>
        <p:sp>
          <p:nvSpPr>
            <p:cNvPr id="23" name="TextBox 22">
              <a:extLst>
                <a:ext uri="{FF2B5EF4-FFF2-40B4-BE49-F238E27FC236}">
                  <a16:creationId xmlns:a16="http://schemas.microsoft.com/office/drawing/2014/main" id="{CBF08D8B-33EA-141E-BC2C-9BA6E86DF2BB}"/>
                </a:ext>
              </a:extLst>
            </p:cNvPr>
            <p:cNvSpPr txBox="1"/>
            <p:nvPr/>
          </p:nvSpPr>
          <p:spPr>
            <a:xfrm>
              <a:off x="316617" y="2399883"/>
              <a:ext cx="680314" cy="276999"/>
            </a:xfrm>
            <a:prstGeom prst="rect">
              <a:avLst/>
            </a:prstGeom>
            <a:noFill/>
          </p:spPr>
          <p:txBody>
            <a:bodyPr wrap="none" rtlCol="0">
              <a:spAutoFit/>
            </a:bodyPr>
            <a:lstStyle/>
            <a:p>
              <a:r>
                <a:rPr lang="en-GB" sz="1200" dirty="0"/>
                <a:t>Battery:</a:t>
              </a:r>
              <a:endParaRPr lang="en-DE" sz="1200" dirty="0"/>
            </a:p>
          </p:txBody>
        </p:sp>
        <p:sp>
          <p:nvSpPr>
            <p:cNvPr id="24" name="TextBox 23">
              <a:extLst>
                <a:ext uri="{FF2B5EF4-FFF2-40B4-BE49-F238E27FC236}">
                  <a16:creationId xmlns:a16="http://schemas.microsoft.com/office/drawing/2014/main" id="{7C74BCAC-0ACD-44AD-B9A1-68CBA9DB9350}"/>
                </a:ext>
              </a:extLst>
            </p:cNvPr>
            <p:cNvSpPr txBox="1"/>
            <p:nvPr/>
          </p:nvSpPr>
          <p:spPr>
            <a:xfrm>
              <a:off x="957957" y="2421743"/>
              <a:ext cx="3094117" cy="1015663"/>
            </a:xfrm>
            <a:prstGeom prst="rect">
              <a:avLst/>
            </a:prstGeom>
            <a:noFill/>
          </p:spPr>
          <p:txBody>
            <a:bodyPr wrap="none" rtlCol="0">
              <a:spAutoFit/>
            </a:bodyPr>
            <a:lstStyle/>
            <a:p>
              <a:pPr marL="285750" indent="-285750">
                <a:buFont typeface="Arial" panose="020B0604020202020204" pitchFamily="34" charset="0"/>
                <a:buChar char="•"/>
              </a:pPr>
              <a:r>
                <a:rPr lang="en-GB" sz="1000" dirty="0"/>
                <a:t>Charging and discharging coefficient: 0.55</a:t>
              </a:r>
            </a:p>
            <a:p>
              <a:pPr marL="285750" indent="-285750">
                <a:buFont typeface="Arial" panose="020B0604020202020204" pitchFamily="34" charset="0"/>
                <a:buChar char="•"/>
              </a:pPr>
              <a:r>
                <a:rPr lang="en-GB" sz="1000" dirty="0"/>
                <a:t>Initial State of Charge(SOC): 2 kWh</a:t>
              </a:r>
            </a:p>
            <a:p>
              <a:pPr marL="285750" indent="-285750">
                <a:buFont typeface="Arial" panose="020B0604020202020204" pitchFamily="34" charset="0"/>
                <a:buChar char="•"/>
              </a:pPr>
              <a:r>
                <a:rPr lang="en-GB" sz="1000" dirty="0"/>
                <a:t>Min State of Charge(SOC)/Storage Value : 2 kWh</a:t>
              </a:r>
            </a:p>
            <a:p>
              <a:pPr marL="285750" indent="-285750">
                <a:buFont typeface="Arial" panose="020B0604020202020204" pitchFamily="34" charset="0"/>
                <a:buChar char="•"/>
              </a:pPr>
              <a:r>
                <a:rPr lang="en-GB" sz="1000" dirty="0"/>
                <a:t>Max State of Charge(SOC)/Storage Value: 20 kWh</a:t>
              </a:r>
            </a:p>
            <a:p>
              <a:pPr marL="285750" indent="-285750">
                <a:buFont typeface="Arial" panose="020B0604020202020204" pitchFamily="34" charset="0"/>
                <a:buChar char="•"/>
              </a:pPr>
              <a:r>
                <a:rPr lang="en-GB" sz="1000" dirty="0"/>
                <a:t>Min charging power: -10 kW</a:t>
              </a:r>
            </a:p>
            <a:p>
              <a:pPr marL="285750" indent="-285750">
                <a:buFont typeface="Arial" panose="020B0604020202020204" pitchFamily="34" charset="0"/>
                <a:buChar char="•"/>
              </a:pPr>
              <a:r>
                <a:rPr lang="en-GB" sz="1000" dirty="0"/>
                <a:t>Max charging power: 10 kW</a:t>
              </a:r>
              <a:endParaRPr lang="en-DE" sz="1000" dirty="0"/>
            </a:p>
          </p:txBody>
        </p:sp>
      </p:grpSp>
    </p:spTree>
    <p:extLst>
      <p:ext uri="{BB962C8B-B14F-4D97-AF65-F5344CB8AC3E}">
        <p14:creationId xmlns:p14="http://schemas.microsoft.com/office/powerpoint/2010/main" val="1627438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214C38-DA0A-4D01-DFFD-6C511D46A010}"/>
              </a:ext>
            </a:extLst>
          </p:cNvPr>
          <p:cNvSpPr>
            <a:spLocks noGrp="1"/>
          </p:cNvSpPr>
          <p:nvPr>
            <p:ph type="title"/>
          </p:nvPr>
        </p:nvSpPr>
        <p:spPr/>
        <p:txBody>
          <a:bodyPr/>
          <a:lstStyle/>
          <a:p>
            <a:r>
              <a:rPr lang="en-GB" dirty="0"/>
              <a:t>Case Study 2</a:t>
            </a:r>
            <a:endParaRPr lang="en-DE" dirty="0"/>
          </a:p>
        </p:txBody>
      </p:sp>
      <p:pic>
        <p:nvPicPr>
          <p:cNvPr id="5" name="Picture 4" descr="A picture containing text, line, plot, screenshot&#10;&#10;Description automatically generated">
            <a:extLst>
              <a:ext uri="{FF2B5EF4-FFF2-40B4-BE49-F238E27FC236}">
                <a16:creationId xmlns:a16="http://schemas.microsoft.com/office/drawing/2014/main" id="{916DB404-A330-3D55-0750-8C76B9FB2139}"/>
              </a:ext>
            </a:extLst>
          </p:cNvPr>
          <p:cNvPicPr>
            <a:picLocks noChangeAspect="1"/>
          </p:cNvPicPr>
          <p:nvPr/>
        </p:nvPicPr>
        <p:blipFill>
          <a:blip r:embed="rId2"/>
          <a:stretch>
            <a:fillRect/>
          </a:stretch>
        </p:blipFill>
        <p:spPr>
          <a:xfrm>
            <a:off x="1687606" y="678525"/>
            <a:ext cx="7456394" cy="3786450"/>
          </a:xfrm>
          <a:prstGeom prst="rect">
            <a:avLst/>
          </a:prstGeom>
        </p:spPr>
      </p:pic>
      <p:sp>
        <p:nvSpPr>
          <p:cNvPr id="6" name="TextBox 5">
            <a:extLst>
              <a:ext uri="{FF2B5EF4-FFF2-40B4-BE49-F238E27FC236}">
                <a16:creationId xmlns:a16="http://schemas.microsoft.com/office/drawing/2014/main" id="{E12EC757-C448-5E64-3CB7-F39E8C525031}"/>
              </a:ext>
            </a:extLst>
          </p:cNvPr>
          <p:cNvSpPr txBox="1"/>
          <p:nvPr/>
        </p:nvSpPr>
        <p:spPr>
          <a:xfrm>
            <a:off x="174812" y="865482"/>
            <a:ext cx="1848969" cy="2123658"/>
          </a:xfrm>
          <a:prstGeom prst="rect">
            <a:avLst/>
          </a:prstGeom>
          <a:noFill/>
        </p:spPr>
        <p:txBody>
          <a:bodyPr wrap="square" rtlCol="0">
            <a:spAutoFit/>
          </a:bodyPr>
          <a:lstStyle/>
          <a:p>
            <a:r>
              <a:rPr lang="en-GB" sz="1200" dirty="0"/>
              <a:t>The graph display the interaction between outside temperature, power consumption by heat pump, power discharge by battery and electricity price in maintaining temperature of the hot water tank(HWT) within predefined boundary.</a:t>
            </a:r>
            <a:endParaRPr lang="en-DE" sz="1200" dirty="0"/>
          </a:p>
        </p:txBody>
      </p:sp>
    </p:spTree>
    <p:extLst>
      <p:ext uri="{BB962C8B-B14F-4D97-AF65-F5344CB8AC3E}">
        <p14:creationId xmlns:p14="http://schemas.microsoft.com/office/powerpoint/2010/main" val="82189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4E99BE-4F2A-6A3B-EB16-576403E159A2}"/>
              </a:ext>
            </a:extLst>
          </p:cNvPr>
          <p:cNvSpPr>
            <a:spLocks noGrp="1"/>
          </p:cNvSpPr>
          <p:nvPr>
            <p:ph type="title"/>
          </p:nvPr>
        </p:nvSpPr>
        <p:spPr/>
        <p:txBody>
          <a:bodyPr/>
          <a:lstStyle/>
          <a:p>
            <a:r>
              <a:rPr lang="en-GB" dirty="0"/>
              <a:t>Case Study 2</a:t>
            </a:r>
            <a:endParaRPr lang="en-DE" dirty="0"/>
          </a:p>
        </p:txBody>
      </p:sp>
      <p:pic>
        <p:nvPicPr>
          <p:cNvPr id="7" name="Picture 6" descr="A picture containing text, line, plot, diagram&#10;&#10;Description automatically generated">
            <a:extLst>
              <a:ext uri="{FF2B5EF4-FFF2-40B4-BE49-F238E27FC236}">
                <a16:creationId xmlns:a16="http://schemas.microsoft.com/office/drawing/2014/main" id="{8C84AE0D-6623-01C8-2BCA-675D0D0985F7}"/>
              </a:ext>
            </a:extLst>
          </p:cNvPr>
          <p:cNvPicPr>
            <a:picLocks noChangeAspect="1"/>
          </p:cNvPicPr>
          <p:nvPr/>
        </p:nvPicPr>
        <p:blipFill>
          <a:blip r:embed="rId2"/>
          <a:stretch>
            <a:fillRect/>
          </a:stretch>
        </p:blipFill>
        <p:spPr>
          <a:xfrm>
            <a:off x="1956548" y="993229"/>
            <a:ext cx="6710082" cy="3407464"/>
          </a:xfrm>
          <a:prstGeom prst="rect">
            <a:avLst/>
          </a:prstGeom>
        </p:spPr>
      </p:pic>
      <p:sp>
        <p:nvSpPr>
          <p:cNvPr id="8" name="TextBox 7">
            <a:extLst>
              <a:ext uri="{FF2B5EF4-FFF2-40B4-BE49-F238E27FC236}">
                <a16:creationId xmlns:a16="http://schemas.microsoft.com/office/drawing/2014/main" id="{B32BB923-BE76-244E-40F8-A155880A9229}"/>
              </a:ext>
            </a:extLst>
          </p:cNvPr>
          <p:cNvSpPr txBox="1"/>
          <p:nvPr/>
        </p:nvSpPr>
        <p:spPr>
          <a:xfrm>
            <a:off x="235325" y="1109382"/>
            <a:ext cx="1822075" cy="1754326"/>
          </a:xfrm>
          <a:prstGeom prst="rect">
            <a:avLst/>
          </a:prstGeom>
          <a:noFill/>
        </p:spPr>
        <p:txBody>
          <a:bodyPr wrap="square" rtlCol="0">
            <a:spAutoFit/>
          </a:bodyPr>
          <a:lstStyle/>
          <a:p>
            <a:r>
              <a:rPr lang="en-GB" sz="1200" dirty="0"/>
              <a:t>The graph illustrate the dynamic relationship between battery power, solar power and the state of charge(SOC) of the battery. The charging and discharging of the battery operate within the specified limit.</a:t>
            </a:r>
            <a:endParaRPr lang="en-DE" sz="1200" dirty="0"/>
          </a:p>
        </p:txBody>
      </p:sp>
    </p:spTree>
    <p:extLst>
      <p:ext uri="{BB962C8B-B14F-4D97-AF65-F5344CB8AC3E}">
        <p14:creationId xmlns:p14="http://schemas.microsoft.com/office/powerpoint/2010/main" val="5243110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9B1E08-F054-6AA8-06CB-48B43BF7BEF9}"/>
              </a:ext>
            </a:extLst>
          </p:cNvPr>
          <p:cNvSpPr>
            <a:spLocks noGrp="1"/>
          </p:cNvSpPr>
          <p:nvPr>
            <p:ph type="title"/>
          </p:nvPr>
        </p:nvSpPr>
        <p:spPr/>
        <p:txBody>
          <a:bodyPr/>
          <a:lstStyle/>
          <a:p>
            <a:r>
              <a:rPr lang="en-GB" dirty="0"/>
              <a:t>Case Study 2</a:t>
            </a:r>
            <a:endParaRPr lang="en-DE" dirty="0"/>
          </a:p>
        </p:txBody>
      </p:sp>
      <p:pic>
        <p:nvPicPr>
          <p:cNvPr id="5" name="Picture 4" descr="A picture containing text, plot, line, screenshot&#10;&#10;Description automatically generated">
            <a:extLst>
              <a:ext uri="{FF2B5EF4-FFF2-40B4-BE49-F238E27FC236}">
                <a16:creationId xmlns:a16="http://schemas.microsoft.com/office/drawing/2014/main" id="{9CB41887-47D3-503F-1A84-9501434E047B}"/>
              </a:ext>
            </a:extLst>
          </p:cNvPr>
          <p:cNvPicPr>
            <a:picLocks noChangeAspect="1"/>
          </p:cNvPicPr>
          <p:nvPr/>
        </p:nvPicPr>
        <p:blipFill>
          <a:blip r:embed="rId2"/>
          <a:stretch>
            <a:fillRect/>
          </a:stretch>
        </p:blipFill>
        <p:spPr>
          <a:xfrm>
            <a:off x="1945271" y="774480"/>
            <a:ext cx="7078478" cy="3594540"/>
          </a:xfrm>
          <a:prstGeom prst="rect">
            <a:avLst/>
          </a:prstGeom>
        </p:spPr>
      </p:pic>
      <p:sp>
        <p:nvSpPr>
          <p:cNvPr id="7" name="TextBox 6">
            <a:extLst>
              <a:ext uri="{FF2B5EF4-FFF2-40B4-BE49-F238E27FC236}">
                <a16:creationId xmlns:a16="http://schemas.microsoft.com/office/drawing/2014/main" id="{3F31CDE3-675D-8A6F-4104-A849A449C944}"/>
              </a:ext>
            </a:extLst>
          </p:cNvPr>
          <p:cNvSpPr txBox="1"/>
          <p:nvPr/>
        </p:nvSpPr>
        <p:spPr>
          <a:xfrm>
            <a:off x="220980" y="964217"/>
            <a:ext cx="1889760" cy="1938992"/>
          </a:xfrm>
          <a:prstGeom prst="rect">
            <a:avLst/>
          </a:prstGeom>
          <a:noFill/>
        </p:spPr>
        <p:txBody>
          <a:bodyPr wrap="square">
            <a:spAutoFit/>
          </a:bodyPr>
          <a:lstStyle/>
          <a:p>
            <a:r>
              <a:rPr lang="en-GB" sz="1200" dirty="0"/>
              <a:t>The graph display the interaction between outside temperature, power consumption by heat pump, the state of charge(SOC) of the battery. The temperature of the hot water tank(HWT) are within predefined boundary.</a:t>
            </a:r>
            <a:endParaRPr lang="en-DE" sz="1200" dirty="0"/>
          </a:p>
        </p:txBody>
      </p:sp>
    </p:spTree>
    <p:extLst>
      <p:ext uri="{BB962C8B-B14F-4D97-AF65-F5344CB8AC3E}">
        <p14:creationId xmlns:p14="http://schemas.microsoft.com/office/powerpoint/2010/main" val="13959554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4AE1A0-E09D-7C16-E8E4-A390931CE4A8}"/>
              </a:ext>
            </a:extLst>
          </p:cNvPr>
          <p:cNvSpPr>
            <a:spLocks noGrp="1"/>
          </p:cNvSpPr>
          <p:nvPr>
            <p:ph type="title"/>
          </p:nvPr>
        </p:nvSpPr>
        <p:spPr/>
        <p:txBody>
          <a:bodyPr/>
          <a:lstStyle/>
          <a:p>
            <a:r>
              <a:rPr lang="en-GB" dirty="0"/>
              <a:t>Case Study 2</a:t>
            </a:r>
            <a:endParaRPr lang="en-DE" dirty="0"/>
          </a:p>
        </p:txBody>
      </p:sp>
      <p:pic>
        <p:nvPicPr>
          <p:cNvPr id="5" name="Picture 4" descr="A picture containing text, line, plot, screenshot&#10;&#10;Description automatically generated">
            <a:extLst>
              <a:ext uri="{FF2B5EF4-FFF2-40B4-BE49-F238E27FC236}">
                <a16:creationId xmlns:a16="http://schemas.microsoft.com/office/drawing/2014/main" id="{E8EEA89C-DEA4-B72F-F8E6-BF3487D22FDA}"/>
              </a:ext>
            </a:extLst>
          </p:cNvPr>
          <p:cNvPicPr>
            <a:picLocks noChangeAspect="1"/>
          </p:cNvPicPr>
          <p:nvPr/>
        </p:nvPicPr>
        <p:blipFill>
          <a:blip r:embed="rId2"/>
          <a:stretch>
            <a:fillRect/>
          </a:stretch>
        </p:blipFill>
        <p:spPr>
          <a:xfrm>
            <a:off x="1943101" y="762175"/>
            <a:ext cx="7126940" cy="3619150"/>
          </a:xfrm>
          <a:prstGeom prst="rect">
            <a:avLst/>
          </a:prstGeom>
        </p:spPr>
      </p:pic>
      <p:sp>
        <p:nvSpPr>
          <p:cNvPr id="6" name="TextBox 5">
            <a:extLst>
              <a:ext uri="{FF2B5EF4-FFF2-40B4-BE49-F238E27FC236}">
                <a16:creationId xmlns:a16="http://schemas.microsoft.com/office/drawing/2014/main" id="{8D604DFA-2640-09F3-978A-73D205EB3985}"/>
              </a:ext>
            </a:extLst>
          </p:cNvPr>
          <p:cNvSpPr txBox="1"/>
          <p:nvPr/>
        </p:nvSpPr>
        <p:spPr>
          <a:xfrm>
            <a:off x="121024" y="914400"/>
            <a:ext cx="1943100" cy="1569660"/>
          </a:xfrm>
          <a:prstGeom prst="rect">
            <a:avLst/>
          </a:prstGeom>
          <a:noFill/>
        </p:spPr>
        <p:txBody>
          <a:bodyPr wrap="square" rtlCol="0">
            <a:spAutoFit/>
          </a:bodyPr>
          <a:lstStyle/>
          <a:p>
            <a:r>
              <a:rPr lang="en-GB" sz="1200" dirty="0"/>
              <a:t>The integration of EV charging does not impact the operation of the heat pump, as the hot water tank maintains its temperature within the specified range. The charging of the EV is also in predefined limit.</a:t>
            </a:r>
            <a:endParaRPr lang="en-DE" sz="1200" dirty="0"/>
          </a:p>
        </p:txBody>
      </p:sp>
    </p:spTree>
    <p:extLst>
      <p:ext uri="{BB962C8B-B14F-4D97-AF65-F5344CB8AC3E}">
        <p14:creationId xmlns:p14="http://schemas.microsoft.com/office/powerpoint/2010/main" val="37265920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82D95B-1927-5066-D5E0-3E90F51B0021}"/>
              </a:ext>
            </a:extLst>
          </p:cNvPr>
          <p:cNvSpPr>
            <a:spLocks noGrp="1"/>
          </p:cNvSpPr>
          <p:nvPr>
            <p:ph idx="1"/>
          </p:nvPr>
        </p:nvSpPr>
        <p:spPr/>
        <p:txBody>
          <a:bodyPr/>
          <a:lstStyle/>
          <a:p>
            <a:r>
              <a:rPr lang="en-GB" dirty="0"/>
              <a:t>Developed a flexible and scalable modular MPC for building energy management.</a:t>
            </a:r>
          </a:p>
          <a:p>
            <a:r>
              <a:rPr lang="en-GB" dirty="0"/>
              <a:t>User friendly GUI allows for customization of parameters and provides visualization for analysis.</a:t>
            </a:r>
          </a:p>
          <a:p>
            <a:r>
              <a:rPr lang="en-GB" dirty="0"/>
              <a:t>Case studies show successful regulation of hot water tank and power supply to the heat pump.</a:t>
            </a:r>
          </a:p>
          <a:p>
            <a:r>
              <a:rPr lang="en-GB" dirty="0"/>
              <a:t>Control strategies achieve the expected outcomes and operate within the constraints.</a:t>
            </a:r>
          </a:p>
          <a:p>
            <a:r>
              <a:rPr lang="en-GB" dirty="0"/>
              <a:t>Potential for real-time implementation in physical buildings with proper hardware and software optimization.</a:t>
            </a:r>
          </a:p>
          <a:p>
            <a:endParaRPr lang="en-DE" dirty="0"/>
          </a:p>
        </p:txBody>
      </p:sp>
      <p:sp>
        <p:nvSpPr>
          <p:cNvPr id="3" name="Title 2">
            <a:extLst>
              <a:ext uri="{FF2B5EF4-FFF2-40B4-BE49-F238E27FC236}">
                <a16:creationId xmlns:a16="http://schemas.microsoft.com/office/drawing/2014/main" id="{D0E30756-4785-209D-B92D-2E7E92E34CB7}"/>
              </a:ext>
            </a:extLst>
          </p:cNvPr>
          <p:cNvSpPr>
            <a:spLocks noGrp="1"/>
          </p:cNvSpPr>
          <p:nvPr>
            <p:ph type="title"/>
          </p:nvPr>
        </p:nvSpPr>
        <p:spPr/>
        <p:txBody>
          <a:bodyPr/>
          <a:lstStyle/>
          <a:p>
            <a:r>
              <a:rPr lang="en-GB" dirty="0"/>
              <a:t>Conclusion</a:t>
            </a:r>
            <a:endParaRPr lang="en-DE" dirty="0"/>
          </a:p>
        </p:txBody>
      </p:sp>
    </p:spTree>
    <p:extLst>
      <p:ext uri="{BB962C8B-B14F-4D97-AF65-F5344CB8AC3E}">
        <p14:creationId xmlns:p14="http://schemas.microsoft.com/office/powerpoint/2010/main" val="23537501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2893C3-D69D-022E-E2EB-667FFD5D8EFF}"/>
              </a:ext>
            </a:extLst>
          </p:cNvPr>
          <p:cNvSpPr>
            <a:spLocks noGrp="1"/>
          </p:cNvSpPr>
          <p:nvPr>
            <p:ph idx="1"/>
          </p:nvPr>
        </p:nvSpPr>
        <p:spPr/>
        <p:txBody>
          <a:bodyPr/>
          <a:lstStyle/>
          <a:p>
            <a:r>
              <a:rPr lang="en-GB" dirty="0"/>
              <a:t>Improve computation time by optimizing code and data structure using </a:t>
            </a:r>
            <a:r>
              <a:rPr lang="en-GB" dirty="0" err="1"/>
              <a:t>CasADi’s</a:t>
            </a:r>
            <a:r>
              <a:rPr lang="en-GB" dirty="0"/>
              <a:t> API</a:t>
            </a:r>
          </a:p>
          <a:p>
            <a:r>
              <a:rPr lang="en-GB" dirty="0"/>
              <a:t>Include real-time energy pricing and online weather forecasting API .</a:t>
            </a:r>
          </a:p>
          <a:p>
            <a:r>
              <a:rPr lang="en-GB" dirty="0"/>
              <a:t>Include occupancy pattern in the predictive model to increase efficiency and occupancy comfort.</a:t>
            </a:r>
          </a:p>
          <a:p>
            <a:r>
              <a:rPr lang="en-GB" dirty="0"/>
              <a:t>Consider asset degradation of components such as battery, heat pump, EV and hot water tank for durability and system efficiency.</a:t>
            </a:r>
          </a:p>
          <a:p>
            <a:r>
              <a:rPr lang="en-GB" dirty="0"/>
              <a:t>Implement thread and multiprocessing functionality to reduce delay, enhance user experience and program stability.</a:t>
            </a:r>
            <a:endParaRPr lang="en-DE" dirty="0"/>
          </a:p>
        </p:txBody>
      </p:sp>
      <p:sp>
        <p:nvSpPr>
          <p:cNvPr id="3" name="Title 2">
            <a:extLst>
              <a:ext uri="{FF2B5EF4-FFF2-40B4-BE49-F238E27FC236}">
                <a16:creationId xmlns:a16="http://schemas.microsoft.com/office/drawing/2014/main" id="{B33E9E69-7FB6-BF7E-BFAC-CE415A31D22C}"/>
              </a:ext>
            </a:extLst>
          </p:cNvPr>
          <p:cNvSpPr>
            <a:spLocks noGrp="1"/>
          </p:cNvSpPr>
          <p:nvPr>
            <p:ph type="title"/>
          </p:nvPr>
        </p:nvSpPr>
        <p:spPr/>
        <p:txBody>
          <a:bodyPr/>
          <a:lstStyle/>
          <a:p>
            <a:r>
              <a:rPr lang="en-GB" dirty="0"/>
              <a:t>Future Work</a:t>
            </a:r>
            <a:endParaRPr lang="en-DE" dirty="0"/>
          </a:p>
        </p:txBody>
      </p:sp>
    </p:spTree>
    <p:extLst>
      <p:ext uri="{BB962C8B-B14F-4D97-AF65-F5344CB8AC3E}">
        <p14:creationId xmlns:p14="http://schemas.microsoft.com/office/powerpoint/2010/main" val="21055281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3BCBFD-074E-7D20-95FF-5A5F47DBECB6}"/>
              </a:ext>
            </a:extLst>
          </p:cNvPr>
          <p:cNvSpPr>
            <a:spLocks noGrp="1"/>
          </p:cNvSpPr>
          <p:nvPr>
            <p:ph type="title"/>
          </p:nvPr>
        </p:nvSpPr>
        <p:spPr/>
        <p:txBody>
          <a:bodyPr/>
          <a:lstStyle/>
          <a:p>
            <a:r>
              <a:rPr lang="en-GB" dirty="0"/>
              <a:t>Appendix</a:t>
            </a:r>
            <a:endParaRPr lang="en-DE" dirty="0"/>
          </a:p>
        </p:txBody>
      </p:sp>
      <p:pic>
        <p:nvPicPr>
          <p:cNvPr id="5" name="Picture 4" descr="A screenshot of a graph&#10;&#10;Description automatically generated with low confidence">
            <a:extLst>
              <a:ext uri="{FF2B5EF4-FFF2-40B4-BE49-F238E27FC236}">
                <a16:creationId xmlns:a16="http://schemas.microsoft.com/office/drawing/2014/main" id="{F9A69662-010E-2B02-8001-142F49353780}"/>
              </a:ext>
            </a:extLst>
          </p:cNvPr>
          <p:cNvPicPr>
            <a:picLocks noChangeAspect="1"/>
          </p:cNvPicPr>
          <p:nvPr/>
        </p:nvPicPr>
        <p:blipFill>
          <a:blip r:embed="rId2"/>
          <a:stretch>
            <a:fillRect/>
          </a:stretch>
        </p:blipFill>
        <p:spPr>
          <a:xfrm>
            <a:off x="800100" y="767595"/>
            <a:ext cx="6851276" cy="3703971"/>
          </a:xfrm>
          <a:prstGeom prst="rect">
            <a:avLst/>
          </a:prstGeom>
        </p:spPr>
      </p:pic>
    </p:spTree>
    <p:extLst>
      <p:ext uri="{BB962C8B-B14F-4D97-AF65-F5344CB8AC3E}">
        <p14:creationId xmlns:p14="http://schemas.microsoft.com/office/powerpoint/2010/main" val="15803690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842B4D-DBEB-BF86-494C-BAEAACB5A520}"/>
              </a:ext>
            </a:extLst>
          </p:cNvPr>
          <p:cNvSpPr>
            <a:spLocks noGrp="1"/>
          </p:cNvSpPr>
          <p:nvPr>
            <p:ph type="title"/>
          </p:nvPr>
        </p:nvSpPr>
        <p:spPr/>
        <p:txBody>
          <a:bodyPr/>
          <a:lstStyle/>
          <a:p>
            <a:r>
              <a:rPr lang="en-GB" dirty="0"/>
              <a:t>Appendix</a:t>
            </a:r>
            <a:endParaRPr lang="en-DE" dirty="0"/>
          </a:p>
        </p:txBody>
      </p:sp>
      <p:pic>
        <p:nvPicPr>
          <p:cNvPr id="5" name="Picture 4" descr="A screenshot of a graph&#10;&#10;Description automatically generated with low confidence">
            <a:extLst>
              <a:ext uri="{FF2B5EF4-FFF2-40B4-BE49-F238E27FC236}">
                <a16:creationId xmlns:a16="http://schemas.microsoft.com/office/drawing/2014/main" id="{23467F11-AE5A-656A-0E35-356CF86EF8CD}"/>
              </a:ext>
            </a:extLst>
          </p:cNvPr>
          <p:cNvPicPr>
            <a:picLocks noChangeAspect="1"/>
          </p:cNvPicPr>
          <p:nvPr/>
        </p:nvPicPr>
        <p:blipFill>
          <a:blip r:embed="rId2"/>
          <a:stretch>
            <a:fillRect/>
          </a:stretch>
        </p:blipFill>
        <p:spPr>
          <a:xfrm>
            <a:off x="806824" y="708860"/>
            <a:ext cx="6891617" cy="3725780"/>
          </a:xfrm>
          <a:prstGeom prst="rect">
            <a:avLst/>
          </a:prstGeom>
        </p:spPr>
      </p:pic>
    </p:spTree>
    <p:extLst>
      <p:ext uri="{BB962C8B-B14F-4D97-AF65-F5344CB8AC3E}">
        <p14:creationId xmlns:p14="http://schemas.microsoft.com/office/powerpoint/2010/main" val="3339091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31DC11-7170-09C4-1723-1CCDFE595373}"/>
              </a:ext>
            </a:extLst>
          </p:cNvPr>
          <p:cNvSpPr>
            <a:spLocks noGrp="1"/>
          </p:cNvSpPr>
          <p:nvPr>
            <p:ph type="title"/>
          </p:nvPr>
        </p:nvSpPr>
        <p:spPr/>
        <p:txBody>
          <a:bodyPr/>
          <a:lstStyle/>
          <a:p>
            <a:r>
              <a:rPr lang="en-GB" dirty="0"/>
              <a:t>Appendix</a:t>
            </a:r>
            <a:endParaRPr lang="en-DE" dirty="0"/>
          </a:p>
        </p:txBody>
      </p:sp>
      <p:pic>
        <p:nvPicPr>
          <p:cNvPr id="5" name="Picture 4" descr="A screenshot of a graph&#10;&#10;Description automatically generated with low confidence">
            <a:extLst>
              <a:ext uri="{FF2B5EF4-FFF2-40B4-BE49-F238E27FC236}">
                <a16:creationId xmlns:a16="http://schemas.microsoft.com/office/drawing/2014/main" id="{D7144A96-526F-7824-7D92-BEB5B3E84011}"/>
              </a:ext>
            </a:extLst>
          </p:cNvPr>
          <p:cNvPicPr>
            <a:picLocks noChangeAspect="1"/>
          </p:cNvPicPr>
          <p:nvPr/>
        </p:nvPicPr>
        <p:blipFill>
          <a:blip r:embed="rId2"/>
          <a:stretch>
            <a:fillRect/>
          </a:stretch>
        </p:blipFill>
        <p:spPr>
          <a:xfrm>
            <a:off x="773206" y="756113"/>
            <a:ext cx="6898341" cy="3729416"/>
          </a:xfrm>
          <a:prstGeom prst="rect">
            <a:avLst/>
          </a:prstGeom>
        </p:spPr>
      </p:pic>
    </p:spTree>
    <p:extLst>
      <p:ext uri="{BB962C8B-B14F-4D97-AF65-F5344CB8AC3E}">
        <p14:creationId xmlns:p14="http://schemas.microsoft.com/office/powerpoint/2010/main" val="36224501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4161B6-3287-1CF6-B2F8-497061F936CD}"/>
              </a:ext>
            </a:extLst>
          </p:cNvPr>
          <p:cNvSpPr>
            <a:spLocks noGrp="1"/>
          </p:cNvSpPr>
          <p:nvPr>
            <p:ph type="title"/>
          </p:nvPr>
        </p:nvSpPr>
        <p:spPr/>
        <p:txBody>
          <a:bodyPr/>
          <a:lstStyle/>
          <a:p>
            <a:r>
              <a:rPr lang="en-GB" dirty="0"/>
              <a:t>Appendix</a:t>
            </a:r>
            <a:endParaRPr lang="en-DE" dirty="0"/>
          </a:p>
        </p:txBody>
      </p:sp>
      <p:pic>
        <p:nvPicPr>
          <p:cNvPr id="5" name="Picture 4" descr="A screenshot of a graph&#10;&#10;Description automatically generated with low confidence">
            <a:extLst>
              <a:ext uri="{FF2B5EF4-FFF2-40B4-BE49-F238E27FC236}">
                <a16:creationId xmlns:a16="http://schemas.microsoft.com/office/drawing/2014/main" id="{076F5621-8F4B-79D2-3710-F974C1E84215}"/>
              </a:ext>
            </a:extLst>
          </p:cNvPr>
          <p:cNvPicPr>
            <a:picLocks noChangeAspect="1"/>
          </p:cNvPicPr>
          <p:nvPr/>
        </p:nvPicPr>
        <p:blipFill>
          <a:blip r:embed="rId2"/>
          <a:stretch>
            <a:fillRect/>
          </a:stretch>
        </p:blipFill>
        <p:spPr>
          <a:xfrm>
            <a:off x="779930" y="697944"/>
            <a:ext cx="6938681" cy="3747611"/>
          </a:xfrm>
          <a:prstGeom prst="rect">
            <a:avLst/>
          </a:prstGeom>
        </p:spPr>
      </p:pic>
    </p:spTree>
    <p:extLst>
      <p:ext uri="{BB962C8B-B14F-4D97-AF65-F5344CB8AC3E}">
        <p14:creationId xmlns:p14="http://schemas.microsoft.com/office/powerpoint/2010/main" val="196021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FF499D5-5640-F894-65CD-3A17CC180564}"/>
              </a:ext>
            </a:extLst>
          </p:cNvPr>
          <p:cNvSpPr>
            <a:spLocks noGrp="1"/>
          </p:cNvSpPr>
          <p:nvPr>
            <p:ph type="title"/>
          </p:nvPr>
        </p:nvSpPr>
        <p:spPr/>
        <p:txBody>
          <a:bodyPr/>
          <a:lstStyle/>
          <a:p>
            <a:r>
              <a:rPr lang="en-GB" dirty="0"/>
              <a:t>Appendix</a:t>
            </a:r>
            <a:endParaRPr lang="en-DE" dirty="0"/>
          </a:p>
        </p:txBody>
      </p:sp>
      <p:pic>
        <p:nvPicPr>
          <p:cNvPr id="5" name="Picture 4" descr="A screenshot of a graph&#10;&#10;Description automatically generated with low confidence">
            <a:extLst>
              <a:ext uri="{FF2B5EF4-FFF2-40B4-BE49-F238E27FC236}">
                <a16:creationId xmlns:a16="http://schemas.microsoft.com/office/drawing/2014/main" id="{A4A69FC6-FA80-D914-7FC9-9ADA72B89BB6}"/>
              </a:ext>
            </a:extLst>
          </p:cNvPr>
          <p:cNvPicPr>
            <a:picLocks noChangeAspect="1"/>
          </p:cNvPicPr>
          <p:nvPr/>
        </p:nvPicPr>
        <p:blipFill>
          <a:blip r:embed="rId2"/>
          <a:stretch>
            <a:fillRect/>
          </a:stretch>
        </p:blipFill>
        <p:spPr>
          <a:xfrm>
            <a:off x="907676" y="709465"/>
            <a:ext cx="6790765" cy="3671257"/>
          </a:xfrm>
          <a:prstGeom prst="rect">
            <a:avLst/>
          </a:prstGeom>
        </p:spPr>
      </p:pic>
    </p:spTree>
    <p:extLst>
      <p:ext uri="{BB962C8B-B14F-4D97-AF65-F5344CB8AC3E}">
        <p14:creationId xmlns:p14="http://schemas.microsoft.com/office/powerpoint/2010/main" val="18964050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219DFC-AD12-8204-B351-5AC99237A45B}"/>
              </a:ext>
            </a:extLst>
          </p:cNvPr>
          <p:cNvSpPr>
            <a:spLocks noGrp="1"/>
          </p:cNvSpPr>
          <p:nvPr>
            <p:ph type="title"/>
          </p:nvPr>
        </p:nvSpPr>
        <p:spPr/>
        <p:txBody>
          <a:bodyPr/>
          <a:lstStyle/>
          <a:p>
            <a:r>
              <a:rPr lang="en-GB" dirty="0"/>
              <a:t>Appendix</a:t>
            </a:r>
            <a:endParaRPr lang="en-DE" dirty="0"/>
          </a:p>
        </p:txBody>
      </p:sp>
      <p:pic>
        <p:nvPicPr>
          <p:cNvPr id="5" name="Picture 4" descr="A screenshot of a graph&#10;&#10;Description automatically generated with low confidence">
            <a:extLst>
              <a:ext uri="{FF2B5EF4-FFF2-40B4-BE49-F238E27FC236}">
                <a16:creationId xmlns:a16="http://schemas.microsoft.com/office/drawing/2014/main" id="{BEC80267-BE2F-FBBC-ABAB-80E29B8089EA}"/>
              </a:ext>
            </a:extLst>
          </p:cNvPr>
          <p:cNvPicPr>
            <a:picLocks noChangeAspect="1"/>
          </p:cNvPicPr>
          <p:nvPr/>
        </p:nvPicPr>
        <p:blipFill>
          <a:blip r:embed="rId2"/>
          <a:stretch>
            <a:fillRect/>
          </a:stretch>
        </p:blipFill>
        <p:spPr>
          <a:xfrm>
            <a:off x="907677" y="739482"/>
            <a:ext cx="6891618" cy="3725781"/>
          </a:xfrm>
          <a:prstGeom prst="rect">
            <a:avLst/>
          </a:prstGeom>
        </p:spPr>
      </p:pic>
    </p:spTree>
    <p:extLst>
      <p:ext uri="{BB962C8B-B14F-4D97-AF65-F5344CB8AC3E}">
        <p14:creationId xmlns:p14="http://schemas.microsoft.com/office/powerpoint/2010/main" val="37664207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67B6062-9806-2E58-F187-804B03890704}"/>
              </a:ext>
            </a:extLst>
          </p:cNvPr>
          <p:cNvSpPr>
            <a:spLocks noGrp="1"/>
          </p:cNvSpPr>
          <p:nvPr>
            <p:ph type="title"/>
          </p:nvPr>
        </p:nvSpPr>
        <p:spPr/>
        <p:txBody>
          <a:bodyPr/>
          <a:lstStyle/>
          <a:p>
            <a:r>
              <a:rPr lang="en-GB" dirty="0"/>
              <a:t>Appendix</a:t>
            </a:r>
            <a:endParaRPr lang="en-DE" dirty="0"/>
          </a:p>
        </p:txBody>
      </p:sp>
      <p:pic>
        <p:nvPicPr>
          <p:cNvPr id="7" name="Picture 6" descr="A screenshot of a computer&#10;&#10;Description automatically generated with medium confidence">
            <a:extLst>
              <a:ext uri="{FF2B5EF4-FFF2-40B4-BE49-F238E27FC236}">
                <a16:creationId xmlns:a16="http://schemas.microsoft.com/office/drawing/2014/main" id="{28D67CBD-E4B6-AE7F-6E40-D9F8453170C9}"/>
              </a:ext>
            </a:extLst>
          </p:cNvPr>
          <p:cNvPicPr>
            <a:picLocks noChangeAspect="1"/>
          </p:cNvPicPr>
          <p:nvPr/>
        </p:nvPicPr>
        <p:blipFill>
          <a:blip r:embed="rId2"/>
          <a:stretch>
            <a:fillRect/>
          </a:stretch>
        </p:blipFill>
        <p:spPr>
          <a:xfrm>
            <a:off x="658907" y="835334"/>
            <a:ext cx="7631206" cy="3576763"/>
          </a:xfrm>
          <a:prstGeom prst="rect">
            <a:avLst/>
          </a:prstGeom>
        </p:spPr>
      </p:pic>
    </p:spTree>
    <p:extLst>
      <p:ext uri="{BB962C8B-B14F-4D97-AF65-F5344CB8AC3E}">
        <p14:creationId xmlns:p14="http://schemas.microsoft.com/office/powerpoint/2010/main" val="28094422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C08077-83F4-DAE6-9860-543DB9D9B23A}"/>
              </a:ext>
            </a:extLst>
          </p:cNvPr>
          <p:cNvSpPr>
            <a:spLocks noGrp="1"/>
          </p:cNvSpPr>
          <p:nvPr>
            <p:ph type="title"/>
          </p:nvPr>
        </p:nvSpPr>
        <p:spPr/>
        <p:txBody>
          <a:bodyPr/>
          <a:lstStyle/>
          <a:p>
            <a:r>
              <a:rPr lang="en-GB" dirty="0"/>
              <a:t>Appendix</a:t>
            </a:r>
            <a:endParaRPr lang="en-DE" dirty="0"/>
          </a:p>
        </p:txBody>
      </p:sp>
      <p:pic>
        <p:nvPicPr>
          <p:cNvPr id="5" name="Picture 4" descr="A screenshot of a computer&#10;&#10;Description automatically generated">
            <a:extLst>
              <a:ext uri="{FF2B5EF4-FFF2-40B4-BE49-F238E27FC236}">
                <a16:creationId xmlns:a16="http://schemas.microsoft.com/office/drawing/2014/main" id="{143523F2-78A1-AB16-C570-36B746263B44}"/>
              </a:ext>
            </a:extLst>
          </p:cNvPr>
          <p:cNvPicPr>
            <a:picLocks noChangeAspect="1"/>
          </p:cNvPicPr>
          <p:nvPr/>
        </p:nvPicPr>
        <p:blipFill>
          <a:blip r:embed="rId2"/>
          <a:stretch>
            <a:fillRect/>
          </a:stretch>
        </p:blipFill>
        <p:spPr>
          <a:xfrm>
            <a:off x="648820" y="792109"/>
            <a:ext cx="7846359" cy="3668428"/>
          </a:xfrm>
          <a:prstGeom prst="rect">
            <a:avLst/>
          </a:prstGeom>
        </p:spPr>
      </p:pic>
    </p:spTree>
    <p:extLst>
      <p:ext uri="{BB962C8B-B14F-4D97-AF65-F5344CB8AC3E}">
        <p14:creationId xmlns:p14="http://schemas.microsoft.com/office/powerpoint/2010/main" val="16709418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ABC6B3-E8B6-B7C0-B71F-BB0E3E486D50}"/>
              </a:ext>
            </a:extLst>
          </p:cNvPr>
          <p:cNvSpPr>
            <a:spLocks noGrp="1"/>
          </p:cNvSpPr>
          <p:nvPr>
            <p:ph type="title"/>
          </p:nvPr>
        </p:nvSpPr>
        <p:spPr/>
        <p:txBody>
          <a:bodyPr/>
          <a:lstStyle/>
          <a:p>
            <a:r>
              <a:rPr lang="en-GB" dirty="0"/>
              <a:t>Appendix</a:t>
            </a:r>
            <a:endParaRPr lang="en-DE" dirty="0"/>
          </a:p>
        </p:txBody>
      </p:sp>
      <p:pic>
        <p:nvPicPr>
          <p:cNvPr id="5" name="Picture 4" descr="A screenshot of a computer&#10;&#10;Description automatically generated">
            <a:extLst>
              <a:ext uri="{FF2B5EF4-FFF2-40B4-BE49-F238E27FC236}">
                <a16:creationId xmlns:a16="http://schemas.microsoft.com/office/drawing/2014/main" id="{48559DC1-47EA-645E-F17D-268B2A0C03ED}"/>
              </a:ext>
            </a:extLst>
          </p:cNvPr>
          <p:cNvPicPr>
            <a:picLocks noChangeAspect="1"/>
          </p:cNvPicPr>
          <p:nvPr/>
        </p:nvPicPr>
        <p:blipFill>
          <a:blip r:embed="rId2"/>
          <a:stretch>
            <a:fillRect/>
          </a:stretch>
        </p:blipFill>
        <p:spPr>
          <a:xfrm>
            <a:off x="423583" y="700150"/>
            <a:ext cx="7998500" cy="3743200"/>
          </a:xfrm>
          <a:prstGeom prst="rect">
            <a:avLst/>
          </a:prstGeom>
        </p:spPr>
      </p:pic>
      <p:sp>
        <p:nvSpPr>
          <p:cNvPr id="6" name="Arrow: Right 5">
            <a:hlinkClick r:id="rId3" action="ppaction://hlinksldjump"/>
            <a:extLst>
              <a:ext uri="{FF2B5EF4-FFF2-40B4-BE49-F238E27FC236}">
                <a16:creationId xmlns:a16="http://schemas.microsoft.com/office/drawing/2014/main" id="{4B1BADD2-30B0-A4E8-2B73-E069C2D516C3}"/>
              </a:ext>
            </a:extLst>
          </p:cNvPr>
          <p:cNvSpPr/>
          <p:nvPr/>
        </p:nvSpPr>
        <p:spPr>
          <a:xfrm rot="16200000">
            <a:off x="8727141" y="1069041"/>
            <a:ext cx="268941" cy="28238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9290649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161B57-159C-FDE0-FB5E-6B84FED9155C}"/>
              </a:ext>
            </a:extLst>
          </p:cNvPr>
          <p:cNvSpPr>
            <a:spLocks noGrp="1"/>
          </p:cNvSpPr>
          <p:nvPr>
            <p:ph type="title"/>
          </p:nvPr>
        </p:nvSpPr>
        <p:spPr/>
        <p:txBody>
          <a:bodyPr/>
          <a:lstStyle/>
          <a:p>
            <a:r>
              <a:rPr lang="en-GB" dirty="0"/>
              <a:t>Appendix</a:t>
            </a:r>
            <a:endParaRPr lang="en-DE" dirty="0"/>
          </a:p>
        </p:txBody>
      </p:sp>
      <p:pic>
        <p:nvPicPr>
          <p:cNvPr id="5" name="Picture 4" descr="A screenshot of a computer&#10;&#10;Description automatically generated">
            <a:extLst>
              <a:ext uri="{FF2B5EF4-FFF2-40B4-BE49-F238E27FC236}">
                <a16:creationId xmlns:a16="http://schemas.microsoft.com/office/drawing/2014/main" id="{9CEABD40-376C-7639-3B87-6C8AB05DE474}"/>
              </a:ext>
            </a:extLst>
          </p:cNvPr>
          <p:cNvPicPr>
            <a:picLocks noChangeAspect="1"/>
          </p:cNvPicPr>
          <p:nvPr/>
        </p:nvPicPr>
        <p:blipFill>
          <a:blip r:embed="rId2"/>
          <a:stretch>
            <a:fillRect/>
          </a:stretch>
        </p:blipFill>
        <p:spPr>
          <a:xfrm>
            <a:off x="591671" y="754629"/>
            <a:ext cx="7765676" cy="3634241"/>
          </a:xfrm>
          <a:prstGeom prst="rect">
            <a:avLst/>
          </a:prstGeom>
        </p:spPr>
      </p:pic>
    </p:spTree>
    <p:extLst>
      <p:ext uri="{BB962C8B-B14F-4D97-AF65-F5344CB8AC3E}">
        <p14:creationId xmlns:p14="http://schemas.microsoft.com/office/powerpoint/2010/main" val="5089187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3B9FAE-EBDF-5EAC-095E-B0D067FDCD38}"/>
              </a:ext>
            </a:extLst>
          </p:cNvPr>
          <p:cNvSpPr>
            <a:spLocks noGrp="1"/>
          </p:cNvSpPr>
          <p:nvPr>
            <p:ph type="title"/>
          </p:nvPr>
        </p:nvSpPr>
        <p:spPr/>
        <p:txBody>
          <a:bodyPr/>
          <a:lstStyle/>
          <a:p>
            <a:r>
              <a:rPr lang="en-GB" dirty="0"/>
              <a:t>Appendix</a:t>
            </a:r>
            <a:endParaRPr lang="en-DE" dirty="0"/>
          </a:p>
        </p:txBody>
      </p:sp>
      <p:pic>
        <p:nvPicPr>
          <p:cNvPr id="5" name="Picture 4" descr="A screenshot of a computer&#10;&#10;Description automatically generated">
            <a:extLst>
              <a:ext uri="{FF2B5EF4-FFF2-40B4-BE49-F238E27FC236}">
                <a16:creationId xmlns:a16="http://schemas.microsoft.com/office/drawing/2014/main" id="{20989F43-C3DD-8837-61AB-7D419B5F5D93}"/>
              </a:ext>
            </a:extLst>
          </p:cNvPr>
          <p:cNvPicPr>
            <a:picLocks noChangeAspect="1"/>
          </p:cNvPicPr>
          <p:nvPr/>
        </p:nvPicPr>
        <p:blipFill>
          <a:blip r:embed="rId2"/>
          <a:stretch>
            <a:fillRect/>
          </a:stretch>
        </p:blipFill>
        <p:spPr>
          <a:xfrm>
            <a:off x="652182" y="753431"/>
            <a:ext cx="7402606" cy="3469618"/>
          </a:xfrm>
          <a:prstGeom prst="rect">
            <a:avLst/>
          </a:prstGeom>
        </p:spPr>
      </p:pic>
    </p:spTree>
    <p:extLst>
      <p:ext uri="{BB962C8B-B14F-4D97-AF65-F5344CB8AC3E}">
        <p14:creationId xmlns:p14="http://schemas.microsoft.com/office/powerpoint/2010/main" val="9441501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CBF5FE-46EA-D9FF-0748-4162AB342E9B}"/>
              </a:ext>
            </a:extLst>
          </p:cNvPr>
          <p:cNvSpPr>
            <a:spLocks noGrp="1"/>
          </p:cNvSpPr>
          <p:nvPr>
            <p:ph type="title"/>
          </p:nvPr>
        </p:nvSpPr>
        <p:spPr/>
        <p:txBody>
          <a:bodyPr/>
          <a:lstStyle/>
          <a:p>
            <a:r>
              <a:rPr lang="en-GB" dirty="0"/>
              <a:t>Appendix</a:t>
            </a:r>
            <a:endParaRPr lang="en-DE" dirty="0"/>
          </a:p>
        </p:txBody>
      </p:sp>
      <p:pic>
        <p:nvPicPr>
          <p:cNvPr id="5" name="Picture 4" descr="A screenshot of a computer&#10;&#10;Description automatically generated">
            <a:extLst>
              <a:ext uri="{FF2B5EF4-FFF2-40B4-BE49-F238E27FC236}">
                <a16:creationId xmlns:a16="http://schemas.microsoft.com/office/drawing/2014/main" id="{30E31C5A-A217-6E87-809B-F89F1F4C26E4}"/>
              </a:ext>
            </a:extLst>
          </p:cNvPr>
          <p:cNvPicPr>
            <a:picLocks noChangeAspect="1"/>
          </p:cNvPicPr>
          <p:nvPr/>
        </p:nvPicPr>
        <p:blipFill>
          <a:blip r:embed="rId2"/>
          <a:stretch>
            <a:fillRect/>
          </a:stretch>
        </p:blipFill>
        <p:spPr>
          <a:xfrm>
            <a:off x="463923" y="709398"/>
            <a:ext cx="7934711" cy="3724704"/>
          </a:xfrm>
          <a:prstGeom prst="rect">
            <a:avLst/>
          </a:prstGeom>
        </p:spPr>
      </p:pic>
    </p:spTree>
    <p:extLst>
      <p:ext uri="{BB962C8B-B14F-4D97-AF65-F5344CB8AC3E}">
        <p14:creationId xmlns:p14="http://schemas.microsoft.com/office/powerpoint/2010/main" val="8955248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252A7A-75E1-6974-C69C-8CC43C2512E5}"/>
              </a:ext>
            </a:extLst>
          </p:cNvPr>
          <p:cNvSpPr>
            <a:spLocks noGrp="1"/>
          </p:cNvSpPr>
          <p:nvPr>
            <p:ph idx="1"/>
          </p:nvPr>
        </p:nvSpPr>
        <p:spPr>
          <a:xfrm>
            <a:off x="708026" y="993228"/>
            <a:ext cx="7727950" cy="3000548"/>
          </a:xfrm>
        </p:spPr>
        <p:txBody>
          <a:bodyPr/>
          <a:lstStyle/>
          <a:p>
            <a:r>
              <a:rPr lang="en-GB" dirty="0"/>
              <a:t>Building model is an important component in MPC development.</a:t>
            </a:r>
          </a:p>
          <a:p>
            <a:r>
              <a:rPr lang="en-GB" dirty="0"/>
              <a:t>Model based on the work of </a:t>
            </a:r>
            <a:r>
              <a:rPr lang="en-GB" dirty="0" err="1"/>
              <a:t>Rastegarpour</a:t>
            </a:r>
            <a:r>
              <a:rPr lang="en-GB" dirty="0"/>
              <a:t> and </a:t>
            </a:r>
            <a:r>
              <a:rPr lang="en-GB" dirty="0" err="1"/>
              <a:t>Ferrarini</a:t>
            </a:r>
            <a:r>
              <a:rPr lang="en-GB" dirty="0"/>
              <a:t>, 2021.</a:t>
            </a:r>
          </a:p>
          <a:p>
            <a:r>
              <a:rPr lang="en-GB" dirty="0"/>
              <a:t>Building’s dynamic model derived from energy balance equation, considering wall, zone, floor and pipeline components.</a:t>
            </a:r>
          </a:p>
          <a:p>
            <a:r>
              <a:rPr lang="en-GB" dirty="0"/>
              <a:t>These 4 components serve as states dynamic of the system, with the zone as key objective, which is the room temperature.</a:t>
            </a:r>
          </a:p>
        </p:txBody>
      </p:sp>
      <p:sp>
        <p:nvSpPr>
          <p:cNvPr id="3" name="Title 2">
            <a:extLst>
              <a:ext uri="{FF2B5EF4-FFF2-40B4-BE49-F238E27FC236}">
                <a16:creationId xmlns:a16="http://schemas.microsoft.com/office/drawing/2014/main" id="{2F280922-B2A8-BE17-981E-4746E850DB65}"/>
              </a:ext>
            </a:extLst>
          </p:cNvPr>
          <p:cNvSpPr>
            <a:spLocks noGrp="1"/>
          </p:cNvSpPr>
          <p:nvPr>
            <p:ph type="title"/>
          </p:nvPr>
        </p:nvSpPr>
        <p:spPr/>
        <p:txBody>
          <a:bodyPr/>
          <a:lstStyle/>
          <a:p>
            <a:r>
              <a:rPr lang="en-GB" dirty="0"/>
              <a:t>Building’s Model</a:t>
            </a:r>
            <a:endParaRPr lang="en-DE" dirty="0"/>
          </a:p>
        </p:txBody>
      </p:sp>
      <p:pic>
        <p:nvPicPr>
          <p:cNvPr id="9" name="Picture 8" descr="A picture containing building, outdoor, sky, architecture&#10;&#10;Description automatically generated">
            <a:extLst>
              <a:ext uri="{FF2B5EF4-FFF2-40B4-BE49-F238E27FC236}">
                <a16:creationId xmlns:a16="http://schemas.microsoft.com/office/drawing/2014/main" id="{D9DACB0E-924F-C9B1-6BC1-038E7B671AA0}"/>
              </a:ext>
            </a:extLst>
          </p:cNvPr>
          <p:cNvPicPr>
            <a:picLocks noChangeAspect="1"/>
          </p:cNvPicPr>
          <p:nvPr/>
        </p:nvPicPr>
        <p:blipFill>
          <a:blip r:embed="rId2"/>
          <a:stretch>
            <a:fillRect/>
          </a:stretch>
        </p:blipFill>
        <p:spPr>
          <a:xfrm>
            <a:off x="5997576" y="2898962"/>
            <a:ext cx="2438400" cy="1524000"/>
          </a:xfrm>
          <a:prstGeom prst="rect">
            <a:avLst/>
          </a:prstGeom>
        </p:spPr>
      </p:pic>
      <p:sp>
        <p:nvSpPr>
          <p:cNvPr id="10" name="TextBox 9">
            <a:extLst>
              <a:ext uri="{FF2B5EF4-FFF2-40B4-BE49-F238E27FC236}">
                <a16:creationId xmlns:a16="http://schemas.microsoft.com/office/drawing/2014/main" id="{4C02EF09-0FC5-3A08-038A-78235D5D5A1B}"/>
              </a:ext>
            </a:extLst>
          </p:cNvPr>
          <p:cNvSpPr txBox="1"/>
          <p:nvPr/>
        </p:nvSpPr>
        <p:spPr>
          <a:xfrm>
            <a:off x="6470418" y="4436409"/>
            <a:ext cx="1492716" cy="261610"/>
          </a:xfrm>
          <a:prstGeom prst="rect">
            <a:avLst/>
          </a:prstGeom>
          <a:noFill/>
        </p:spPr>
        <p:txBody>
          <a:bodyPr wrap="none" rtlCol="0">
            <a:spAutoFit/>
          </a:bodyPr>
          <a:lstStyle/>
          <a:p>
            <a:r>
              <a:rPr lang="en-GB" sz="1100" dirty="0">
                <a:solidFill>
                  <a:schemeClr val="bg2">
                    <a:lumMod val="75000"/>
                  </a:schemeClr>
                </a:solidFill>
              </a:rPr>
              <a:t>www.dreamstime.com</a:t>
            </a:r>
            <a:endParaRPr lang="en-DE" sz="1100" dirty="0">
              <a:solidFill>
                <a:schemeClr val="bg2">
                  <a:lumMod val="75000"/>
                </a:schemeClr>
              </a:solidFill>
            </a:endParaRPr>
          </a:p>
        </p:txBody>
      </p:sp>
    </p:spTree>
    <p:extLst>
      <p:ext uri="{BB962C8B-B14F-4D97-AF65-F5344CB8AC3E}">
        <p14:creationId xmlns:p14="http://schemas.microsoft.com/office/powerpoint/2010/main" val="5019003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74D41C82-BE16-0CC1-230A-FB81365FE71D}"/>
              </a:ext>
            </a:extLst>
          </p:cNvPr>
          <p:cNvSpPr/>
          <p:nvPr/>
        </p:nvSpPr>
        <p:spPr>
          <a:xfrm>
            <a:off x="4000500" y="3476065"/>
            <a:ext cx="1916206" cy="90095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p:sp>
        <p:nvSpPr>
          <p:cNvPr id="45" name="Rectangle 44">
            <a:extLst>
              <a:ext uri="{FF2B5EF4-FFF2-40B4-BE49-F238E27FC236}">
                <a16:creationId xmlns:a16="http://schemas.microsoft.com/office/drawing/2014/main" id="{9029C75A-F415-5ACB-FBD9-BFE927AA3DF6}"/>
              </a:ext>
            </a:extLst>
          </p:cNvPr>
          <p:cNvSpPr/>
          <p:nvPr/>
        </p:nvSpPr>
        <p:spPr>
          <a:xfrm>
            <a:off x="4000500" y="867335"/>
            <a:ext cx="3711388" cy="2347221"/>
          </a:xfrm>
          <a:prstGeom prst="rect">
            <a:avLst/>
          </a:prstGeom>
          <a:solidFill>
            <a:srgbClr val="FFFF00"/>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DE"/>
          </a:p>
        </p:txBody>
      </p:sp>
      <p:sp>
        <p:nvSpPr>
          <p:cNvPr id="3" name="Title 2">
            <a:extLst>
              <a:ext uri="{FF2B5EF4-FFF2-40B4-BE49-F238E27FC236}">
                <a16:creationId xmlns:a16="http://schemas.microsoft.com/office/drawing/2014/main" id="{D4449220-E161-0590-3B55-984743046721}"/>
              </a:ext>
            </a:extLst>
          </p:cNvPr>
          <p:cNvSpPr>
            <a:spLocks noGrp="1"/>
          </p:cNvSpPr>
          <p:nvPr>
            <p:ph type="title"/>
          </p:nvPr>
        </p:nvSpPr>
        <p:spPr/>
        <p:txBody>
          <a:bodyPr/>
          <a:lstStyle/>
          <a:p>
            <a:r>
              <a:rPr lang="en-GB" dirty="0"/>
              <a:t>Building’s Model</a:t>
            </a:r>
            <a:endParaRPr lang="en-DE"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7D99490-0729-23E2-E021-688DD8431400}"/>
                  </a:ext>
                </a:extLst>
              </p:cNvPr>
              <p:cNvSpPr txBox="1"/>
              <p:nvPr/>
            </p:nvSpPr>
            <p:spPr>
              <a:xfrm>
                <a:off x="4225699" y="1033715"/>
                <a:ext cx="2830583" cy="350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𝑤</m:t>
                          </m:r>
                        </m:sub>
                      </m:sSub>
                      <m:f>
                        <m:fPr>
                          <m:ctrlPr>
                            <a:rPr lang="en-DE" sz="1200" i="1" smtClean="0">
                              <a:latin typeface="Cambria Math" panose="02040503050406030204" pitchFamily="18" charset="0"/>
                            </a:rPr>
                          </m:ctrlPr>
                        </m:fPr>
                        <m:num>
                          <m:r>
                            <a:rPr lang="en-GB" sz="1200" b="0" i="1" smtClean="0">
                              <a:latin typeface="Cambria Math" panose="02040503050406030204" pitchFamily="18" charset="0"/>
                            </a:rPr>
                            <m:t>𝑑</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𝑤</m:t>
                              </m:r>
                            </m:sub>
                          </m:sSub>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𝑤</m:t>
                          </m:r>
                          <m:r>
                            <a:rPr lang="en-GB" sz="1200" b="0" i="1" smtClean="0">
                              <a:latin typeface="Cambria Math" panose="02040503050406030204" pitchFamily="18" charset="0"/>
                            </a:rPr>
                            <m:t>,</m:t>
                          </m:r>
                          <m:r>
                            <a:rPr lang="en-GB" sz="1200" b="0" i="1" smtClean="0">
                              <a:latin typeface="Cambria Math" panose="02040503050406030204" pitchFamily="18" charset="0"/>
                            </a:rPr>
                            <m:t>𝑜𝑎</m:t>
                          </m:r>
                        </m:sub>
                      </m:sSub>
                      <m:d>
                        <m:dPr>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𝑜𝑎</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𝑤</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𝑤</m:t>
                          </m:r>
                          <m:r>
                            <a:rPr lang="en-GB" sz="1200" b="0" i="1" smtClean="0">
                              <a:latin typeface="Cambria Math" panose="02040503050406030204" pitchFamily="18" charset="0"/>
                            </a:rPr>
                            <m:t>,</m:t>
                          </m:r>
                          <m:r>
                            <a:rPr lang="en-GB" sz="1200" b="0" i="1" smtClean="0">
                              <a:latin typeface="Cambria Math" panose="02040503050406030204" pitchFamily="18" charset="0"/>
                            </a:rPr>
                            <m:t>𝑧</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𝑧</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𝑤</m:t>
                          </m:r>
                        </m:sub>
                      </m:sSub>
                      <m:r>
                        <a:rPr lang="en-GB" sz="1200" b="0" i="1" smtClean="0">
                          <a:latin typeface="Cambria Math" panose="02040503050406030204" pitchFamily="18" charset="0"/>
                        </a:rPr>
                        <m:t>)</m:t>
                      </m:r>
                    </m:oMath>
                  </m:oMathPara>
                </a14:m>
                <a:endParaRPr lang="en-DE" sz="1200" dirty="0"/>
              </a:p>
            </p:txBody>
          </p:sp>
        </mc:Choice>
        <mc:Fallback xmlns="">
          <p:sp>
            <p:nvSpPr>
              <p:cNvPr id="4" name="TextBox 3">
                <a:extLst>
                  <a:ext uri="{FF2B5EF4-FFF2-40B4-BE49-F238E27FC236}">
                    <a16:creationId xmlns:a16="http://schemas.microsoft.com/office/drawing/2014/main" id="{C7D99490-0729-23E2-E021-688DD8431400}"/>
                  </a:ext>
                </a:extLst>
              </p:cNvPr>
              <p:cNvSpPr txBox="1">
                <a:spLocks noRot="1" noChangeAspect="1" noMove="1" noResize="1" noEditPoints="1" noAdjustHandles="1" noChangeArrowheads="1" noChangeShapeType="1" noTextEdit="1"/>
              </p:cNvSpPr>
              <p:nvPr/>
            </p:nvSpPr>
            <p:spPr>
              <a:xfrm>
                <a:off x="4225699" y="1033715"/>
                <a:ext cx="2830583" cy="350609"/>
              </a:xfrm>
              <a:prstGeom prst="rect">
                <a:avLst/>
              </a:prstGeom>
              <a:blipFill>
                <a:blip r:embed="rId2"/>
                <a:stretch>
                  <a:fillRect l="-860" t="-3509" r="-1505" b="-15789"/>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81E352B-48AC-7308-8375-1ED5980F2AA8}"/>
                  </a:ext>
                </a:extLst>
              </p:cNvPr>
              <p:cNvSpPr txBox="1"/>
              <p:nvPr/>
            </p:nvSpPr>
            <p:spPr>
              <a:xfrm>
                <a:off x="4225699" y="1570348"/>
                <a:ext cx="2549351" cy="350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𝑧</m:t>
                          </m:r>
                        </m:sub>
                      </m:sSub>
                      <m:f>
                        <m:fPr>
                          <m:ctrlPr>
                            <a:rPr lang="en-DE" sz="1200" i="1" smtClean="0">
                              <a:latin typeface="Cambria Math" panose="02040503050406030204" pitchFamily="18" charset="0"/>
                            </a:rPr>
                          </m:ctrlPr>
                        </m:fPr>
                        <m:num>
                          <m:r>
                            <a:rPr lang="en-GB" sz="1200" b="0" i="1" smtClean="0">
                              <a:latin typeface="Cambria Math" panose="02040503050406030204" pitchFamily="18" charset="0"/>
                            </a:rPr>
                            <m:t>𝑑</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𝑧</m:t>
                              </m:r>
                            </m:sub>
                          </m:sSub>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𝑤</m:t>
                          </m:r>
                          <m:r>
                            <a:rPr lang="en-GB" sz="1200" b="0" i="1" smtClean="0">
                              <a:latin typeface="Cambria Math" panose="02040503050406030204" pitchFamily="18" charset="0"/>
                            </a:rPr>
                            <m:t>,</m:t>
                          </m:r>
                          <m:r>
                            <a:rPr lang="en-GB" sz="1200" b="0" i="1" smtClean="0">
                              <a:latin typeface="Cambria Math" panose="02040503050406030204" pitchFamily="18" charset="0"/>
                            </a:rPr>
                            <m:t>𝑧</m:t>
                          </m:r>
                        </m:sub>
                      </m:sSub>
                      <m:d>
                        <m:dPr>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𝑤</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𝑧</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𝑓</m:t>
                          </m:r>
                          <m:r>
                            <a:rPr lang="en-GB" sz="1200" b="0" i="1" smtClean="0">
                              <a:latin typeface="Cambria Math" panose="02040503050406030204" pitchFamily="18" charset="0"/>
                            </a:rPr>
                            <m:t>,</m:t>
                          </m:r>
                          <m:r>
                            <a:rPr lang="en-GB" sz="1200" b="0" i="1" smtClean="0">
                              <a:latin typeface="Cambria Math" panose="02040503050406030204" pitchFamily="18" charset="0"/>
                            </a:rPr>
                            <m:t>𝑧</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𝑓</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𝑧</m:t>
                          </m:r>
                        </m:sub>
                      </m:sSub>
                      <m:r>
                        <a:rPr lang="en-GB" sz="1200" b="0" i="1" smtClean="0">
                          <a:latin typeface="Cambria Math" panose="02040503050406030204" pitchFamily="18" charset="0"/>
                        </a:rPr>
                        <m:t>)</m:t>
                      </m:r>
                    </m:oMath>
                  </m:oMathPara>
                </a14:m>
                <a:endParaRPr lang="en-DE" sz="1200" dirty="0"/>
              </a:p>
            </p:txBody>
          </p:sp>
        </mc:Choice>
        <mc:Fallback xmlns="">
          <p:sp>
            <p:nvSpPr>
              <p:cNvPr id="5" name="TextBox 4">
                <a:extLst>
                  <a:ext uri="{FF2B5EF4-FFF2-40B4-BE49-F238E27FC236}">
                    <a16:creationId xmlns:a16="http://schemas.microsoft.com/office/drawing/2014/main" id="{A81E352B-48AC-7308-8375-1ED5980F2AA8}"/>
                  </a:ext>
                </a:extLst>
              </p:cNvPr>
              <p:cNvSpPr txBox="1">
                <a:spLocks noRot="1" noChangeAspect="1" noMove="1" noResize="1" noEditPoints="1" noAdjustHandles="1" noChangeArrowheads="1" noChangeShapeType="1" noTextEdit="1"/>
              </p:cNvSpPr>
              <p:nvPr/>
            </p:nvSpPr>
            <p:spPr>
              <a:xfrm>
                <a:off x="4225699" y="1570348"/>
                <a:ext cx="2549351" cy="350609"/>
              </a:xfrm>
              <a:prstGeom prst="rect">
                <a:avLst/>
              </a:prstGeom>
              <a:blipFill>
                <a:blip r:embed="rId3"/>
                <a:stretch>
                  <a:fillRect l="-957" t="-3509" r="-1914" b="-15789"/>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907A4D5-9B67-FD6D-0F2D-E092AF37CD3B}"/>
                  </a:ext>
                </a:extLst>
              </p:cNvPr>
              <p:cNvSpPr txBox="1"/>
              <p:nvPr/>
            </p:nvSpPr>
            <p:spPr>
              <a:xfrm>
                <a:off x="4225699" y="2106981"/>
                <a:ext cx="2747099" cy="355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𝑓</m:t>
                          </m:r>
                        </m:sub>
                      </m:sSub>
                      <m:f>
                        <m:fPr>
                          <m:ctrlPr>
                            <a:rPr lang="en-DE" sz="1200" i="1" smtClean="0">
                              <a:latin typeface="Cambria Math" panose="02040503050406030204" pitchFamily="18" charset="0"/>
                            </a:rPr>
                          </m:ctrlPr>
                        </m:fPr>
                        <m:num>
                          <m:r>
                            <a:rPr lang="en-GB" sz="1200" b="0" i="1" smtClean="0">
                              <a:latin typeface="Cambria Math" panose="02040503050406030204" pitchFamily="18" charset="0"/>
                            </a:rPr>
                            <m:t>𝑑</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𝑓</m:t>
                              </m:r>
                            </m:sub>
                          </m:sSub>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𝑓</m:t>
                          </m:r>
                          <m:r>
                            <a:rPr lang="en-GB" sz="1200" b="0" i="1" smtClean="0">
                              <a:latin typeface="Cambria Math" panose="02040503050406030204" pitchFamily="18" charset="0"/>
                            </a:rPr>
                            <m:t>,</m:t>
                          </m:r>
                          <m:r>
                            <a:rPr lang="en-GB" sz="1200" b="0" i="1" smtClean="0">
                              <a:latin typeface="Cambria Math" panose="02040503050406030204" pitchFamily="18" charset="0"/>
                            </a:rPr>
                            <m:t>𝑧</m:t>
                          </m:r>
                        </m:sub>
                      </m:sSub>
                      <m:d>
                        <m:dPr>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𝑧</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𝑓</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𝑓</m:t>
                          </m:r>
                          <m:r>
                            <a:rPr lang="en-GB" sz="1200" b="0" i="1" smtClean="0">
                              <a:latin typeface="Cambria Math" panose="02040503050406030204" pitchFamily="18" charset="0"/>
                            </a:rPr>
                            <m:t>,</m:t>
                          </m:r>
                          <m:r>
                            <a:rPr lang="en-GB" sz="1200" b="0" i="1" smtClean="0">
                              <a:latin typeface="Cambria Math" panose="02040503050406030204" pitchFamily="18" charset="0"/>
                            </a:rPr>
                            <m:t>𝑝𝑖𝑝</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𝑝𝑖𝑝</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𝑓</m:t>
                          </m:r>
                        </m:sub>
                      </m:sSub>
                      <m:r>
                        <a:rPr lang="en-GB" sz="1200" b="0" i="1" smtClean="0">
                          <a:latin typeface="Cambria Math" panose="02040503050406030204" pitchFamily="18" charset="0"/>
                        </a:rPr>
                        <m:t>)</m:t>
                      </m:r>
                    </m:oMath>
                  </m:oMathPara>
                </a14:m>
                <a:endParaRPr lang="en-DE" sz="1200" dirty="0"/>
              </a:p>
            </p:txBody>
          </p:sp>
        </mc:Choice>
        <mc:Fallback xmlns="">
          <p:sp>
            <p:nvSpPr>
              <p:cNvPr id="6" name="TextBox 5">
                <a:extLst>
                  <a:ext uri="{FF2B5EF4-FFF2-40B4-BE49-F238E27FC236}">
                    <a16:creationId xmlns:a16="http://schemas.microsoft.com/office/drawing/2014/main" id="{3907A4D5-9B67-FD6D-0F2D-E092AF37CD3B}"/>
                  </a:ext>
                </a:extLst>
              </p:cNvPr>
              <p:cNvSpPr txBox="1">
                <a:spLocks noRot="1" noChangeAspect="1" noMove="1" noResize="1" noEditPoints="1" noAdjustHandles="1" noChangeArrowheads="1" noChangeShapeType="1" noTextEdit="1"/>
              </p:cNvSpPr>
              <p:nvPr/>
            </p:nvSpPr>
            <p:spPr>
              <a:xfrm>
                <a:off x="4225699" y="2106981"/>
                <a:ext cx="2747099" cy="355931"/>
              </a:xfrm>
              <a:prstGeom prst="rect">
                <a:avLst/>
              </a:prstGeom>
              <a:blipFill>
                <a:blip r:embed="rId4"/>
                <a:stretch>
                  <a:fillRect l="-887" t="-3448" r="-1552" b="-15517"/>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3ACE6E0-3390-8FEB-3848-BC99C3B19B1C}"/>
                  </a:ext>
                </a:extLst>
              </p:cNvPr>
              <p:cNvSpPr txBox="1"/>
              <p:nvPr/>
            </p:nvSpPr>
            <p:spPr>
              <a:xfrm>
                <a:off x="4225699" y="2643614"/>
                <a:ext cx="3299044" cy="3554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𝑝𝑖𝑝</m:t>
                          </m:r>
                        </m:sub>
                      </m:sSub>
                      <m:f>
                        <m:fPr>
                          <m:ctrlPr>
                            <a:rPr lang="en-DE" sz="1200" i="1" smtClean="0">
                              <a:latin typeface="Cambria Math" panose="02040503050406030204" pitchFamily="18" charset="0"/>
                            </a:rPr>
                          </m:ctrlPr>
                        </m:fPr>
                        <m:num>
                          <m:r>
                            <a:rPr lang="en-GB" sz="1200" b="0" i="1" smtClean="0">
                              <a:latin typeface="Cambria Math" panose="02040503050406030204" pitchFamily="18" charset="0"/>
                            </a:rPr>
                            <m:t>𝑑</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𝑝𝑖𝑝</m:t>
                              </m:r>
                            </m:sub>
                          </m:sSub>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𝑓</m:t>
                          </m:r>
                          <m:r>
                            <a:rPr lang="en-GB" sz="1200" b="0" i="1" smtClean="0">
                              <a:latin typeface="Cambria Math" panose="02040503050406030204" pitchFamily="18" charset="0"/>
                            </a:rPr>
                            <m:t>,</m:t>
                          </m:r>
                          <m:r>
                            <a:rPr lang="en-GB" sz="1200" b="0" i="1" smtClean="0">
                              <a:latin typeface="Cambria Math" panose="02040503050406030204" pitchFamily="18" charset="0"/>
                            </a:rPr>
                            <m:t>𝑝𝑖𝑝</m:t>
                          </m:r>
                        </m:sub>
                      </m:sSub>
                      <m:d>
                        <m:dPr>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𝑓</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𝑝𝑖𝑝</m:t>
                              </m:r>
                            </m:sub>
                          </m:sSub>
                        </m:e>
                      </m:d>
                      <m:r>
                        <a:rPr lang="en-GB" sz="1200" b="0" i="1" smtClean="0">
                          <a:latin typeface="Cambria Math" panose="02040503050406030204" pitchFamily="18" charset="0"/>
                        </a:rPr>
                        <m:t>+</m:t>
                      </m:r>
                      <m:r>
                        <a:rPr lang="en-GB" sz="1200" b="0" i="1" smtClean="0">
                          <a:latin typeface="Cambria Math" panose="02040503050406030204" pitchFamily="18" charset="0"/>
                        </a:rPr>
                        <m:t>𝑤</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𝑤𝑎𝑡</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𝑒</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𝑝𝑖𝑝</m:t>
                          </m:r>
                        </m:sub>
                      </m:sSub>
                      <m:r>
                        <a:rPr lang="en-GB" sz="1200" b="0" i="1" smtClean="0">
                          <a:latin typeface="Cambria Math" panose="02040503050406030204" pitchFamily="18" charset="0"/>
                        </a:rPr>
                        <m:t>)</m:t>
                      </m:r>
                    </m:oMath>
                  </m:oMathPara>
                </a14:m>
                <a:endParaRPr lang="en-DE" sz="1200" dirty="0"/>
              </a:p>
            </p:txBody>
          </p:sp>
        </mc:Choice>
        <mc:Fallback xmlns="">
          <p:sp>
            <p:nvSpPr>
              <p:cNvPr id="7" name="TextBox 6">
                <a:extLst>
                  <a:ext uri="{FF2B5EF4-FFF2-40B4-BE49-F238E27FC236}">
                    <a16:creationId xmlns:a16="http://schemas.microsoft.com/office/drawing/2014/main" id="{D3ACE6E0-3390-8FEB-3848-BC99C3B19B1C}"/>
                  </a:ext>
                </a:extLst>
              </p:cNvPr>
              <p:cNvSpPr txBox="1">
                <a:spLocks noRot="1" noChangeAspect="1" noMove="1" noResize="1" noEditPoints="1" noAdjustHandles="1" noChangeArrowheads="1" noChangeShapeType="1" noTextEdit="1"/>
              </p:cNvSpPr>
              <p:nvPr/>
            </p:nvSpPr>
            <p:spPr>
              <a:xfrm>
                <a:off x="4225699" y="2643614"/>
                <a:ext cx="3299044" cy="355418"/>
              </a:xfrm>
              <a:prstGeom prst="rect">
                <a:avLst/>
              </a:prstGeom>
              <a:blipFill>
                <a:blip r:embed="rId5"/>
                <a:stretch>
                  <a:fillRect l="-739" t="-3448" r="-1294" b="-15517"/>
                </a:stretch>
              </a:blipFill>
            </p:spPr>
            <p:txBody>
              <a:bodyPr/>
              <a:lstStyle/>
              <a:p>
                <a:r>
                  <a:rPr lang="en-DE">
                    <a:noFill/>
                  </a:rPr>
                  <a:t> </a:t>
                </a:r>
              </a:p>
            </p:txBody>
          </p:sp>
        </mc:Fallback>
      </mc:AlternateContent>
      <p:pic>
        <p:nvPicPr>
          <p:cNvPr id="42" name="Picture 41" descr="A picture containing text, screenshot, diagram, font&#10;&#10;Description automatically generated">
            <a:extLst>
              <a:ext uri="{FF2B5EF4-FFF2-40B4-BE49-F238E27FC236}">
                <a16:creationId xmlns:a16="http://schemas.microsoft.com/office/drawing/2014/main" id="{333A9E07-F338-0AE4-7A74-E331E54EC696}"/>
              </a:ext>
            </a:extLst>
          </p:cNvPr>
          <p:cNvPicPr>
            <a:picLocks noChangeAspect="1"/>
          </p:cNvPicPr>
          <p:nvPr/>
        </p:nvPicPr>
        <p:blipFill>
          <a:blip r:embed="rId6"/>
          <a:stretch>
            <a:fillRect/>
          </a:stretch>
        </p:blipFill>
        <p:spPr>
          <a:xfrm>
            <a:off x="382440" y="939248"/>
            <a:ext cx="2730554" cy="2347221"/>
          </a:xfrm>
          <a:prstGeom prst="rect">
            <a:avLst/>
          </a:prstGeom>
        </p:spPr>
      </p:pic>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3268447-4185-F6D8-3100-8C0825BC6A2D}"/>
                  </a:ext>
                </a:extLst>
              </p:cNvPr>
              <p:cNvSpPr txBox="1"/>
              <p:nvPr/>
            </p:nvSpPr>
            <p:spPr>
              <a:xfrm>
                <a:off x="4272764" y="3648916"/>
                <a:ext cx="1347292"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𝑤</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𝑒</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𝑡</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1</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𝑟</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𝑟</m:t>
                          </m:r>
                        </m:sub>
                      </m:sSub>
                    </m:oMath>
                  </m:oMathPara>
                </a14:m>
                <a:endParaRPr lang="en-DE" sz="1200" dirty="0"/>
              </a:p>
            </p:txBody>
          </p:sp>
        </mc:Choice>
        <mc:Fallback xmlns="">
          <p:sp>
            <p:nvSpPr>
              <p:cNvPr id="43" name="TextBox 42">
                <a:extLst>
                  <a:ext uri="{FF2B5EF4-FFF2-40B4-BE49-F238E27FC236}">
                    <a16:creationId xmlns:a16="http://schemas.microsoft.com/office/drawing/2014/main" id="{F3268447-4185-F6D8-3100-8C0825BC6A2D}"/>
                  </a:ext>
                </a:extLst>
              </p:cNvPr>
              <p:cNvSpPr txBox="1">
                <a:spLocks noRot="1" noChangeAspect="1" noMove="1" noResize="1" noEditPoints="1" noAdjustHandles="1" noChangeArrowheads="1" noChangeShapeType="1" noTextEdit="1"/>
              </p:cNvSpPr>
              <p:nvPr/>
            </p:nvSpPr>
            <p:spPr>
              <a:xfrm>
                <a:off x="4272764" y="3648916"/>
                <a:ext cx="1347292" cy="184666"/>
              </a:xfrm>
              <a:prstGeom prst="rect">
                <a:avLst/>
              </a:prstGeom>
              <a:blipFill>
                <a:blip r:embed="rId7"/>
                <a:stretch>
                  <a:fillRect l="-1357" t="-6667" b="-1333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07A989C-2DB3-E395-E3B5-DF0B4C497534}"/>
                  </a:ext>
                </a:extLst>
              </p:cNvPr>
              <p:cNvSpPr txBox="1"/>
              <p:nvPr/>
            </p:nvSpPr>
            <p:spPr>
              <a:xfrm>
                <a:off x="4272764" y="4045159"/>
                <a:ext cx="923201"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𝑤</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𝑡</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𝑟</m:t>
                          </m:r>
                        </m:sub>
                      </m:sSub>
                    </m:oMath>
                  </m:oMathPara>
                </a14:m>
                <a:endParaRPr lang="en-DE" sz="1200" dirty="0"/>
              </a:p>
            </p:txBody>
          </p:sp>
        </mc:Choice>
        <mc:Fallback xmlns="">
          <p:sp>
            <p:nvSpPr>
              <p:cNvPr id="44" name="TextBox 43">
                <a:extLst>
                  <a:ext uri="{FF2B5EF4-FFF2-40B4-BE49-F238E27FC236}">
                    <a16:creationId xmlns:a16="http://schemas.microsoft.com/office/drawing/2014/main" id="{807A989C-2DB3-E395-E3B5-DF0B4C497534}"/>
                  </a:ext>
                </a:extLst>
              </p:cNvPr>
              <p:cNvSpPr txBox="1">
                <a:spLocks noRot="1" noChangeAspect="1" noMove="1" noResize="1" noEditPoints="1" noAdjustHandles="1" noChangeArrowheads="1" noChangeShapeType="1" noTextEdit="1"/>
              </p:cNvSpPr>
              <p:nvPr/>
            </p:nvSpPr>
            <p:spPr>
              <a:xfrm>
                <a:off x="4272764" y="4045159"/>
                <a:ext cx="923201" cy="184666"/>
              </a:xfrm>
              <a:prstGeom prst="rect">
                <a:avLst/>
              </a:prstGeom>
              <a:blipFill>
                <a:blip r:embed="rId8"/>
                <a:stretch>
                  <a:fillRect l="-1987" t="-6667" r="-662" b="-13333"/>
                </a:stretch>
              </a:blipFill>
            </p:spPr>
            <p:txBody>
              <a:bodyPr/>
              <a:lstStyle/>
              <a:p>
                <a:r>
                  <a:rPr lang="en-DE">
                    <a:noFill/>
                  </a:rPr>
                  <a:t> </a:t>
                </a:r>
              </a:p>
            </p:txBody>
          </p:sp>
        </mc:Fallback>
      </mc:AlternateContent>
    </p:spTree>
    <p:extLst>
      <p:ext uri="{BB962C8B-B14F-4D97-AF65-F5344CB8AC3E}">
        <p14:creationId xmlns:p14="http://schemas.microsoft.com/office/powerpoint/2010/main" val="20844612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0114AB-A1DC-19E5-A2ED-15CBEAD79A38}"/>
              </a:ext>
            </a:extLst>
          </p:cNvPr>
          <p:cNvSpPr>
            <a:spLocks noGrp="1"/>
          </p:cNvSpPr>
          <p:nvPr>
            <p:ph idx="1"/>
          </p:nvPr>
        </p:nvSpPr>
        <p:spPr>
          <a:xfrm>
            <a:off x="613897" y="1322681"/>
            <a:ext cx="7727950" cy="2926590"/>
          </a:xfrm>
        </p:spPr>
        <p:txBody>
          <a:bodyPr/>
          <a:lstStyle/>
          <a:p>
            <a:r>
              <a:rPr lang="en-GB" dirty="0"/>
              <a:t>Heat demand profile approach: Does not require a building model, making it suitable for situation with changing building characteristic (e.g. renovation, occupancy pattern).</a:t>
            </a:r>
          </a:p>
          <a:p>
            <a:r>
              <a:rPr lang="en-GB" dirty="0"/>
              <a:t>Practical advantage: Avoids the complexity of building model identification.</a:t>
            </a:r>
          </a:p>
          <a:p>
            <a:r>
              <a:rPr lang="en-GB" dirty="0"/>
              <a:t>Data availability: Utilizes readily available data from energy monitoring system or smart meters.</a:t>
            </a:r>
          </a:p>
          <a:p>
            <a:r>
              <a:rPr lang="en-GB" dirty="0"/>
              <a:t>Limitation: Data is limited to past occasions and does not provide accurate information for current or future time periods.</a:t>
            </a:r>
            <a:endParaRPr lang="en-DE" dirty="0"/>
          </a:p>
        </p:txBody>
      </p:sp>
      <p:sp>
        <p:nvSpPr>
          <p:cNvPr id="3" name="Title 2">
            <a:extLst>
              <a:ext uri="{FF2B5EF4-FFF2-40B4-BE49-F238E27FC236}">
                <a16:creationId xmlns:a16="http://schemas.microsoft.com/office/drawing/2014/main" id="{A7E1348F-5B7E-2080-28CB-3FC9C6605385}"/>
              </a:ext>
            </a:extLst>
          </p:cNvPr>
          <p:cNvSpPr>
            <a:spLocks noGrp="1"/>
          </p:cNvSpPr>
          <p:nvPr>
            <p:ph type="title"/>
          </p:nvPr>
        </p:nvSpPr>
        <p:spPr/>
        <p:txBody>
          <a:bodyPr/>
          <a:lstStyle/>
          <a:p>
            <a:r>
              <a:rPr lang="en-GB" dirty="0"/>
              <a:t>Building’s Model</a:t>
            </a:r>
            <a:endParaRPr lang="en-DE" dirty="0"/>
          </a:p>
        </p:txBody>
      </p:sp>
      <p:sp>
        <p:nvSpPr>
          <p:cNvPr id="5" name="TextBox 4">
            <a:extLst>
              <a:ext uri="{FF2B5EF4-FFF2-40B4-BE49-F238E27FC236}">
                <a16:creationId xmlns:a16="http://schemas.microsoft.com/office/drawing/2014/main" id="{8ABD83E9-12C2-E36F-C1AE-128A0011ACAD}"/>
              </a:ext>
            </a:extLst>
          </p:cNvPr>
          <p:cNvSpPr txBox="1"/>
          <p:nvPr/>
        </p:nvSpPr>
        <p:spPr>
          <a:xfrm>
            <a:off x="463923" y="834180"/>
            <a:ext cx="1458541" cy="369332"/>
          </a:xfrm>
          <a:prstGeom prst="rect">
            <a:avLst/>
          </a:prstGeom>
          <a:noFill/>
        </p:spPr>
        <p:txBody>
          <a:bodyPr wrap="none" rtlCol="0">
            <a:spAutoFit/>
          </a:bodyPr>
          <a:lstStyle/>
          <a:p>
            <a:r>
              <a:rPr lang="en-GB" dirty="0">
                <a:effectLst>
                  <a:outerShdw blurRad="38100" dist="38100" dir="2700000" algn="tl">
                    <a:srgbClr val="000000">
                      <a:alpha val="43137"/>
                    </a:srgbClr>
                  </a:outerShdw>
                </a:effectLst>
              </a:rPr>
              <a:t>Heat demand</a:t>
            </a:r>
            <a:endParaRPr lang="en-DE"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139989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E59367-3FD4-7C26-E32E-431A2052742A}"/>
              </a:ext>
            </a:extLst>
          </p:cNvPr>
          <p:cNvSpPr>
            <a:spLocks noGrp="1"/>
          </p:cNvSpPr>
          <p:nvPr>
            <p:ph type="title"/>
          </p:nvPr>
        </p:nvSpPr>
        <p:spPr/>
        <p:txBody>
          <a:bodyPr/>
          <a:lstStyle/>
          <a:p>
            <a:r>
              <a:rPr lang="en-GB" dirty="0"/>
              <a:t>Building’s Model</a:t>
            </a:r>
            <a:endParaRPr lang="en-DE" dirty="0"/>
          </a:p>
        </p:txBody>
      </p:sp>
      <p:pic>
        <p:nvPicPr>
          <p:cNvPr id="5" name="Picture 4" descr="A picture containing text, line, plot, font&#10;&#10;Description automatically generated">
            <a:extLst>
              <a:ext uri="{FF2B5EF4-FFF2-40B4-BE49-F238E27FC236}">
                <a16:creationId xmlns:a16="http://schemas.microsoft.com/office/drawing/2014/main" id="{2B53F119-ED85-4E73-A026-EF4B6C223368}"/>
              </a:ext>
            </a:extLst>
          </p:cNvPr>
          <p:cNvPicPr>
            <a:picLocks noChangeAspect="1"/>
          </p:cNvPicPr>
          <p:nvPr/>
        </p:nvPicPr>
        <p:blipFill>
          <a:blip r:embed="rId2"/>
          <a:stretch>
            <a:fillRect/>
          </a:stretch>
        </p:blipFill>
        <p:spPr>
          <a:xfrm>
            <a:off x="675714" y="707546"/>
            <a:ext cx="7567333" cy="3842786"/>
          </a:xfrm>
          <a:prstGeom prst="rect">
            <a:avLst/>
          </a:prstGeom>
        </p:spPr>
      </p:pic>
    </p:spTree>
    <p:extLst>
      <p:ext uri="{BB962C8B-B14F-4D97-AF65-F5344CB8AC3E}">
        <p14:creationId xmlns:p14="http://schemas.microsoft.com/office/powerpoint/2010/main" val="5935998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E594F4-BB29-F642-46DF-56136344DCD4}"/>
              </a:ext>
            </a:extLst>
          </p:cNvPr>
          <p:cNvSpPr>
            <a:spLocks noGrp="1"/>
          </p:cNvSpPr>
          <p:nvPr>
            <p:ph idx="1"/>
          </p:nvPr>
        </p:nvSpPr>
        <p:spPr>
          <a:xfrm>
            <a:off x="708026" y="993227"/>
            <a:ext cx="7727950" cy="2017068"/>
          </a:xfrm>
        </p:spPr>
        <p:txBody>
          <a:bodyPr/>
          <a:lstStyle/>
          <a:p>
            <a:r>
              <a:rPr lang="en-GB" dirty="0"/>
              <a:t>Heat pump is an efficient and environmental friendly heating system.</a:t>
            </a:r>
          </a:p>
          <a:p>
            <a:r>
              <a:rPr lang="en-GB" dirty="0"/>
              <a:t>Heat pump capture surrounding heat and transfer it to the residential home.</a:t>
            </a:r>
          </a:p>
          <a:p>
            <a:r>
              <a:rPr lang="en-GB" dirty="0"/>
              <a:t>The efficiency of a heat pump can be measured by the Coefficient of Performance(COP), which indicates the ratio of generated thermal power to power input.</a:t>
            </a:r>
          </a:p>
          <a:p>
            <a:r>
              <a:rPr lang="en-GB" dirty="0"/>
              <a:t>The value of COP can vary based on factors like load, external temperature and operating conditions.</a:t>
            </a:r>
          </a:p>
          <a:p>
            <a:pPr marL="0" indent="0">
              <a:buNone/>
            </a:pPr>
            <a:endParaRPr lang="en-DE" dirty="0"/>
          </a:p>
        </p:txBody>
      </p:sp>
      <p:sp>
        <p:nvSpPr>
          <p:cNvPr id="3" name="Title 2">
            <a:extLst>
              <a:ext uri="{FF2B5EF4-FFF2-40B4-BE49-F238E27FC236}">
                <a16:creationId xmlns:a16="http://schemas.microsoft.com/office/drawing/2014/main" id="{035871E7-4B3C-3EC6-3D0F-CBF9E02724AC}"/>
              </a:ext>
            </a:extLst>
          </p:cNvPr>
          <p:cNvSpPr>
            <a:spLocks noGrp="1"/>
          </p:cNvSpPr>
          <p:nvPr>
            <p:ph type="title"/>
          </p:nvPr>
        </p:nvSpPr>
        <p:spPr/>
        <p:txBody>
          <a:bodyPr/>
          <a:lstStyle/>
          <a:p>
            <a:r>
              <a:rPr lang="en-GB" dirty="0"/>
              <a:t>Heat Pump</a:t>
            </a:r>
            <a:endParaRPr lang="en-DE"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016F157-33B2-4473-5876-38C50AA7D550}"/>
                  </a:ext>
                </a:extLst>
              </p:cNvPr>
              <p:cNvSpPr txBox="1"/>
              <p:nvPr/>
            </p:nvSpPr>
            <p:spPr>
              <a:xfrm>
                <a:off x="1810817" y="3172649"/>
                <a:ext cx="1217000" cy="6047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𝐶𝑂𝑃</m:t>
                      </m:r>
                      <m:r>
                        <a:rPr lang="en-GB" b="0" i="1" smtClean="0">
                          <a:latin typeface="Cambria Math" panose="02040503050406030204" pitchFamily="18" charset="0"/>
                        </a:rPr>
                        <m:t>= </m:t>
                      </m:r>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𝑄</m:t>
                              </m:r>
                            </m:e>
                            <m:sub>
                              <m:r>
                                <a:rPr lang="en-GB" b="0" i="1" smtClean="0">
                                  <a:latin typeface="Cambria Math" panose="02040503050406030204" pitchFamily="18" charset="0"/>
                                </a:rPr>
                                <m:t>h𝑝</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e>
                            <m:sub>
                              <m:r>
                                <a:rPr lang="en-GB" b="0" i="1" smtClean="0">
                                  <a:latin typeface="Cambria Math" panose="02040503050406030204" pitchFamily="18" charset="0"/>
                                </a:rPr>
                                <m:t>h𝑝</m:t>
                              </m:r>
                            </m:sub>
                          </m:sSub>
                        </m:den>
                      </m:f>
                    </m:oMath>
                  </m:oMathPara>
                </a14:m>
                <a:endParaRPr lang="en-DE" dirty="0"/>
              </a:p>
            </p:txBody>
          </p:sp>
        </mc:Choice>
        <mc:Fallback xmlns="">
          <p:sp>
            <p:nvSpPr>
              <p:cNvPr id="4" name="TextBox 3">
                <a:extLst>
                  <a:ext uri="{FF2B5EF4-FFF2-40B4-BE49-F238E27FC236}">
                    <a16:creationId xmlns:a16="http://schemas.microsoft.com/office/drawing/2014/main" id="{0016F157-33B2-4473-5876-38C50AA7D550}"/>
                  </a:ext>
                </a:extLst>
              </p:cNvPr>
              <p:cNvSpPr txBox="1">
                <a:spLocks noRot="1" noChangeAspect="1" noMove="1" noResize="1" noEditPoints="1" noAdjustHandles="1" noChangeArrowheads="1" noChangeShapeType="1" noTextEdit="1"/>
              </p:cNvSpPr>
              <p:nvPr/>
            </p:nvSpPr>
            <p:spPr>
              <a:xfrm>
                <a:off x="1810817" y="3172649"/>
                <a:ext cx="1217000" cy="604717"/>
              </a:xfrm>
              <a:prstGeom prst="rect">
                <a:avLst/>
              </a:prstGeom>
              <a:blipFill>
                <a:blip r:embed="rId3"/>
                <a:stretch>
                  <a:fillRect/>
                </a:stretch>
              </a:blipFill>
            </p:spPr>
            <p:txBody>
              <a:bodyPr/>
              <a:lstStyle/>
              <a:p>
                <a:r>
                  <a:rPr lang="en-DE">
                    <a:noFill/>
                  </a:rPr>
                  <a:t> </a:t>
                </a:r>
              </a:p>
            </p:txBody>
          </p:sp>
        </mc:Fallback>
      </mc:AlternateContent>
      <p:pic>
        <p:nvPicPr>
          <p:cNvPr id="6" name="Picture 5" descr="A picture containing outdoor, appliance, home appliance, sky&#10;&#10;Description automatically generated">
            <a:extLst>
              <a:ext uri="{FF2B5EF4-FFF2-40B4-BE49-F238E27FC236}">
                <a16:creationId xmlns:a16="http://schemas.microsoft.com/office/drawing/2014/main" id="{F3A810D7-FF16-AB4C-7993-31B11789B989}"/>
              </a:ext>
            </a:extLst>
          </p:cNvPr>
          <p:cNvPicPr>
            <a:picLocks noChangeAspect="1"/>
          </p:cNvPicPr>
          <p:nvPr/>
        </p:nvPicPr>
        <p:blipFill>
          <a:blip r:embed="rId4"/>
          <a:stretch>
            <a:fillRect/>
          </a:stretch>
        </p:blipFill>
        <p:spPr>
          <a:xfrm>
            <a:off x="5347608" y="2725726"/>
            <a:ext cx="2598161" cy="1818713"/>
          </a:xfrm>
          <a:prstGeom prst="rect">
            <a:avLst/>
          </a:prstGeom>
        </p:spPr>
      </p:pic>
      <p:sp>
        <p:nvSpPr>
          <p:cNvPr id="7" name="TextBox 6">
            <a:extLst>
              <a:ext uri="{FF2B5EF4-FFF2-40B4-BE49-F238E27FC236}">
                <a16:creationId xmlns:a16="http://schemas.microsoft.com/office/drawing/2014/main" id="{1C6A1B96-97A7-C789-E31E-C02F68DD662E}"/>
              </a:ext>
            </a:extLst>
          </p:cNvPr>
          <p:cNvSpPr txBox="1"/>
          <p:nvPr/>
        </p:nvSpPr>
        <p:spPr>
          <a:xfrm>
            <a:off x="5600700" y="4544439"/>
            <a:ext cx="1701491" cy="276999"/>
          </a:xfrm>
          <a:prstGeom prst="rect">
            <a:avLst/>
          </a:prstGeom>
          <a:noFill/>
        </p:spPr>
        <p:txBody>
          <a:bodyPr wrap="none" rtlCol="0">
            <a:spAutoFit/>
          </a:bodyPr>
          <a:lstStyle/>
          <a:p>
            <a:r>
              <a:rPr lang="en-GB" sz="1200" dirty="0">
                <a:solidFill>
                  <a:schemeClr val="accent2">
                    <a:lumMod val="40000"/>
                    <a:lumOff val="60000"/>
                  </a:schemeClr>
                </a:solidFill>
              </a:rPr>
              <a:t>www.greensquare.co.uk</a:t>
            </a:r>
            <a:endParaRPr lang="en-DE" sz="1200" dirty="0">
              <a:solidFill>
                <a:schemeClr val="accent2">
                  <a:lumMod val="40000"/>
                  <a:lumOff val="60000"/>
                </a:schemeClr>
              </a:solidFill>
            </a:endParaRPr>
          </a:p>
        </p:txBody>
      </p:sp>
    </p:spTree>
    <p:extLst>
      <p:ext uri="{BB962C8B-B14F-4D97-AF65-F5344CB8AC3E}">
        <p14:creationId xmlns:p14="http://schemas.microsoft.com/office/powerpoint/2010/main" val="6571351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1E1D0D-9C45-7B2F-A039-25229507A7B6}"/>
              </a:ext>
            </a:extLst>
          </p:cNvPr>
          <p:cNvSpPr>
            <a:spLocks noGrp="1"/>
          </p:cNvSpPr>
          <p:nvPr>
            <p:ph idx="1"/>
          </p:nvPr>
        </p:nvSpPr>
        <p:spPr>
          <a:xfrm>
            <a:off x="708026" y="993227"/>
            <a:ext cx="7727950" cy="2980379"/>
          </a:xfrm>
        </p:spPr>
        <p:txBody>
          <a:bodyPr/>
          <a:lstStyle/>
          <a:p>
            <a:pPr algn="l"/>
            <a:r>
              <a:rPr lang="en-GB" dirty="0" err="1"/>
              <a:t>Modeling</a:t>
            </a:r>
            <a:r>
              <a:rPr lang="en-GB" dirty="0"/>
              <a:t> COP: Various approaches exist to model the coefficient of performance(COP)</a:t>
            </a:r>
          </a:p>
          <a:p>
            <a:pPr lvl="1"/>
            <a:r>
              <a:rPr lang="en-GB" dirty="0"/>
              <a:t>Constant value (</a:t>
            </a:r>
            <a:r>
              <a:rPr lang="en-GB" dirty="0" err="1"/>
              <a:t>Verhelst</a:t>
            </a:r>
            <a:r>
              <a:rPr lang="en-GB" dirty="0"/>
              <a:t>, 2012)</a:t>
            </a:r>
          </a:p>
          <a:p>
            <a:pPr lvl="1"/>
            <a:r>
              <a:rPr lang="en-GB" dirty="0"/>
              <a:t>Polynomial function (Huang et al., 2006)</a:t>
            </a:r>
          </a:p>
          <a:p>
            <a:pPr lvl="1"/>
            <a:r>
              <a:rPr lang="en-GB" dirty="0"/>
              <a:t>Linear expression (</a:t>
            </a:r>
            <a:r>
              <a:rPr lang="en-GB" sz="1800" b="0" i="0" u="none" strike="noStrike" baseline="0" dirty="0" err="1">
                <a:latin typeface="CMR12"/>
              </a:rPr>
              <a:t>Rastegarpour</a:t>
            </a:r>
            <a:r>
              <a:rPr lang="en-GB" sz="1800" b="0" i="0" u="none" strike="noStrike" baseline="0" dirty="0">
                <a:latin typeface="CMR12"/>
              </a:rPr>
              <a:t> et al., 2021.</a:t>
            </a:r>
            <a:r>
              <a:rPr lang="en-GB" dirty="0"/>
              <a:t>)</a:t>
            </a:r>
          </a:p>
          <a:p>
            <a:pPr lvl="1"/>
            <a:r>
              <a:rPr lang="en-GB" dirty="0"/>
              <a:t>Experimental Data</a:t>
            </a:r>
          </a:p>
          <a:p>
            <a:r>
              <a:rPr lang="en-GB" dirty="0"/>
              <a:t>Chosen method: Utilize generated COP values from experimental data correspond to outside temperature.</a:t>
            </a:r>
          </a:p>
          <a:p>
            <a:r>
              <a:rPr lang="en-US" dirty="0"/>
              <a:t>The simulated heat pump used in this thesis is an air-to-water heat pump, designed to provide heat to the Hot Water Tank(HWT).</a:t>
            </a:r>
            <a:endParaRPr lang="en-GB" dirty="0"/>
          </a:p>
        </p:txBody>
      </p:sp>
      <p:sp>
        <p:nvSpPr>
          <p:cNvPr id="3" name="Title 2">
            <a:extLst>
              <a:ext uri="{FF2B5EF4-FFF2-40B4-BE49-F238E27FC236}">
                <a16:creationId xmlns:a16="http://schemas.microsoft.com/office/drawing/2014/main" id="{71130A60-FC1F-C05B-3C08-C1B79273F965}"/>
              </a:ext>
            </a:extLst>
          </p:cNvPr>
          <p:cNvSpPr>
            <a:spLocks noGrp="1"/>
          </p:cNvSpPr>
          <p:nvPr>
            <p:ph type="title"/>
          </p:nvPr>
        </p:nvSpPr>
        <p:spPr/>
        <p:txBody>
          <a:bodyPr/>
          <a:lstStyle/>
          <a:p>
            <a:r>
              <a:rPr lang="en-GB" dirty="0"/>
              <a:t>Heat Pump</a:t>
            </a:r>
            <a:endParaRPr lang="en-DE" dirty="0"/>
          </a:p>
        </p:txBody>
      </p:sp>
    </p:spTree>
    <p:extLst>
      <p:ext uri="{BB962C8B-B14F-4D97-AF65-F5344CB8AC3E}">
        <p14:creationId xmlns:p14="http://schemas.microsoft.com/office/powerpoint/2010/main" val="39007151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4A1EAB2-8E4B-8D50-D949-D74D6EF391DC}"/>
              </a:ext>
            </a:extLst>
          </p:cNvPr>
          <p:cNvSpPr/>
          <p:nvPr/>
        </p:nvSpPr>
        <p:spPr>
          <a:xfrm>
            <a:off x="2299447" y="3751729"/>
            <a:ext cx="1510751" cy="41206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p:sp>
        <p:nvSpPr>
          <p:cNvPr id="6" name="Rectangle 5">
            <a:extLst>
              <a:ext uri="{FF2B5EF4-FFF2-40B4-BE49-F238E27FC236}">
                <a16:creationId xmlns:a16="http://schemas.microsoft.com/office/drawing/2014/main" id="{B8C62AD5-D9B8-994F-135D-7EED394575E4}"/>
              </a:ext>
            </a:extLst>
          </p:cNvPr>
          <p:cNvSpPr/>
          <p:nvPr/>
        </p:nvSpPr>
        <p:spPr>
          <a:xfrm>
            <a:off x="2363392" y="2440641"/>
            <a:ext cx="3856789" cy="74488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p:sp>
        <p:nvSpPr>
          <p:cNvPr id="2" name="Rectangle 1">
            <a:extLst>
              <a:ext uri="{FF2B5EF4-FFF2-40B4-BE49-F238E27FC236}">
                <a16:creationId xmlns:a16="http://schemas.microsoft.com/office/drawing/2014/main" id="{F0EB8039-E2C8-12EF-77A9-5B9A3B08B0CE}"/>
              </a:ext>
            </a:extLst>
          </p:cNvPr>
          <p:cNvSpPr/>
          <p:nvPr/>
        </p:nvSpPr>
        <p:spPr>
          <a:xfrm>
            <a:off x="2363392" y="1573306"/>
            <a:ext cx="4681153" cy="69576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DE"/>
          </a:p>
        </p:txBody>
      </p:sp>
      <p:sp>
        <p:nvSpPr>
          <p:cNvPr id="3" name="Title 2">
            <a:extLst>
              <a:ext uri="{FF2B5EF4-FFF2-40B4-BE49-F238E27FC236}">
                <a16:creationId xmlns:a16="http://schemas.microsoft.com/office/drawing/2014/main" id="{B2E326E5-32CA-F2C2-B7DB-F0C6E79C0500}"/>
              </a:ext>
            </a:extLst>
          </p:cNvPr>
          <p:cNvSpPr>
            <a:spLocks noGrp="1"/>
          </p:cNvSpPr>
          <p:nvPr>
            <p:ph type="title"/>
          </p:nvPr>
        </p:nvSpPr>
        <p:spPr/>
        <p:txBody>
          <a:bodyPr/>
          <a:lstStyle/>
          <a:p>
            <a:r>
              <a:rPr lang="en-GB" dirty="0"/>
              <a:t>Heat Pump</a:t>
            </a:r>
            <a:endParaRPr lang="en-DE"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1FE3BD6-C1AA-813C-9552-18BE47D05236}"/>
                  </a:ext>
                </a:extLst>
              </p:cNvPr>
              <p:cNvSpPr txBox="1"/>
              <p:nvPr/>
            </p:nvSpPr>
            <p:spPr>
              <a:xfrm>
                <a:off x="2363392" y="1637972"/>
                <a:ext cx="4681153" cy="5276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DE" i="1" smtClean="0">
                              <a:latin typeface="Cambria Math" panose="02040503050406030204" pitchFamily="18" charset="0"/>
                            </a:rPr>
                          </m:ctrlPr>
                        </m:fPr>
                        <m:num>
                          <m:r>
                            <a:rPr lang="en-GB" b="0" i="1" smtClean="0">
                              <a:latin typeface="Cambria Math" panose="02040503050406030204" pitchFamily="18" charset="0"/>
                            </a:rPr>
                            <m:t>𝑑</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𝐶𝑂𝑃</m:t>
                              </m:r>
                            </m:e>
                            <m:sub>
                              <m:r>
                                <a:rPr lang="en-GB" b="0" i="1" smtClean="0">
                                  <a:latin typeface="Cambria Math" panose="02040503050406030204" pitchFamily="18" charset="0"/>
                                </a:rPr>
                                <m:t>1</m:t>
                              </m:r>
                            </m:sub>
                          </m:sSub>
                          <m:r>
                            <a:rPr lang="en-GB" b="0" i="1" smtClean="0">
                              <a:latin typeface="Cambria Math" panose="02040503050406030204" pitchFamily="18" charset="0"/>
                            </a:rPr>
                            <m:t>)</m:t>
                          </m:r>
                        </m:num>
                        <m:den>
                          <m:r>
                            <a:rPr lang="en-GB" b="0" i="1" smtClean="0">
                              <a:latin typeface="Cambria Math" panose="02040503050406030204" pitchFamily="18" charset="0"/>
                            </a:rPr>
                            <m:t>𝑑𝑡</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𝜏</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𝐶𝑂𝑃</m:t>
                          </m:r>
                        </m:e>
                        <m:sub>
                          <m:r>
                            <a:rPr lang="en-GB" b="0" i="1" smtClean="0">
                              <a:latin typeface="Cambria Math" panose="02040503050406030204" pitchFamily="18" charset="0"/>
                            </a:rPr>
                            <m:t>1</m:t>
                          </m:r>
                        </m:sub>
                      </m:sSub>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ea typeface="Cambria Math" panose="02040503050406030204" pitchFamily="18" charset="0"/>
                            </a:rPr>
                            <m:t>𝜏</m:t>
                          </m:r>
                        </m:den>
                      </m:f>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𝑎</m:t>
                          </m:r>
                        </m:e>
                        <m:sub>
                          <m:r>
                            <a:rPr lang="en-GB" b="0" i="1" smtClean="0">
                              <a:latin typeface="Cambria Math" panose="02040503050406030204" pitchFamily="18" charset="0"/>
                              <a:ea typeface="Cambria Math" panose="02040503050406030204" pitchFamily="18" charset="0"/>
                            </a:rPr>
                            <m:t>1</m:t>
                          </m:r>
                        </m:sub>
                      </m:sSub>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𝑎</m:t>
                          </m:r>
                        </m:e>
                        <m:sub>
                          <m:r>
                            <a:rPr lang="en-GB" b="0" i="1" smtClean="0">
                              <a:latin typeface="Cambria Math" panose="02040503050406030204" pitchFamily="18" charset="0"/>
                              <a:ea typeface="Cambria Math" panose="02040503050406030204" pitchFamily="18" charset="0"/>
                            </a:rPr>
                            <m:t>2</m:t>
                          </m:r>
                        </m:sub>
                      </m:sSub>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𝑇</m:t>
                          </m:r>
                        </m:e>
                        <m:sub>
                          <m:r>
                            <a:rPr lang="en-GB" b="0" i="1" smtClean="0">
                              <a:latin typeface="Cambria Math" panose="02040503050406030204" pitchFamily="18" charset="0"/>
                              <a:ea typeface="Cambria Math" panose="02040503050406030204" pitchFamily="18" charset="0"/>
                            </a:rPr>
                            <m:t>𝑜𝑎</m:t>
                          </m:r>
                        </m:sub>
                      </m:sSub>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𝑎</m:t>
                          </m:r>
                        </m:e>
                        <m:sub>
                          <m:r>
                            <a:rPr lang="en-GB" b="0" i="1" smtClean="0">
                              <a:latin typeface="Cambria Math" panose="02040503050406030204" pitchFamily="18" charset="0"/>
                              <a:ea typeface="Cambria Math" panose="02040503050406030204" pitchFamily="18" charset="0"/>
                            </a:rPr>
                            <m:t>3</m:t>
                          </m:r>
                        </m:sub>
                      </m:sSub>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𝑇</m:t>
                          </m:r>
                        </m:e>
                        <m:sub>
                          <m:r>
                            <a:rPr lang="en-GB" b="0" i="1" smtClean="0">
                              <a:latin typeface="Cambria Math" panose="02040503050406030204" pitchFamily="18" charset="0"/>
                              <a:ea typeface="Cambria Math" panose="02040503050406030204" pitchFamily="18" charset="0"/>
                            </a:rPr>
                            <m:t>3</m:t>
                          </m:r>
                        </m:sub>
                      </m:sSub>
                      <m:r>
                        <a:rPr lang="en-GB" b="0" i="1" smtClean="0">
                          <a:latin typeface="Cambria Math" panose="02040503050406030204" pitchFamily="18" charset="0"/>
                          <a:ea typeface="Cambria Math" panose="02040503050406030204" pitchFamily="18" charset="0"/>
                        </a:rPr>
                        <m:t>)</m:t>
                      </m:r>
                    </m:oMath>
                  </m:oMathPara>
                </a14:m>
                <a:endParaRPr lang="en-DE" dirty="0"/>
              </a:p>
            </p:txBody>
          </p:sp>
        </mc:Choice>
        <mc:Fallback xmlns="">
          <p:sp>
            <p:nvSpPr>
              <p:cNvPr id="4" name="TextBox 3">
                <a:extLst>
                  <a:ext uri="{FF2B5EF4-FFF2-40B4-BE49-F238E27FC236}">
                    <a16:creationId xmlns:a16="http://schemas.microsoft.com/office/drawing/2014/main" id="{71FE3BD6-C1AA-813C-9552-18BE47D05236}"/>
                  </a:ext>
                </a:extLst>
              </p:cNvPr>
              <p:cNvSpPr txBox="1">
                <a:spLocks noRot="1" noChangeAspect="1" noMove="1" noResize="1" noEditPoints="1" noAdjustHandles="1" noChangeArrowheads="1" noChangeShapeType="1" noTextEdit="1"/>
              </p:cNvSpPr>
              <p:nvPr/>
            </p:nvSpPr>
            <p:spPr>
              <a:xfrm>
                <a:off x="2363392" y="1637972"/>
                <a:ext cx="4681153" cy="527645"/>
              </a:xfrm>
              <a:prstGeom prst="rect">
                <a:avLst/>
              </a:prstGeom>
              <a:blipFill>
                <a:blip r:embed="rId2"/>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E1458CD-A154-8014-441D-357B9BA999CF}"/>
                  </a:ext>
                </a:extLst>
              </p:cNvPr>
              <p:cNvSpPr txBox="1"/>
              <p:nvPr/>
            </p:nvSpPr>
            <p:spPr>
              <a:xfrm>
                <a:off x="2437351" y="2512789"/>
                <a:ext cx="3782830" cy="5276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DE" i="1" smtClean="0">
                              <a:latin typeface="Cambria Math" panose="02040503050406030204" pitchFamily="18" charset="0"/>
                            </a:rPr>
                          </m:ctrlPr>
                        </m:fPr>
                        <m:num>
                          <m:r>
                            <a:rPr lang="en-GB" b="0" i="1" smtClean="0">
                              <a:latin typeface="Cambria Math" panose="02040503050406030204" pitchFamily="18" charset="0"/>
                            </a:rPr>
                            <m:t>𝑑</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𝐶𝑂𝑃</m:t>
                              </m:r>
                            </m:e>
                            <m:sub>
                              <m:r>
                                <a:rPr lang="en-GB" b="0" i="1" smtClean="0">
                                  <a:latin typeface="Cambria Math" panose="02040503050406030204" pitchFamily="18" charset="0"/>
                                </a:rPr>
                                <m:t>2</m:t>
                              </m:r>
                            </m:sub>
                          </m:sSub>
                          <m:r>
                            <a:rPr lang="en-GB" b="0" i="1" smtClean="0">
                              <a:latin typeface="Cambria Math" panose="02040503050406030204" pitchFamily="18" charset="0"/>
                            </a:rPr>
                            <m:t>)</m:t>
                          </m:r>
                        </m:num>
                        <m:den>
                          <m:r>
                            <a:rPr lang="en-GB" b="0" i="1" smtClean="0">
                              <a:latin typeface="Cambria Math" panose="02040503050406030204" pitchFamily="18" charset="0"/>
                            </a:rPr>
                            <m:t>𝑑𝑡</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𝜏</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𝐶𝑂𝑃</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ea typeface="Cambria Math" panose="02040503050406030204" pitchFamily="18" charset="0"/>
                            </a:rPr>
                            <m:t>𝜏</m:t>
                          </m:r>
                        </m:den>
                      </m:f>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𝑏</m:t>
                          </m:r>
                        </m:e>
                        <m:sub>
                          <m:r>
                            <a:rPr lang="en-GB" b="0" i="1" smtClean="0">
                              <a:latin typeface="Cambria Math" panose="02040503050406030204" pitchFamily="18" charset="0"/>
                              <a:ea typeface="Cambria Math" panose="02040503050406030204" pitchFamily="18" charset="0"/>
                            </a:rPr>
                            <m:t>1</m:t>
                          </m:r>
                        </m:sub>
                      </m:sSub>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𝑏</m:t>
                          </m:r>
                        </m:e>
                        <m:sub>
                          <m:r>
                            <a:rPr lang="en-GB" b="0" i="1" smtClean="0">
                              <a:latin typeface="Cambria Math" panose="02040503050406030204" pitchFamily="18" charset="0"/>
                              <a:ea typeface="Cambria Math" panose="02040503050406030204" pitchFamily="18" charset="0"/>
                            </a:rPr>
                            <m:t>2</m:t>
                          </m:r>
                        </m:sub>
                      </m:sSub>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𝑇</m:t>
                          </m:r>
                        </m:e>
                        <m:sub>
                          <m:r>
                            <a:rPr lang="en-GB" b="0" i="1" smtClean="0">
                              <a:latin typeface="Cambria Math" panose="02040503050406030204" pitchFamily="18" charset="0"/>
                              <a:ea typeface="Cambria Math" panose="02040503050406030204" pitchFamily="18" charset="0"/>
                            </a:rPr>
                            <m:t>𝑜𝑎</m:t>
                          </m:r>
                        </m:sub>
                      </m:sSub>
                      <m:r>
                        <a:rPr lang="en-GB" b="0" i="1" smtClean="0">
                          <a:latin typeface="Cambria Math" panose="02040503050406030204" pitchFamily="18" charset="0"/>
                          <a:ea typeface="Cambria Math" panose="02040503050406030204" pitchFamily="18" charset="0"/>
                        </a:rPr>
                        <m:t>)</m:t>
                      </m:r>
                    </m:oMath>
                  </m:oMathPara>
                </a14:m>
                <a:endParaRPr lang="en-DE" dirty="0"/>
              </a:p>
            </p:txBody>
          </p:sp>
        </mc:Choice>
        <mc:Fallback xmlns="">
          <p:sp>
            <p:nvSpPr>
              <p:cNvPr id="5" name="TextBox 4">
                <a:extLst>
                  <a:ext uri="{FF2B5EF4-FFF2-40B4-BE49-F238E27FC236}">
                    <a16:creationId xmlns:a16="http://schemas.microsoft.com/office/drawing/2014/main" id="{9E1458CD-A154-8014-441D-357B9BA999CF}"/>
                  </a:ext>
                </a:extLst>
              </p:cNvPr>
              <p:cNvSpPr txBox="1">
                <a:spLocks noRot="1" noChangeAspect="1" noMove="1" noResize="1" noEditPoints="1" noAdjustHandles="1" noChangeArrowheads="1" noChangeShapeType="1" noTextEdit="1"/>
              </p:cNvSpPr>
              <p:nvPr/>
            </p:nvSpPr>
            <p:spPr>
              <a:xfrm>
                <a:off x="2437351" y="2512789"/>
                <a:ext cx="3782830" cy="527645"/>
              </a:xfrm>
              <a:prstGeom prst="rect">
                <a:avLst/>
              </a:prstGeom>
              <a:blipFill>
                <a:blip r:embed="rId3"/>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2C78091-CA3F-2D87-51E6-7679923C218D}"/>
                  </a:ext>
                </a:extLst>
              </p:cNvPr>
              <p:cNvSpPr txBox="1"/>
              <p:nvPr/>
            </p:nvSpPr>
            <p:spPr>
              <a:xfrm>
                <a:off x="2363392" y="3830007"/>
                <a:ext cx="144680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𝐶𝑂𝑃</m:t>
                      </m:r>
                      <m:r>
                        <a:rPr lang="en-GB" b="0" i="1" smtClean="0">
                          <a:latin typeface="Cambria Math" panose="02040503050406030204" pitchFamily="18" charset="0"/>
                        </a:rPr>
                        <m:t>=</m:t>
                      </m:r>
                      <m:r>
                        <a:rPr lang="en-GB" b="0" i="1" smtClean="0">
                          <a:latin typeface="Cambria Math" panose="02040503050406030204" pitchFamily="18" charset="0"/>
                        </a:rPr>
                        <m:t>𝑓</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𝑜𝑎</m:t>
                          </m:r>
                        </m:sub>
                      </m:sSub>
                      <m:r>
                        <a:rPr lang="en-GB" b="0" i="1" smtClean="0">
                          <a:latin typeface="Cambria Math" panose="02040503050406030204" pitchFamily="18" charset="0"/>
                        </a:rPr>
                        <m:t>)</m:t>
                      </m:r>
                    </m:oMath>
                  </m:oMathPara>
                </a14:m>
                <a:endParaRPr lang="en-DE" dirty="0"/>
              </a:p>
            </p:txBody>
          </p:sp>
        </mc:Choice>
        <mc:Fallback xmlns="">
          <p:sp>
            <p:nvSpPr>
              <p:cNvPr id="7" name="TextBox 6">
                <a:extLst>
                  <a:ext uri="{FF2B5EF4-FFF2-40B4-BE49-F238E27FC236}">
                    <a16:creationId xmlns:a16="http://schemas.microsoft.com/office/drawing/2014/main" id="{42C78091-CA3F-2D87-51E6-7679923C218D}"/>
                  </a:ext>
                </a:extLst>
              </p:cNvPr>
              <p:cNvSpPr txBox="1">
                <a:spLocks noRot="1" noChangeAspect="1" noMove="1" noResize="1" noEditPoints="1" noAdjustHandles="1" noChangeArrowheads="1" noChangeShapeType="1" noTextEdit="1"/>
              </p:cNvSpPr>
              <p:nvPr/>
            </p:nvSpPr>
            <p:spPr>
              <a:xfrm>
                <a:off x="2363392" y="3830007"/>
                <a:ext cx="1446806" cy="276999"/>
              </a:xfrm>
              <a:prstGeom prst="rect">
                <a:avLst/>
              </a:prstGeom>
              <a:blipFill>
                <a:blip r:embed="rId4"/>
                <a:stretch>
                  <a:fillRect l="-3797" t="-2174" r="-5907" b="-32609"/>
                </a:stretch>
              </a:blipFill>
            </p:spPr>
            <p:txBody>
              <a:bodyPr/>
              <a:lstStyle/>
              <a:p>
                <a:r>
                  <a:rPr lang="en-DE">
                    <a:noFill/>
                  </a:rPr>
                  <a:t> </a:t>
                </a:r>
              </a:p>
            </p:txBody>
          </p:sp>
        </mc:Fallback>
      </mc:AlternateContent>
      <p:sp>
        <p:nvSpPr>
          <p:cNvPr id="10" name="TextBox 9">
            <a:extLst>
              <a:ext uri="{FF2B5EF4-FFF2-40B4-BE49-F238E27FC236}">
                <a16:creationId xmlns:a16="http://schemas.microsoft.com/office/drawing/2014/main" id="{32971C05-E19C-6DFF-9DC6-E2FB580C12C2}"/>
              </a:ext>
            </a:extLst>
          </p:cNvPr>
          <p:cNvSpPr txBox="1"/>
          <p:nvPr/>
        </p:nvSpPr>
        <p:spPr>
          <a:xfrm>
            <a:off x="544605" y="859263"/>
            <a:ext cx="8317007" cy="646331"/>
          </a:xfrm>
          <a:prstGeom prst="rect">
            <a:avLst/>
          </a:prstGeom>
          <a:noFill/>
        </p:spPr>
        <p:txBody>
          <a:bodyPr wrap="square">
            <a:spAutoFit/>
          </a:bodyPr>
          <a:lstStyle/>
          <a:p>
            <a:pPr marL="285750" indent="-285750">
              <a:buFont typeface="Arial" panose="020B0604020202020204" pitchFamily="34" charset="0"/>
              <a:buChar char="•"/>
            </a:pPr>
            <a:r>
              <a:rPr lang="en-GB" dirty="0"/>
              <a:t>There are two approach used in this thesis to model the COP of a heat pump </a:t>
            </a:r>
          </a:p>
          <a:p>
            <a:pPr marL="742846" lvl="1" indent="-285750">
              <a:buFont typeface="Arial" panose="020B0604020202020204" pitchFamily="34" charset="0"/>
              <a:buChar char="•"/>
            </a:pPr>
            <a:r>
              <a:rPr lang="en-GB" dirty="0"/>
              <a:t>Linear expression of outside temperature and temperature of water from tank</a:t>
            </a:r>
          </a:p>
        </p:txBody>
      </p:sp>
      <p:sp>
        <p:nvSpPr>
          <p:cNvPr id="12" name="TextBox 11">
            <a:extLst>
              <a:ext uri="{FF2B5EF4-FFF2-40B4-BE49-F238E27FC236}">
                <a16:creationId xmlns:a16="http://schemas.microsoft.com/office/drawing/2014/main" id="{0407892D-9FD9-E7B1-87C2-9D6CFA92003E}"/>
              </a:ext>
            </a:extLst>
          </p:cNvPr>
          <p:cNvSpPr txBox="1"/>
          <p:nvPr/>
        </p:nvSpPr>
        <p:spPr>
          <a:xfrm>
            <a:off x="544605" y="3288977"/>
            <a:ext cx="4572000" cy="369332"/>
          </a:xfrm>
          <a:prstGeom prst="rect">
            <a:avLst/>
          </a:prstGeom>
          <a:noFill/>
        </p:spPr>
        <p:txBody>
          <a:bodyPr wrap="square">
            <a:spAutoFit/>
          </a:bodyPr>
          <a:lstStyle/>
          <a:p>
            <a:pPr marL="742846" lvl="1" indent="-285750">
              <a:buFont typeface="Arial" panose="020B0604020202020204" pitchFamily="34" charset="0"/>
              <a:buChar char="•"/>
            </a:pPr>
            <a:r>
              <a:rPr lang="en-GB" dirty="0"/>
              <a:t>Experimental data(Look-up table).</a:t>
            </a:r>
            <a:endParaRPr lang="en-DE" dirty="0"/>
          </a:p>
        </p:txBody>
      </p:sp>
    </p:spTree>
    <p:extLst>
      <p:ext uri="{BB962C8B-B14F-4D97-AF65-F5344CB8AC3E}">
        <p14:creationId xmlns:p14="http://schemas.microsoft.com/office/powerpoint/2010/main" val="10398892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144FD6-5497-9A10-481D-0EB6CEE5D75A}"/>
              </a:ext>
            </a:extLst>
          </p:cNvPr>
          <p:cNvSpPr>
            <a:spLocks noGrp="1"/>
          </p:cNvSpPr>
          <p:nvPr>
            <p:ph type="title"/>
          </p:nvPr>
        </p:nvSpPr>
        <p:spPr/>
        <p:txBody>
          <a:bodyPr/>
          <a:lstStyle/>
          <a:p>
            <a:r>
              <a:rPr lang="en-GB" dirty="0"/>
              <a:t>Heat Pump</a:t>
            </a:r>
            <a:endParaRPr lang="en-DE" dirty="0"/>
          </a:p>
        </p:txBody>
      </p:sp>
      <p:pic>
        <p:nvPicPr>
          <p:cNvPr id="7" name="Picture 6" descr="A picture containing text, diagram, line, plot&#10;&#10;Description automatically generated">
            <a:extLst>
              <a:ext uri="{FF2B5EF4-FFF2-40B4-BE49-F238E27FC236}">
                <a16:creationId xmlns:a16="http://schemas.microsoft.com/office/drawing/2014/main" id="{E645BACE-38B2-DCB9-357E-9E7C2D209214}"/>
              </a:ext>
            </a:extLst>
          </p:cNvPr>
          <p:cNvPicPr>
            <a:picLocks noChangeAspect="1"/>
          </p:cNvPicPr>
          <p:nvPr/>
        </p:nvPicPr>
        <p:blipFill>
          <a:blip r:embed="rId2"/>
          <a:stretch>
            <a:fillRect/>
          </a:stretch>
        </p:blipFill>
        <p:spPr>
          <a:xfrm>
            <a:off x="1052232" y="868229"/>
            <a:ext cx="7039535" cy="3574764"/>
          </a:xfrm>
          <a:prstGeom prst="rect">
            <a:avLst/>
          </a:prstGeom>
        </p:spPr>
      </p:pic>
    </p:spTree>
    <p:extLst>
      <p:ext uri="{BB962C8B-B14F-4D97-AF65-F5344CB8AC3E}">
        <p14:creationId xmlns:p14="http://schemas.microsoft.com/office/powerpoint/2010/main" val="10909618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33A91A-D73F-E6C5-6BAB-F18554215CE9}"/>
              </a:ext>
            </a:extLst>
          </p:cNvPr>
          <p:cNvSpPr>
            <a:spLocks noGrp="1"/>
          </p:cNvSpPr>
          <p:nvPr>
            <p:ph idx="1"/>
          </p:nvPr>
        </p:nvSpPr>
        <p:spPr>
          <a:xfrm>
            <a:off x="708026" y="993228"/>
            <a:ext cx="7727950" cy="1776866"/>
          </a:xfrm>
        </p:spPr>
        <p:txBody>
          <a:bodyPr/>
          <a:lstStyle/>
          <a:p>
            <a:r>
              <a:rPr lang="en-GB" dirty="0"/>
              <a:t>Hot Water Tank(HWT) role: Supplies required heat demand to the building and provides hot water for daily use.</a:t>
            </a:r>
          </a:p>
          <a:p>
            <a:r>
              <a:rPr lang="en-GB" dirty="0"/>
              <a:t>Controller role: Regulates the operation of the heat pump and HWT for effective and efficient system performance.</a:t>
            </a:r>
          </a:p>
          <a:p>
            <a:r>
              <a:rPr lang="en-GB" dirty="0"/>
              <a:t>HWT model: Divided into 4 nodes to capture temperature variation with heat exchange between neighbouring nodes and surrounding temperature.</a:t>
            </a:r>
          </a:p>
        </p:txBody>
      </p:sp>
      <p:sp>
        <p:nvSpPr>
          <p:cNvPr id="3" name="Title 2">
            <a:extLst>
              <a:ext uri="{FF2B5EF4-FFF2-40B4-BE49-F238E27FC236}">
                <a16:creationId xmlns:a16="http://schemas.microsoft.com/office/drawing/2014/main" id="{5CC66A3A-BB2C-8472-3E8F-5759A52D5282}"/>
              </a:ext>
            </a:extLst>
          </p:cNvPr>
          <p:cNvSpPr>
            <a:spLocks noGrp="1"/>
          </p:cNvSpPr>
          <p:nvPr>
            <p:ph type="title"/>
          </p:nvPr>
        </p:nvSpPr>
        <p:spPr/>
        <p:txBody>
          <a:bodyPr/>
          <a:lstStyle/>
          <a:p>
            <a:r>
              <a:rPr lang="en-GB" dirty="0"/>
              <a:t>Hot Water Tank</a:t>
            </a:r>
            <a:endParaRPr lang="en-DE" dirty="0"/>
          </a:p>
        </p:txBody>
      </p:sp>
      <p:pic>
        <p:nvPicPr>
          <p:cNvPr id="5" name="Picture 4" descr="A picture containing building, home appliance, machine, air conditioner&#10;&#10;Description automatically generated">
            <a:extLst>
              <a:ext uri="{FF2B5EF4-FFF2-40B4-BE49-F238E27FC236}">
                <a16:creationId xmlns:a16="http://schemas.microsoft.com/office/drawing/2014/main" id="{30393AE1-7CC7-D351-243F-62CB72378EC1}"/>
              </a:ext>
            </a:extLst>
          </p:cNvPr>
          <p:cNvPicPr>
            <a:picLocks noChangeAspect="1"/>
          </p:cNvPicPr>
          <p:nvPr/>
        </p:nvPicPr>
        <p:blipFill>
          <a:blip r:embed="rId3"/>
          <a:stretch>
            <a:fillRect/>
          </a:stretch>
        </p:blipFill>
        <p:spPr>
          <a:xfrm>
            <a:off x="5439953" y="2841641"/>
            <a:ext cx="2493811" cy="1870358"/>
          </a:xfrm>
          <a:prstGeom prst="rect">
            <a:avLst/>
          </a:prstGeom>
        </p:spPr>
      </p:pic>
      <p:sp>
        <p:nvSpPr>
          <p:cNvPr id="6" name="TextBox 5">
            <a:extLst>
              <a:ext uri="{FF2B5EF4-FFF2-40B4-BE49-F238E27FC236}">
                <a16:creationId xmlns:a16="http://schemas.microsoft.com/office/drawing/2014/main" id="{CD6823C5-C3BE-B5B2-B2AB-808F8E487124}"/>
              </a:ext>
            </a:extLst>
          </p:cNvPr>
          <p:cNvSpPr txBox="1"/>
          <p:nvPr/>
        </p:nvSpPr>
        <p:spPr>
          <a:xfrm>
            <a:off x="5996805" y="4777331"/>
            <a:ext cx="1113703" cy="276999"/>
          </a:xfrm>
          <a:prstGeom prst="rect">
            <a:avLst/>
          </a:prstGeom>
          <a:noFill/>
        </p:spPr>
        <p:txBody>
          <a:bodyPr wrap="none" rtlCol="0">
            <a:spAutoFit/>
          </a:bodyPr>
          <a:lstStyle/>
          <a:p>
            <a:r>
              <a:rPr lang="en-GB" sz="1200" dirty="0">
                <a:solidFill>
                  <a:schemeClr val="accent2">
                    <a:lumMod val="40000"/>
                    <a:lumOff val="60000"/>
                  </a:schemeClr>
                </a:solidFill>
              </a:rPr>
              <a:t>focussolar.com</a:t>
            </a:r>
            <a:endParaRPr lang="en-DE" sz="1200" dirty="0">
              <a:solidFill>
                <a:schemeClr val="accent2">
                  <a:lumMod val="40000"/>
                  <a:lumOff val="60000"/>
                </a:schemeClr>
              </a:solidFill>
            </a:endParaRPr>
          </a:p>
        </p:txBody>
      </p:sp>
    </p:spTree>
    <p:extLst>
      <p:ext uri="{BB962C8B-B14F-4D97-AF65-F5344CB8AC3E}">
        <p14:creationId xmlns:p14="http://schemas.microsoft.com/office/powerpoint/2010/main" val="30497550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3808559-AF45-B2AC-34A7-16E70B3721B5}"/>
              </a:ext>
            </a:extLst>
          </p:cNvPr>
          <p:cNvSpPr/>
          <p:nvPr/>
        </p:nvSpPr>
        <p:spPr>
          <a:xfrm>
            <a:off x="373468" y="2816477"/>
            <a:ext cx="1485659" cy="800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DE"/>
          </a:p>
        </p:txBody>
      </p:sp>
      <p:sp>
        <p:nvSpPr>
          <p:cNvPr id="14" name="Rectangle 13">
            <a:extLst>
              <a:ext uri="{FF2B5EF4-FFF2-40B4-BE49-F238E27FC236}">
                <a16:creationId xmlns:a16="http://schemas.microsoft.com/office/drawing/2014/main" id="{77F758E8-8AC5-31BD-D070-115A2F0D9610}"/>
              </a:ext>
            </a:extLst>
          </p:cNvPr>
          <p:cNvSpPr/>
          <p:nvPr/>
        </p:nvSpPr>
        <p:spPr>
          <a:xfrm>
            <a:off x="329695" y="826994"/>
            <a:ext cx="6485365" cy="1744756"/>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lang="en-DE"/>
          </a:p>
        </p:txBody>
      </p:sp>
      <p:sp>
        <p:nvSpPr>
          <p:cNvPr id="3" name="Title 2">
            <a:extLst>
              <a:ext uri="{FF2B5EF4-FFF2-40B4-BE49-F238E27FC236}">
                <a16:creationId xmlns:a16="http://schemas.microsoft.com/office/drawing/2014/main" id="{C43DC31A-CE45-BF4E-3210-F5A4363304F6}"/>
              </a:ext>
            </a:extLst>
          </p:cNvPr>
          <p:cNvSpPr>
            <a:spLocks noGrp="1"/>
          </p:cNvSpPr>
          <p:nvPr>
            <p:ph type="title"/>
          </p:nvPr>
        </p:nvSpPr>
        <p:spPr/>
        <p:txBody>
          <a:bodyPr/>
          <a:lstStyle/>
          <a:p>
            <a:r>
              <a:rPr lang="en-GB" dirty="0"/>
              <a:t>Hot Water Tank</a:t>
            </a:r>
            <a:endParaRPr lang="en-DE"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58418AF-748C-3CA7-54F6-E60002BFF82C}"/>
                  </a:ext>
                </a:extLst>
              </p:cNvPr>
              <p:cNvSpPr txBox="1"/>
              <p:nvPr/>
            </p:nvSpPr>
            <p:spPr>
              <a:xfrm>
                <a:off x="329695" y="909645"/>
                <a:ext cx="4080348" cy="350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𝑚</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𝑤𝑎𝑡</m:t>
                          </m:r>
                        </m:sub>
                      </m:sSub>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𝑑</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1</m:t>
                              </m:r>
                            </m:sub>
                          </m:sSub>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 </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2</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1</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𝑤𝑡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1</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𝑜𝑎</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𝑡</m:t>
                          </m:r>
                        </m:sub>
                      </m:sSub>
                      <m:sSub>
                        <m:sSubPr>
                          <m:ctrlPr>
                            <a:rPr lang="en-GB" sz="1200" i="1">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𝑤𝑎𝑡</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2</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1</m:t>
                          </m:r>
                        </m:sub>
                      </m:sSub>
                      <m:r>
                        <a:rPr lang="en-GB" sz="1200" b="0" i="1" smtClean="0">
                          <a:latin typeface="Cambria Math" panose="02040503050406030204" pitchFamily="18" charset="0"/>
                        </a:rPr>
                        <m:t>)</m:t>
                      </m:r>
                    </m:oMath>
                  </m:oMathPara>
                </a14:m>
                <a:endParaRPr lang="en-DE" sz="1200" dirty="0"/>
              </a:p>
            </p:txBody>
          </p:sp>
        </mc:Choice>
        <mc:Fallback xmlns="">
          <p:sp>
            <p:nvSpPr>
              <p:cNvPr id="4" name="TextBox 3">
                <a:extLst>
                  <a:ext uri="{FF2B5EF4-FFF2-40B4-BE49-F238E27FC236}">
                    <a16:creationId xmlns:a16="http://schemas.microsoft.com/office/drawing/2014/main" id="{258418AF-748C-3CA7-54F6-E60002BFF82C}"/>
                  </a:ext>
                </a:extLst>
              </p:cNvPr>
              <p:cNvSpPr txBox="1">
                <a:spLocks noRot="1" noChangeAspect="1" noMove="1" noResize="1" noEditPoints="1" noAdjustHandles="1" noChangeArrowheads="1" noChangeShapeType="1" noTextEdit="1"/>
              </p:cNvSpPr>
              <p:nvPr/>
            </p:nvSpPr>
            <p:spPr>
              <a:xfrm>
                <a:off x="329695" y="909645"/>
                <a:ext cx="4080348" cy="350609"/>
              </a:xfrm>
              <a:prstGeom prst="rect">
                <a:avLst/>
              </a:prstGeom>
              <a:blipFill>
                <a:blip r:embed="rId2"/>
                <a:stretch>
                  <a:fillRect t="-3448" r="-1046" b="-15517"/>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4E87098-DEE2-406B-21F7-18BC7AE44CA8}"/>
                  </a:ext>
                </a:extLst>
              </p:cNvPr>
              <p:cNvSpPr txBox="1"/>
              <p:nvPr/>
            </p:nvSpPr>
            <p:spPr>
              <a:xfrm>
                <a:off x="329695" y="1316101"/>
                <a:ext cx="6485365" cy="350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𝑚</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𝑤𝑎𝑡</m:t>
                          </m:r>
                        </m:sub>
                      </m:sSub>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𝑑</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2</m:t>
                              </m:r>
                            </m:sub>
                          </m:sSub>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 </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3</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2</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𝑤𝑡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2</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1</m:t>
                              </m:r>
                            </m:sub>
                          </m:sSub>
                        </m:e>
                      </m:d>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𝑤𝑡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2</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𝑜𝑎</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𝑡</m:t>
                          </m:r>
                        </m:sub>
                      </m:sSub>
                      <m:sSub>
                        <m:sSubPr>
                          <m:ctrlPr>
                            <a:rPr lang="en-GB" sz="1200" i="1">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𝑤𝑎𝑡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3</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2</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acc>
                            <m:accPr>
                              <m:chr m:val="̇"/>
                              <m:ctrlPr>
                                <a:rPr lang="en-GB" sz="1200" i="1">
                                  <a:latin typeface="Cambria Math" panose="02040503050406030204" pitchFamily="18" charset="0"/>
                                </a:rPr>
                              </m:ctrlPr>
                            </m:accPr>
                            <m:e>
                              <m:r>
                                <a:rPr lang="en-GB" sz="1200" i="1">
                                  <a:latin typeface="Cambria Math" panose="02040503050406030204" pitchFamily="18" charset="0"/>
                                </a:rPr>
                                <m:t>𝑚</m:t>
                              </m:r>
                            </m:e>
                          </m:acc>
                        </m:e>
                        <m:sub>
                          <m:r>
                            <a:rPr lang="en-GB" sz="1200" b="0" i="1" smtClean="0">
                              <a:latin typeface="Cambria Math" panose="02040503050406030204" pitchFamily="18" charset="0"/>
                            </a:rPr>
                            <m:t>h𝑝</m:t>
                          </m:r>
                        </m:sub>
                      </m:sSub>
                      <m:sSub>
                        <m:sSubPr>
                          <m:ctrlPr>
                            <a:rPr lang="en-GB" sz="1200" i="1">
                              <a:latin typeface="Cambria Math" panose="02040503050406030204" pitchFamily="18" charset="0"/>
                            </a:rPr>
                          </m:ctrlPr>
                        </m:sSubPr>
                        <m:e>
                          <m:r>
                            <a:rPr lang="en-GB" sz="1200" i="1">
                              <a:latin typeface="Cambria Math" panose="02040503050406030204" pitchFamily="18" charset="0"/>
                            </a:rPr>
                            <m:t>𝐶</m:t>
                          </m:r>
                        </m:e>
                        <m:sub>
                          <m:r>
                            <a:rPr lang="en-GB" sz="1200" i="1">
                              <a:latin typeface="Cambria Math" panose="02040503050406030204" pitchFamily="18" charset="0"/>
                            </a:rPr>
                            <m:t>𝑤𝑎𝑡</m:t>
                          </m:r>
                        </m:sub>
                      </m:sSub>
                      <m:r>
                        <a:rPr lang="en-GB" sz="1200" i="1">
                          <a:latin typeface="Cambria Math" panose="02040503050406030204" pitchFamily="18" charset="0"/>
                        </a:rPr>
                        <m:t>(</m:t>
                      </m:r>
                      <m:sSub>
                        <m:sSubPr>
                          <m:ctrlPr>
                            <a:rPr lang="en-GB" sz="1200" i="1" smtClean="0">
                              <a:solidFill>
                                <a:srgbClr val="FF0000"/>
                              </a:solidFill>
                              <a:latin typeface="Cambria Math" panose="02040503050406030204" pitchFamily="18" charset="0"/>
                            </a:rPr>
                          </m:ctrlPr>
                        </m:sSubPr>
                        <m:e>
                          <m:r>
                            <a:rPr lang="en-GB" sz="1200" i="1">
                              <a:solidFill>
                                <a:srgbClr val="FF0000"/>
                              </a:solidFill>
                              <a:latin typeface="Cambria Math" panose="02040503050406030204" pitchFamily="18" charset="0"/>
                            </a:rPr>
                            <m:t>𝑇</m:t>
                          </m:r>
                        </m:e>
                        <m:sub>
                          <m:r>
                            <a:rPr lang="en-GB" sz="1200" b="0" i="1" smtClean="0">
                              <a:solidFill>
                                <a:srgbClr val="FF0000"/>
                              </a:solidFill>
                              <a:latin typeface="Cambria Math" panose="02040503050406030204" pitchFamily="18" charset="0"/>
                            </a:rPr>
                            <m:t>𝐹</m:t>
                          </m:r>
                        </m:sub>
                      </m:sSub>
                      <m:r>
                        <a:rPr lang="en-GB" sz="1200" i="1">
                          <a:latin typeface="Cambria Math" panose="02040503050406030204" pitchFamily="18" charset="0"/>
                        </a:rPr>
                        <m:t>−</m:t>
                      </m:r>
                      <m:sSub>
                        <m:sSubPr>
                          <m:ctrlPr>
                            <a:rPr lang="en-GB" sz="1200" i="1">
                              <a:latin typeface="Cambria Math" panose="02040503050406030204" pitchFamily="18" charset="0"/>
                            </a:rPr>
                          </m:ctrlPr>
                        </m:sSubPr>
                        <m:e>
                          <m:r>
                            <a:rPr lang="en-GB" sz="1200" i="1">
                              <a:latin typeface="Cambria Math" panose="02040503050406030204" pitchFamily="18" charset="0"/>
                            </a:rPr>
                            <m:t>𝑇</m:t>
                          </m:r>
                        </m:e>
                        <m:sub>
                          <m:r>
                            <a:rPr lang="en-GB" sz="1200" i="1">
                              <a:latin typeface="Cambria Math" panose="02040503050406030204" pitchFamily="18" charset="0"/>
                            </a:rPr>
                            <m:t>2</m:t>
                          </m:r>
                        </m:sub>
                      </m:sSub>
                      <m:r>
                        <a:rPr lang="en-GB" sz="1200" i="1">
                          <a:latin typeface="Cambria Math" panose="02040503050406030204" pitchFamily="18" charset="0"/>
                        </a:rPr>
                        <m:t>)</m:t>
                      </m:r>
                    </m:oMath>
                  </m:oMathPara>
                </a14:m>
                <a:endParaRPr lang="en-DE" sz="1200" dirty="0"/>
              </a:p>
            </p:txBody>
          </p:sp>
        </mc:Choice>
        <mc:Fallback xmlns="">
          <p:sp>
            <p:nvSpPr>
              <p:cNvPr id="7" name="TextBox 6">
                <a:extLst>
                  <a:ext uri="{FF2B5EF4-FFF2-40B4-BE49-F238E27FC236}">
                    <a16:creationId xmlns:a16="http://schemas.microsoft.com/office/drawing/2014/main" id="{44E87098-DEE2-406B-21F7-18BC7AE44CA8}"/>
                  </a:ext>
                </a:extLst>
              </p:cNvPr>
              <p:cNvSpPr txBox="1">
                <a:spLocks noRot="1" noChangeAspect="1" noMove="1" noResize="1" noEditPoints="1" noAdjustHandles="1" noChangeArrowheads="1" noChangeShapeType="1" noTextEdit="1"/>
              </p:cNvSpPr>
              <p:nvPr/>
            </p:nvSpPr>
            <p:spPr>
              <a:xfrm>
                <a:off x="329695" y="1316101"/>
                <a:ext cx="6485365" cy="350609"/>
              </a:xfrm>
              <a:prstGeom prst="rect">
                <a:avLst/>
              </a:prstGeom>
              <a:blipFill>
                <a:blip r:embed="rId3"/>
                <a:stretch>
                  <a:fillRect t="-3509" r="-470" b="-15789"/>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EFCED0E-82CF-4F20-A2D9-D27F3B9E9E94}"/>
                  </a:ext>
                </a:extLst>
              </p:cNvPr>
              <p:cNvSpPr txBox="1"/>
              <p:nvPr/>
            </p:nvSpPr>
            <p:spPr>
              <a:xfrm>
                <a:off x="282629" y="1721897"/>
                <a:ext cx="6485365" cy="350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𝑚</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𝑤𝑎𝑡</m:t>
                          </m:r>
                        </m:sub>
                      </m:sSub>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𝑑</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3</m:t>
                              </m:r>
                            </m:sub>
                          </m:sSub>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 </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4</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3</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3</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2</m:t>
                              </m:r>
                            </m:sub>
                          </m:sSub>
                        </m:e>
                      </m:d>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𝑤𝑡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3</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𝑜𝑎</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𝑡</m:t>
                          </m:r>
                        </m:sub>
                      </m:sSub>
                      <m:sSub>
                        <m:sSubPr>
                          <m:ctrlPr>
                            <a:rPr lang="en-GB" sz="1200" i="1">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𝑤𝑎𝑡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4</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3</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acc>
                            <m:accPr>
                              <m:chr m:val="̇"/>
                              <m:ctrlPr>
                                <a:rPr lang="en-GB" sz="1200" i="1">
                                  <a:latin typeface="Cambria Math" panose="02040503050406030204" pitchFamily="18" charset="0"/>
                                </a:rPr>
                              </m:ctrlPr>
                            </m:accPr>
                            <m:e>
                              <m:r>
                                <a:rPr lang="en-GB" sz="1200" i="1">
                                  <a:latin typeface="Cambria Math" panose="02040503050406030204" pitchFamily="18" charset="0"/>
                                </a:rPr>
                                <m:t>𝑚</m:t>
                              </m:r>
                            </m:e>
                          </m:acc>
                        </m:e>
                        <m:sub>
                          <m:r>
                            <a:rPr lang="en-GB" sz="1200" b="0" i="1" smtClean="0">
                              <a:latin typeface="Cambria Math" panose="02040503050406030204" pitchFamily="18" charset="0"/>
                            </a:rPr>
                            <m:t>h𝑝</m:t>
                          </m:r>
                        </m:sub>
                      </m:sSub>
                      <m:sSub>
                        <m:sSubPr>
                          <m:ctrlPr>
                            <a:rPr lang="en-GB" sz="1200" i="1">
                              <a:latin typeface="Cambria Math" panose="02040503050406030204" pitchFamily="18" charset="0"/>
                            </a:rPr>
                          </m:ctrlPr>
                        </m:sSubPr>
                        <m:e>
                          <m:r>
                            <a:rPr lang="en-GB" sz="1200" i="1">
                              <a:latin typeface="Cambria Math" panose="02040503050406030204" pitchFamily="18" charset="0"/>
                            </a:rPr>
                            <m:t>𝐶</m:t>
                          </m:r>
                        </m:e>
                        <m:sub>
                          <m:r>
                            <a:rPr lang="en-GB" sz="1200" i="1">
                              <a:latin typeface="Cambria Math" panose="02040503050406030204" pitchFamily="18" charset="0"/>
                            </a:rPr>
                            <m:t>𝑤𝑎𝑡</m:t>
                          </m:r>
                        </m:sub>
                      </m:sSub>
                      <m:r>
                        <a:rPr lang="en-GB" sz="1200" i="1">
                          <a:latin typeface="Cambria Math" panose="02040503050406030204" pitchFamily="18" charset="0"/>
                        </a:rPr>
                        <m:t>(</m:t>
                      </m:r>
                      <m:sSub>
                        <m:sSubPr>
                          <m:ctrlPr>
                            <a:rPr lang="en-GB" sz="1200" i="1">
                              <a:latin typeface="Cambria Math" panose="02040503050406030204" pitchFamily="18" charset="0"/>
                            </a:rPr>
                          </m:ctrlPr>
                        </m:sSubPr>
                        <m:e>
                          <m:r>
                            <a:rPr lang="en-GB" sz="1200" i="1">
                              <a:latin typeface="Cambria Math" panose="02040503050406030204" pitchFamily="18" charset="0"/>
                            </a:rPr>
                            <m:t>𝑇</m:t>
                          </m:r>
                        </m:e>
                        <m:sub>
                          <m:r>
                            <a:rPr lang="en-GB" sz="1200" b="0" i="1" smtClean="0">
                              <a:latin typeface="Cambria Math" panose="02040503050406030204" pitchFamily="18" charset="0"/>
                            </a:rPr>
                            <m:t>2</m:t>
                          </m:r>
                        </m:sub>
                      </m:sSub>
                      <m:r>
                        <a:rPr lang="en-GB" sz="1200" i="1">
                          <a:latin typeface="Cambria Math" panose="02040503050406030204" pitchFamily="18" charset="0"/>
                        </a:rPr>
                        <m:t>−</m:t>
                      </m:r>
                      <m:sSub>
                        <m:sSubPr>
                          <m:ctrlPr>
                            <a:rPr lang="en-GB" sz="1200" i="1">
                              <a:latin typeface="Cambria Math" panose="02040503050406030204" pitchFamily="18" charset="0"/>
                            </a:rPr>
                          </m:ctrlPr>
                        </m:sSubPr>
                        <m:e>
                          <m:r>
                            <a:rPr lang="en-GB" sz="1200" i="1">
                              <a:latin typeface="Cambria Math" panose="02040503050406030204" pitchFamily="18" charset="0"/>
                            </a:rPr>
                            <m:t>𝑇</m:t>
                          </m:r>
                        </m:e>
                        <m:sub>
                          <m:r>
                            <a:rPr lang="en-GB" sz="1200" b="0" i="1" smtClean="0">
                              <a:latin typeface="Cambria Math" panose="02040503050406030204" pitchFamily="18" charset="0"/>
                            </a:rPr>
                            <m:t>3</m:t>
                          </m:r>
                        </m:sub>
                      </m:sSub>
                      <m:r>
                        <a:rPr lang="en-GB" sz="1200" i="1">
                          <a:latin typeface="Cambria Math" panose="02040503050406030204" pitchFamily="18" charset="0"/>
                        </a:rPr>
                        <m:t>)</m:t>
                      </m:r>
                    </m:oMath>
                  </m:oMathPara>
                </a14:m>
                <a:endParaRPr lang="en-DE" sz="1200" dirty="0"/>
              </a:p>
            </p:txBody>
          </p:sp>
        </mc:Choice>
        <mc:Fallback xmlns="">
          <p:sp>
            <p:nvSpPr>
              <p:cNvPr id="8" name="TextBox 7">
                <a:extLst>
                  <a:ext uri="{FF2B5EF4-FFF2-40B4-BE49-F238E27FC236}">
                    <a16:creationId xmlns:a16="http://schemas.microsoft.com/office/drawing/2014/main" id="{8EFCED0E-82CF-4F20-A2D9-D27F3B9E9E94}"/>
                  </a:ext>
                </a:extLst>
              </p:cNvPr>
              <p:cNvSpPr txBox="1">
                <a:spLocks noRot="1" noChangeAspect="1" noMove="1" noResize="1" noEditPoints="1" noAdjustHandles="1" noChangeArrowheads="1" noChangeShapeType="1" noTextEdit="1"/>
              </p:cNvSpPr>
              <p:nvPr/>
            </p:nvSpPr>
            <p:spPr>
              <a:xfrm>
                <a:off x="282629" y="1721897"/>
                <a:ext cx="6485365" cy="350609"/>
              </a:xfrm>
              <a:prstGeom prst="rect">
                <a:avLst/>
              </a:prstGeom>
              <a:blipFill>
                <a:blip r:embed="rId4"/>
                <a:stretch>
                  <a:fillRect t="-3448" b="-15517"/>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666FD05-5B32-8934-AA30-CED7A49A646E}"/>
                  </a:ext>
                </a:extLst>
              </p:cNvPr>
              <p:cNvSpPr txBox="1"/>
              <p:nvPr/>
            </p:nvSpPr>
            <p:spPr>
              <a:xfrm>
                <a:off x="329695" y="2127693"/>
                <a:ext cx="4829014" cy="350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𝑚</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𝑤𝑎𝑡</m:t>
                          </m:r>
                        </m:sub>
                      </m:sSub>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𝑑</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4</m:t>
                              </m:r>
                            </m:sub>
                          </m:sSub>
                        </m:num>
                        <m:den>
                          <m:r>
                            <a:rPr lang="en-GB" sz="1200" b="0" i="1" smtClean="0">
                              <a:latin typeface="Cambria Math" panose="02040503050406030204" pitchFamily="18" charset="0"/>
                            </a:rPr>
                            <m:t>𝑑𝑡</m:t>
                          </m:r>
                        </m:den>
                      </m:f>
                      <m:r>
                        <a:rPr lang="en-GB" sz="1200" b="0" i="1" smtClean="0">
                          <a:latin typeface="Cambria Math" panose="02040503050406030204" pitchFamily="18" charset="0"/>
                        </a:rPr>
                        <m:t>= </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3</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4</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𝑘</m:t>
                          </m:r>
                        </m:e>
                        <m:sub>
                          <m:r>
                            <a:rPr lang="en-GB" sz="1200" b="0" i="1" smtClean="0">
                              <a:latin typeface="Cambria Math" panose="02040503050406030204" pitchFamily="18" charset="0"/>
                            </a:rPr>
                            <m:t>𝑤𝑡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4</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𝑜𝑎</m:t>
                              </m:r>
                            </m:sub>
                          </m:sSub>
                        </m:e>
                      </m:d>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𝑡</m:t>
                          </m:r>
                        </m:sub>
                      </m:sSub>
                      <m:sSub>
                        <m:sSubPr>
                          <m:ctrlPr>
                            <a:rPr lang="en-GB" sz="1200" i="1">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𝑤𝑎𝑡</m:t>
                          </m:r>
                        </m:sub>
                      </m:sSub>
                      <m:d>
                        <m:dPr>
                          <m:ctrlPr>
                            <a:rPr lang="en-GB" sz="1200" b="0" i="1" smtClean="0">
                              <a:latin typeface="Cambria Math" panose="02040503050406030204" pitchFamily="18" charset="0"/>
                            </a:rPr>
                          </m:ctrlPr>
                        </m:dPr>
                        <m:e>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1</m:t>
                              </m:r>
                            </m:sub>
                          </m:sSub>
                          <m:r>
                            <a:rPr lang="en-GB" sz="1200" b="0" i="1" smtClean="0">
                              <a:latin typeface="Cambria Math" panose="02040503050406030204" pitchFamily="18" charset="0"/>
                            </a:rPr>
                            <m:t>−</m:t>
                          </m:r>
                          <m:sSub>
                            <m:sSubPr>
                              <m:ctrlPr>
                                <a:rPr lang="en-GB" sz="1200" i="1">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4</m:t>
                              </m:r>
                            </m:sub>
                          </m:sSub>
                        </m:e>
                      </m:d>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𝑄</m:t>
                          </m:r>
                        </m:e>
                        <m:sub>
                          <m:r>
                            <a:rPr lang="en-GB" sz="1200" b="0" i="1" smtClean="0">
                              <a:latin typeface="Cambria Math" panose="02040503050406030204" pitchFamily="18" charset="0"/>
                            </a:rPr>
                            <m:t>𝐷𝑒𝑚𝑎𝑛𝑑</m:t>
                          </m:r>
                        </m:sub>
                      </m:sSub>
                    </m:oMath>
                  </m:oMathPara>
                </a14:m>
                <a:endParaRPr lang="en-DE" sz="1200" dirty="0"/>
              </a:p>
            </p:txBody>
          </p:sp>
        </mc:Choice>
        <mc:Fallback xmlns="">
          <p:sp>
            <p:nvSpPr>
              <p:cNvPr id="9" name="TextBox 8">
                <a:extLst>
                  <a:ext uri="{FF2B5EF4-FFF2-40B4-BE49-F238E27FC236}">
                    <a16:creationId xmlns:a16="http://schemas.microsoft.com/office/drawing/2014/main" id="{8666FD05-5B32-8934-AA30-CED7A49A646E}"/>
                  </a:ext>
                </a:extLst>
              </p:cNvPr>
              <p:cNvSpPr txBox="1">
                <a:spLocks noRot="1" noChangeAspect="1" noMove="1" noResize="1" noEditPoints="1" noAdjustHandles="1" noChangeArrowheads="1" noChangeShapeType="1" noTextEdit="1"/>
              </p:cNvSpPr>
              <p:nvPr/>
            </p:nvSpPr>
            <p:spPr>
              <a:xfrm>
                <a:off x="329695" y="2127693"/>
                <a:ext cx="4829014" cy="350609"/>
              </a:xfrm>
              <a:prstGeom prst="rect">
                <a:avLst/>
              </a:prstGeom>
              <a:blipFill>
                <a:blip r:embed="rId5"/>
                <a:stretch>
                  <a:fillRect t="-3448" b="-15517"/>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A098F62-9365-65F5-36C3-7C03B7C0957E}"/>
                  </a:ext>
                </a:extLst>
              </p:cNvPr>
              <p:cNvSpPr txBox="1"/>
              <p:nvPr/>
            </p:nvSpPr>
            <p:spPr>
              <a:xfrm>
                <a:off x="420534" y="2844502"/>
                <a:ext cx="1302984" cy="4031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solidFill>
                                <a:srgbClr val="FF0000"/>
                              </a:solidFill>
                              <a:latin typeface="Cambria Math" panose="02040503050406030204" pitchFamily="18" charset="0"/>
                            </a:rPr>
                          </m:ctrlPr>
                        </m:sSubPr>
                        <m:e>
                          <m:r>
                            <a:rPr lang="en-GB" sz="1200" b="0" i="1" smtClean="0">
                              <a:solidFill>
                                <a:srgbClr val="FF0000"/>
                              </a:solidFill>
                              <a:latin typeface="Cambria Math" panose="02040503050406030204" pitchFamily="18" charset="0"/>
                            </a:rPr>
                            <m:t>𝑇</m:t>
                          </m:r>
                        </m:e>
                        <m:sub>
                          <m:r>
                            <a:rPr lang="en-GB" sz="1200" b="0" i="1" smtClean="0">
                              <a:solidFill>
                                <a:srgbClr val="FF0000"/>
                              </a:solidFill>
                              <a:latin typeface="Cambria Math" panose="02040503050406030204" pitchFamily="18" charset="0"/>
                            </a:rPr>
                            <m:t>𝐹</m:t>
                          </m:r>
                        </m:sub>
                      </m:sSub>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𝑄</m:t>
                              </m:r>
                            </m:e>
                            <m:sub>
                              <m:r>
                                <a:rPr lang="en-GB" sz="1200" b="0" i="1" smtClean="0">
                                  <a:latin typeface="Cambria Math" panose="02040503050406030204" pitchFamily="18" charset="0"/>
                                </a:rPr>
                                <m:t>h𝑝</m:t>
                              </m:r>
                            </m:sub>
                          </m:sSub>
                        </m:num>
                        <m:den>
                          <m:sSub>
                            <m:sSubPr>
                              <m:ctrlPr>
                                <a:rPr lang="en-GB" sz="1200" b="0" i="1" smtClean="0">
                                  <a:latin typeface="Cambria Math" panose="02040503050406030204" pitchFamily="18" charset="0"/>
                                </a:rPr>
                              </m:ctrlPr>
                            </m:sSubPr>
                            <m:e>
                              <m:acc>
                                <m:accPr>
                                  <m:chr m:val="̇"/>
                                  <m:ctrlPr>
                                    <a:rPr lang="en-GB" sz="1200" b="0" i="1" smtClean="0">
                                      <a:latin typeface="Cambria Math" panose="02040503050406030204" pitchFamily="18" charset="0"/>
                                    </a:rPr>
                                  </m:ctrlPr>
                                </m:accPr>
                                <m:e>
                                  <m:r>
                                    <a:rPr lang="en-GB" sz="1200" b="0" i="1" smtClean="0">
                                      <a:latin typeface="Cambria Math" panose="02040503050406030204" pitchFamily="18" charset="0"/>
                                    </a:rPr>
                                    <m:t>𝑚</m:t>
                                  </m:r>
                                </m:e>
                              </m:acc>
                            </m:e>
                            <m:sub>
                              <m:r>
                                <a:rPr lang="en-GB" sz="1200" b="0" i="1" smtClean="0">
                                  <a:latin typeface="Cambria Math" panose="02040503050406030204" pitchFamily="18" charset="0"/>
                                </a:rPr>
                                <m:t>h𝑝</m:t>
                              </m:r>
                            </m:sub>
                          </m:sSub>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𝐶</m:t>
                              </m:r>
                            </m:e>
                            <m:sub>
                              <m:r>
                                <a:rPr lang="en-GB" sz="1200" b="0" i="1" smtClean="0">
                                  <a:latin typeface="Cambria Math" panose="02040503050406030204" pitchFamily="18" charset="0"/>
                                </a:rPr>
                                <m:t>𝑤𝑎𝑡</m:t>
                              </m:r>
                            </m:sub>
                          </m:sSub>
                        </m:den>
                      </m:f>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𝑇</m:t>
                          </m:r>
                        </m:e>
                        <m:sub>
                          <m:r>
                            <a:rPr lang="en-GB" sz="1200" b="0" i="1" smtClean="0">
                              <a:latin typeface="Cambria Math" panose="02040503050406030204" pitchFamily="18" charset="0"/>
                            </a:rPr>
                            <m:t>3</m:t>
                          </m:r>
                        </m:sub>
                      </m:sSub>
                    </m:oMath>
                  </m:oMathPara>
                </a14:m>
                <a:endParaRPr lang="en-DE" sz="1200" dirty="0"/>
              </a:p>
            </p:txBody>
          </p:sp>
        </mc:Choice>
        <mc:Fallback xmlns="">
          <p:sp>
            <p:nvSpPr>
              <p:cNvPr id="10" name="TextBox 9">
                <a:extLst>
                  <a:ext uri="{FF2B5EF4-FFF2-40B4-BE49-F238E27FC236}">
                    <a16:creationId xmlns:a16="http://schemas.microsoft.com/office/drawing/2014/main" id="{1A098F62-9365-65F5-36C3-7C03B7C0957E}"/>
                  </a:ext>
                </a:extLst>
              </p:cNvPr>
              <p:cNvSpPr txBox="1">
                <a:spLocks noRot="1" noChangeAspect="1" noMove="1" noResize="1" noEditPoints="1" noAdjustHandles="1" noChangeArrowheads="1" noChangeShapeType="1" noTextEdit="1"/>
              </p:cNvSpPr>
              <p:nvPr/>
            </p:nvSpPr>
            <p:spPr>
              <a:xfrm>
                <a:off x="420534" y="2844502"/>
                <a:ext cx="1302984" cy="403187"/>
              </a:xfrm>
              <a:prstGeom prst="rect">
                <a:avLst/>
              </a:prstGeom>
              <a:blipFill>
                <a:blip r:embed="rId6"/>
                <a:stretch>
                  <a:fillRect l="-2336" t="-4545" b="-10606"/>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E3C3889-1C84-914B-A4B0-2E8CFC7BDB80}"/>
                  </a:ext>
                </a:extLst>
              </p:cNvPr>
              <p:cNvSpPr txBox="1"/>
              <p:nvPr/>
            </p:nvSpPr>
            <p:spPr>
              <a:xfrm>
                <a:off x="420534" y="3305225"/>
                <a:ext cx="1150443" cy="1989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DE" sz="1200" i="1" smtClean="0">
                              <a:latin typeface="Cambria Math" panose="02040503050406030204" pitchFamily="18" charset="0"/>
                            </a:rPr>
                          </m:ctrlPr>
                        </m:sSubPr>
                        <m:e>
                          <m:r>
                            <a:rPr lang="en-GB" sz="1200" b="0" i="1" smtClean="0">
                              <a:latin typeface="Cambria Math" panose="02040503050406030204" pitchFamily="18" charset="0"/>
                            </a:rPr>
                            <m:t>𝑄</m:t>
                          </m:r>
                        </m:e>
                        <m:sub>
                          <m:r>
                            <a:rPr lang="en-GB" sz="1200" b="0" i="1" smtClean="0">
                              <a:latin typeface="Cambria Math" panose="02040503050406030204" pitchFamily="18" charset="0"/>
                            </a:rPr>
                            <m:t>h𝑝</m:t>
                          </m:r>
                        </m:sub>
                      </m:sSub>
                      <m:r>
                        <a:rPr lang="en-GB" sz="1200" b="0" i="1" smtClean="0">
                          <a:latin typeface="Cambria Math" panose="02040503050406030204" pitchFamily="18" charset="0"/>
                        </a:rPr>
                        <m:t>=</m:t>
                      </m:r>
                      <m:r>
                        <a:rPr lang="en-GB" sz="1200" b="0" i="1" smtClean="0">
                          <a:latin typeface="Cambria Math" panose="02040503050406030204" pitchFamily="18" charset="0"/>
                        </a:rPr>
                        <m:t>𝐶𝑂𝑃</m:t>
                      </m:r>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𝑃</m:t>
                          </m:r>
                        </m:e>
                        <m:sub>
                          <m:r>
                            <a:rPr lang="en-GB" sz="1200" b="0" i="1" smtClean="0">
                              <a:latin typeface="Cambria Math" panose="02040503050406030204" pitchFamily="18" charset="0"/>
                            </a:rPr>
                            <m:t>h𝑝</m:t>
                          </m:r>
                        </m:sub>
                      </m:sSub>
                    </m:oMath>
                  </m:oMathPara>
                </a14:m>
                <a:endParaRPr lang="en-DE" sz="1200" dirty="0"/>
              </a:p>
            </p:txBody>
          </p:sp>
        </mc:Choice>
        <mc:Fallback xmlns="">
          <p:sp>
            <p:nvSpPr>
              <p:cNvPr id="11" name="TextBox 10">
                <a:extLst>
                  <a:ext uri="{FF2B5EF4-FFF2-40B4-BE49-F238E27FC236}">
                    <a16:creationId xmlns:a16="http://schemas.microsoft.com/office/drawing/2014/main" id="{BE3C3889-1C84-914B-A4B0-2E8CFC7BDB80}"/>
                  </a:ext>
                </a:extLst>
              </p:cNvPr>
              <p:cNvSpPr txBox="1">
                <a:spLocks noRot="1" noChangeAspect="1" noMove="1" noResize="1" noEditPoints="1" noAdjustHandles="1" noChangeArrowheads="1" noChangeShapeType="1" noTextEdit="1"/>
              </p:cNvSpPr>
              <p:nvPr/>
            </p:nvSpPr>
            <p:spPr>
              <a:xfrm>
                <a:off x="420534" y="3305225"/>
                <a:ext cx="1150443" cy="198965"/>
              </a:xfrm>
              <a:prstGeom prst="rect">
                <a:avLst/>
              </a:prstGeom>
              <a:blipFill>
                <a:blip r:embed="rId7"/>
                <a:stretch>
                  <a:fillRect l="-3704" r="-1058" b="-21212"/>
                </a:stretch>
              </a:blipFill>
            </p:spPr>
            <p:txBody>
              <a:bodyPr/>
              <a:lstStyle/>
              <a:p>
                <a:r>
                  <a:rPr lang="en-DE">
                    <a:noFill/>
                  </a:rPr>
                  <a:t> </a:t>
                </a:r>
              </a:p>
            </p:txBody>
          </p:sp>
        </mc:Fallback>
      </mc:AlternateContent>
      <p:pic>
        <p:nvPicPr>
          <p:cNvPr id="17" name="Picture 16" descr="A picture containing text, diagram, font, screenshot&#10;&#10;Description automatically generated">
            <a:extLst>
              <a:ext uri="{FF2B5EF4-FFF2-40B4-BE49-F238E27FC236}">
                <a16:creationId xmlns:a16="http://schemas.microsoft.com/office/drawing/2014/main" id="{0EEDBE8B-57B0-AE6C-83CB-B10826BE6900}"/>
              </a:ext>
            </a:extLst>
          </p:cNvPr>
          <p:cNvPicPr>
            <a:picLocks noChangeAspect="1"/>
          </p:cNvPicPr>
          <p:nvPr/>
        </p:nvPicPr>
        <p:blipFill>
          <a:blip r:embed="rId8"/>
          <a:stretch>
            <a:fillRect/>
          </a:stretch>
        </p:blipFill>
        <p:spPr>
          <a:xfrm>
            <a:off x="3804794" y="2894622"/>
            <a:ext cx="4336888" cy="1660438"/>
          </a:xfrm>
          <a:prstGeom prst="rect">
            <a:avLst/>
          </a:prstGeom>
        </p:spPr>
      </p:pic>
    </p:spTree>
    <p:extLst>
      <p:ext uri="{BB962C8B-B14F-4D97-AF65-F5344CB8AC3E}">
        <p14:creationId xmlns:p14="http://schemas.microsoft.com/office/powerpoint/2010/main" val="16753426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A4EEBF-A581-7AA2-F2AA-0936DACB01A6}"/>
              </a:ext>
            </a:extLst>
          </p:cNvPr>
          <p:cNvSpPr>
            <a:spLocks noGrp="1"/>
          </p:cNvSpPr>
          <p:nvPr>
            <p:ph idx="1"/>
          </p:nvPr>
        </p:nvSpPr>
        <p:spPr/>
        <p:txBody>
          <a:bodyPr/>
          <a:lstStyle/>
          <a:p>
            <a:r>
              <a:rPr lang="en-US" sz="1200" dirty="0"/>
              <a:t>Pérez-Lombard L., Ortiz J., Pout C. (2008). "A review on buildings energy consumption information". In: Energy and Building, pp. 394-398. </a:t>
            </a:r>
          </a:p>
          <a:p>
            <a:r>
              <a:rPr lang="en-US" sz="1200" b="0" i="0" u="none" strike="noStrike" baseline="0" dirty="0" err="1"/>
              <a:t>Satyavada</a:t>
            </a:r>
            <a:r>
              <a:rPr lang="en-US" sz="1200" b="0" i="0" u="none" strike="noStrike" baseline="0" dirty="0"/>
              <a:t>, H. and </a:t>
            </a:r>
            <a:r>
              <a:rPr lang="en-US" sz="1200" b="0" i="0" u="none" strike="noStrike" baseline="0" dirty="0" err="1"/>
              <a:t>Baldi</a:t>
            </a:r>
            <a:r>
              <a:rPr lang="en-US" sz="1200" b="0" i="0" u="none" strike="noStrike" baseline="0" dirty="0"/>
              <a:t>, S. (Apr. 2016). “An integrated control-oriented modelling for HVAC performance benchmarking”. In: pp. 262–273. </a:t>
            </a:r>
          </a:p>
          <a:p>
            <a:pPr algn="l"/>
            <a:r>
              <a:rPr lang="en-GB" sz="1200" b="0" i="0" u="none" strike="noStrike" baseline="0" dirty="0" err="1"/>
              <a:t>Fiducioso</a:t>
            </a:r>
            <a:r>
              <a:rPr lang="en-GB" sz="1200" b="0" i="0" u="none" strike="noStrike" baseline="0" dirty="0"/>
              <a:t>, M., </a:t>
            </a:r>
            <a:r>
              <a:rPr lang="en-GB" sz="1200" b="0" i="0" u="none" strike="noStrike" baseline="0" dirty="0" err="1"/>
              <a:t>Curi</a:t>
            </a:r>
            <a:r>
              <a:rPr lang="en-GB" sz="1200" b="0" i="0" u="none" strike="noStrike" baseline="0" dirty="0"/>
              <a:t>, S., Schumacher, B., </a:t>
            </a:r>
            <a:r>
              <a:rPr lang="en-GB" sz="1200" b="0" i="0" u="none" strike="noStrike" baseline="0" dirty="0" err="1"/>
              <a:t>Gwerder</a:t>
            </a:r>
            <a:r>
              <a:rPr lang="en-GB" sz="1200" b="0" i="0" u="none" strike="noStrike" baseline="0" dirty="0"/>
              <a:t>, M., and Krause, A. (2019). Safe </a:t>
            </a:r>
            <a:r>
              <a:rPr lang="en-US" sz="1200" b="0" i="0" u="none" strike="noStrike" baseline="0" dirty="0"/>
              <a:t>Contextual Bayesian Optimization for Sustainable Room Temperature PID Control </a:t>
            </a:r>
            <a:r>
              <a:rPr lang="en-GB" sz="1200" b="0" i="0" u="none" strike="noStrike" baseline="0" dirty="0"/>
              <a:t>Tuning.</a:t>
            </a:r>
          </a:p>
          <a:p>
            <a:pPr algn="l"/>
            <a:r>
              <a:rPr lang="en-US" sz="1200" b="0" i="0" u="none" strike="noStrike" baseline="0" dirty="0" err="1"/>
              <a:t>Afram</a:t>
            </a:r>
            <a:r>
              <a:rPr lang="en-US" sz="1200" b="0" i="0" u="none" strike="noStrike" baseline="0" dirty="0"/>
              <a:t>, A., </a:t>
            </a:r>
            <a:r>
              <a:rPr lang="en-US" sz="1200" b="0" i="0" u="none" strike="noStrike" baseline="0" dirty="0" err="1"/>
              <a:t>Janabi</a:t>
            </a:r>
            <a:r>
              <a:rPr lang="en-US" sz="1200" b="0" i="0" u="none" strike="noStrike" baseline="0" dirty="0"/>
              <a:t>-Sharifi, F., Fung, A. S., and </a:t>
            </a:r>
            <a:r>
              <a:rPr lang="en-US" sz="1200" b="0" i="0" u="none" strike="noStrike" baseline="0" dirty="0" err="1"/>
              <a:t>Raahemifar</a:t>
            </a:r>
            <a:r>
              <a:rPr lang="en-US" sz="1200" b="0" i="0" u="none" strike="noStrike" baseline="0" dirty="0"/>
              <a:t>, K. (Apr. 2017). “Artificial neural network (ANN) based model predictive control (MPC) and optimization of HVAC systems: A state of the art review and case study of a residential HVAC system”. In: Energy and Buildings Vol. 141, pp. 96–113.</a:t>
            </a:r>
          </a:p>
          <a:p>
            <a:pPr algn="l"/>
            <a:r>
              <a:rPr lang="en-US" sz="1200" b="0" i="0" u="none" strike="noStrike" baseline="0" dirty="0"/>
              <a:t>Shepherd, A. B. and Batty, W. J. (Feb. 2003). “Fuzzy control strategies to provide cost and energy efficient high quality indoor environments in buildings with high occupant densities”. In: Building Services Engineering Research and Technology Vol. </a:t>
            </a:r>
            <a:r>
              <a:rPr lang="en-GB" sz="1200" b="0" i="0" u="none" strike="noStrike" baseline="0" dirty="0"/>
              <a:t>24 (1), pp. 35–45.</a:t>
            </a:r>
          </a:p>
          <a:p>
            <a:pPr algn="l"/>
            <a:r>
              <a:rPr lang="en-GB" sz="1200" b="0" i="0" u="none" strike="noStrike" baseline="0" dirty="0" err="1"/>
              <a:t>Soetedjo</a:t>
            </a:r>
            <a:r>
              <a:rPr lang="en-GB" sz="1200" b="0" i="0" u="none" strike="noStrike" baseline="0" dirty="0"/>
              <a:t>, A., </a:t>
            </a:r>
            <a:r>
              <a:rPr lang="en-GB" sz="1200" b="0" i="0" u="none" strike="noStrike" baseline="0" dirty="0" err="1"/>
              <a:t>Nakhoda</a:t>
            </a:r>
            <a:r>
              <a:rPr lang="en-GB" sz="1200" b="0" i="0" u="none" strike="noStrike" baseline="0" dirty="0"/>
              <a:t>, Y. I., and Saleh, C. (2018). “Embedded Fuzzy Logic Controller </a:t>
            </a:r>
            <a:r>
              <a:rPr lang="en-US" sz="1200" b="0" i="0" u="none" strike="noStrike" baseline="0" dirty="0"/>
              <a:t>and Wireless Communication for Home Energy Management Systems”. In: </a:t>
            </a:r>
            <a:r>
              <a:rPr lang="en-GB" sz="1200" b="0" i="0" u="none" strike="noStrike" baseline="0" dirty="0"/>
              <a:t>Electronics Vol. 7 (9).</a:t>
            </a:r>
          </a:p>
          <a:p>
            <a:pPr algn="l"/>
            <a:r>
              <a:rPr lang="en-US" sz="1200" b="0" i="0" u="none" strike="noStrike" baseline="0" dirty="0"/>
              <a:t>Ashraf, M., </a:t>
            </a:r>
            <a:r>
              <a:rPr lang="en-US" sz="1200" b="0" i="0" u="none" strike="noStrike" baseline="0" dirty="0" err="1"/>
              <a:t>Adly</a:t>
            </a:r>
            <a:r>
              <a:rPr lang="en-US" sz="1200" b="0" i="0" u="none" strike="noStrike" baseline="0" dirty="0"/>
              <a:t>, I., and Shehata, K. (Apr. 2018). “IoT-BASED SMART BUILDING MANAGEMENT SYSTEM”. In: The International Conference on Electrical </a:t>
            </a:r>
            <a:r>
              <a:rPr lang="nl-NL" sz="1200" b="0" i="0" u="none" strike="noStrike" baseline="0" dirty="0"/>
              <a:t>Engineering Vol. 11 (11), pp. 1–15.</a:t>
            </a:r>
            <a:endParaRPr lang="en-DE" sz="1000" dirty="0"/>
          </a:p>
        </p:txBody>
      </p:sp>
      <p:sp>
        <p:nvSpPr>
          <p:cNvPr id="3" name="Title 2">
            <a:extLst>
              <a:ext uri="{FF2B5EF4-FFF2-40B4-BE49-F238E27FC236}">
                <a16:creationId xmlns:a16="http://schemas.microsoft.com/office/drawing/2014/main" id="{A4B040EB-C093-3643-59D4-D6DC742776BE}"/>
              </a:ext>
            </a:extLst>
          </p:cNvPr>
          <p:cNvSpPr>
            <a:spLocks noGrp="1"/>
          </p:cNvSpPr>
          <p:nvPr>
            <p:ph type="title"/>
          </p:nvPr>
        </p:nvSpPr>
        <p:spPr/>
        <p:txBody>
          <a:bodyPr/>
          <a:lstStyle/>
          <a:p>
            <a:r>
              <a:rPr lang="en-GB" dirty="0"/>
              <a:t>References</a:t>
            </a:r>
            <a:endParaRPr lang="en-DE" dirty="0"/>
          </a:p>
        </p:txBody>
      </p:sp>
    </p:spTree>
    <p:extLst>
      <p:ext uri="{BB962C8B-B14F-4D97-AF65-F5344CB8AC3E}">
        <p14:creationId xmlns:p14="http://schemas.microsoft.com/office/powerpoint/2010/main" val="20600136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923778-1FAC-87B3-F62C-54A920B94A1D}"/>
              </a:ext>
            </a:extLst>
          </p:cNvPr>
          <p:cNvSpPr>
            <a:spLocks noGrp="1"/>
          </p:cNvSpPr>
          <p:nvPr>
            <p:ph idx="1"/>
          </p:nvPr>
        </p:nvSpPr>
        <p:spPr/>
        <p:txBody>
          <a:bodyPr/>
          <a:lstStyle/>
          <a:p>
            <a:pPr algn="l"/>
            <a:r>
              <a:rPr lang="en-US" sz="1200" b="0" i="0" u="none" strike="noStrike" baseline="0" dirty="0" err="1"/>
              <a:t>Afram</a:t>
            </a:r>
            <a:r>
              <a:rPr lang="en-US" sz="1200" b="0" i="0" u="none" strike="noStrike" baseline="0" dirty="0"/>
              <a:t>, A. and </a:t>
            </a:r>
            <a:r>
              <a:rPr lang="en-US" sz="1200" b="0" i="0" u="none" strike="noStrike" baseline="0" dirty="0" err="1"/>
              <a:t>Janabi</a:t>
            </a:r>
            <a:r>
              <a:rPr lang="en-US" sz="1200" b="0" i="0" u="none" strike="noStrike" baseline="0" dirty="0"/>
              <a:t>-Sharifi, F. (2014). Theory and applications of HVAC control systems - A review of model predictive control (MPC).</a:t>
            </a:r>
          </a:p>
          <a:p>
            <a:pPr algn="l"/>
            <a:r>
              <a:rPr lang="it-IT" sz="1200" b="0" i="0" u="none" strike="noStrike" baseline="0" dirty="0"/>
              <a:t>Serale, G., Fiorentini, M., Capozzoli, A., Bernardini, D., and Bemporad, A. (Feb. </a:t>
            </a:r>
            <a:r>
              <a:rPr lang="en-US" sz="1200" b="0" i="0" u="none" strike="noStrike" baseline="0" dirty="0"/>
              <a:t>2018). “Model Predictive Control (MPC) for enhancing building and HVAC system energy efficiency: Problem formulation, applications and opportunities”. In: Energies </a:t>
            </a:r>
            <a:r>
              <a:rPr lang="en-GB" sz="1200" b="0" i="0" u="none" strike="noStrike" baseline="0" dirty="0"/>
              <a:t>Vol. 11 (3).</a:t>
            </a:r>
          </a:p>
          <a:p>
            <a:pPr algn="l"/>
            <a:r>
              <a:rPr lang="en-GB" sz="1200" b="0" i="0" u="none" strike="noStrike" baseline="0" dirty="0"/>
              <a:t>Cigler, J., </a:t>
            </a:r>
            <a:r>
              <a:rPr lang="en-GB" sz="1200" b="0" i="0" u="none" strike="noStrike" baseline="0" dirty="0" err="1"/>
              <a:t>Gyalistras</a:t>
            </a:r>
            <a:r>
              <a:rPr lang="en-GB" sz="1200" b="0" i="0" u="none" strike="noStrike" baseline="0" dirty="0"/>
              <a:t>, D., ˇ </a:t>
            </a:r>
            <a:r>
              <a:rPr lang="en-GB" sz="1200" b="0" i="0" u="none" strike="noStrike" baseline="0" dirty="0" err="1"/>
              <a:t>Sirok´y</a:t>
            </a:r>
            <a:r>
              <a:rPr lang="en-GB" sz="1200" b="0" i="0" u="none" strike="noStrike" baseline="0" dirty="0"/>
              <a:t>, J., </a:t>
            </a:r>
            <a:r>
              <a:rPr lang="en-GB" sz="1200" b="0" i="0" u="none" strike="noStrike" baseline="0" dirty="0" err="1"/>
              <a:t>Tiet</a:t>
            </a:r>
            <a:r>
              <a:rPr lang="en-GB" sz="1200" b="0" i="0" u="none" strike="noStrike" baseline="0" dirty="0"/>
              <a:t>, V.-N., and </a:t>
            </a:r>
            <a:r>
              <a:rPr lang="en-GB" sz="1200" b="0" i="0" u="none" strike="noStrike" baseline="0" dirty="0" err="1"/>
              <a:t>Ferkl</a:t>
            </a:r>
            <a:r>
              <a:rPr lang="en-GB" sz="1200" b="0" i="0" u="none" strike="noStrike" baseline="0" dirty="0"/>
              <a:t>, L. (2013). Beyond theory: </a:t>
            </a:r>
            <a:r>
              <a:rPr lang="en-US" sz="1200" b="0" i="0" u="none" strike="noStrike" baseline="0" dirty="0"/>
              <a:t>the challenge of implementing Model Predictive Control in buildings.</a:t>
            </a:r>
          </a:p>
          <a:p>
            <a:pPr algn="l"/>
            <a:r>
              <a:rPr lang="en-US" sz="1200" b="0" i="0" u="none" strike="noStrike" baseline="0" dirty="0" err="1"/>
              <a:t>Mirakhorli</a:t>
            </a:r>
            <a:r>
              <a:rPr lang="en-US" sz="1200" b="0" i="0" u="none" strike="noStrike" baseline="0" dirty="0"/>
              <a:t>, A. and Dong, B. (2016). “Occupancy behavior-based model predictive control for building indoor climate—A critical review”. In: Energy and Buildings Vol. 129. Model the occupant with RC network, pp. 499–513.</a:t>
            </a:r>
          </a:p>
          <a:p>
            <a:pPr algn="l"/>
            <a:endParaRPr lang="en-DE" sz="1200" dirty="0"/>
          </a:p>
        </p:txBody>
      </p:sp>
      <p:sp>
        <p:nvSpPr>
          <p:cNvPr id="3" name="Title 2">
            <a:extLst>
              <a:ext uri="{FF2B5EF4-FFF2-40B4-BE49-F238E27FC236}">
                <a16:creationId xmlns:a16="http://schemas.microsoft.com/office/drawing/2014/main" id="{215CD5E1-DB12-5B11-473B-ADA161AA2A08}"/>
              </a:ext>
            </a:extLst>
          </p:cNvPr>
          <p:cNvSpPr>
            <a:spLocks noGrp="1"/>
          </p:cNvSpPr>
          <p:nvPr>
            <p:ph type="title"/>
          </p:nvPr>
        </p:nvSpPr>
        <p:spPr/>
        <p:txBody>
          <a:bodyPr/>
          <a:lstStyle/>
          <a:p>
            <a:r>
              <a:rPr lang="en-GB" dirty="0"/>
              <a:t>References</a:t>
            </a:r>
            <a:endParaRPr lang="en-DE" dirty="0"/>
          </a:p>
        </p:txBody>
      </p:sp>
    </p:spTree>
    <p:extLst>
      <p:ext uri="{BB962C8B-B14F-4D97-AF65-F5344CB8AC3E}">
        <p14:creationId xmlns:p14="http://schemas.microsoft.com/office/powerpoint/2010/main" val="7962948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0A8628-9828-4A10-672A-F6B3FB27473C}"/>
              </a:ext>
            </a:extLst>
          </p:cNvPr>
          <p:cNvSpPr>
            <a:spLocks noGrp="1"/>
          </p:cNvSpPr>
          <p:nvPr>
            <p:ph type="title"/>
          </p:nvPr>
        </p:nvSpPr>
        <p:spPr/>
        <p:txBody>
          <a:bodyPr/>
          <a:lstStyle/>
          <a:p>
            <a:r>
              <a:rPr lang="en-GB" dirty="0"/>
              <a:t>Q&amp;A Session</a:t>
            </a:r>
            <a:endParaRPr lang="en-DE" dirty="0"/>
          </a:p>
        </p:txBody>
      </p:sp>
      <p:sp>
        <p:nvSpPr>
          <p:cNvPr id="6" name="TextBox 5">
            <a:extLst>
              <a:ext uri="{FF2B5EF4-FFF2-40B4-BE49-F238E27FC236}">
                <a16:creationId xmlns:a16="http://schemas.microsoft.com/office/drawing/2014/main" id="{42E09389-D8DE-BCFC-1FC7-0EC05757BE4F}"/>
              </a:ext>
            </a:extLst>
          </p:cNvPr>
          <p:cNvSpPr txBox="1"/>
          <p:nvPr/>
        </p:nvSpPr>
        <p:spPr>
          <a:xfrm>
            <a:off x="2787946" y="2024679"/>
            <a:ext cx="3560334" cy="646331"/>
          </a:xfrm>
          <a:prstGeom prst="rect">
            <a:avLst/>
          </a:prstGeom>
          <a:noFill/>
        </p:spPr>
        <p:txBody>
          <a:bodyPr wrap="none" rtlCol="0">
            <a:spAutoFit/>
          </a:bodyPr>
          <a:lstStyle/>
          <a:p>
            <a:r>
              <a:rPr lang="en-GB" dirty="0"/>
              <a:t>Thank you for your attention!</a:t>
            </a:r>
          </a:p>
          <a:p>
            <a:r>
              <a:rPr lang="en-GB" dirty="0"/>
              <a:t>Please feel free to ask any question!</a:t>
            </a:r>
          </a:p>
        </p:txBody>
      </p:sp>
    </p:spTree>
    <p:extLst>
      <p:ext uri="{BB962C8B-B14F-4D97-AF65-F5344CB8AC3E}">
        <p14:creationId xmlns:p14="http://schemas.microsoft.com/office/powerpoint/2010/main" val="3336372483"/>
      </p:ext>
    </p:extLst>
  </p:cSld>
  <p:clrMapOvr>
    <a:masterClrMapping/>
  </p:clrMapOvr>
</p:sld>
</file>

<file path=ppt/theme/theme1.xml><?xml version="1.0" encoding="utf-8"?>
<a:theme xmlns:a="http://schemas.openxmlformats.org/drawingml/2006/main" name="blank">
  <a:themeElements>
    <a:clrScheme name="TU KL">
      <a:dk1>
        <a:sysClr val="windowText" lastClr="000000"/>
      </a:dk1>
      <a:lt1>
        <a:sysClr val="window" lastClr="FFFFFF"/>
      </a:lt1>
      <a:dk2>
        <a:srgbClr val="005F8C"/>
      </a:dk2>
      <a:lt2>
        <a:srgbClr val="EEECE1"/>
      </a:lt2>
      <a:accent1>
        <a:srgbClr val="B92819"/>
      </a:accent1>
      <a:accent2>
        <a:srgbClr val="827D78"/>
      </a:accent2>
      <a:accent3>
        <a:srgbClr val="C3BEB9"/>
      </a:accent3>
      <a:accent4>
        <a:srgbClr val="828C96"/>
      </a:accent4>
      <a:accent5>
        <a:srgbClr val="C3C8C8"/>
      </a:accent5>
      <a:accent6>
        <a:srgbClr val="82AFC8"/>
      </a:accent6>
      <a:hlink>
        <a:srgbClr val="C80096"/>
      </a:hlink>
      <a:folHlink>
        <a:srgbClr val="AA008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blank</Template>
  <TotalTime>0</TotalTime>
  <Words>4576</Words>
  <Application>Microsoft Office PowerPoint</Application>
  <PresentationFormat>On-screen Show (16:9)</PresentationFormat>
  <Paragraphs>454</Paragraphs>
  <Slides>65</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Arial</vt:lpstr>
      <vt:lpstr>Calibri</vt:lpstr>
      <vt:lpstr>Cambria Math</vt:lpstr>
      <vt:lpstr>CMR12</vt:lpstr>
      <vt:lpstr>Consolas</vt:lpstr>
      <vt:lpstr>Wingdings</vt:lpstr>
      <vt:lpstr>blank</vt:lpstr>
      <vt:lpstr>Design of modular predictive controller for building automation</vt:lpstr>
      <vt:lpstr>Content</vt:lpstr>
      <vt:lpstr>Background</vt:lpstr>
      <vt:lpstr>Motivation</vt:lpstr>
      <vt:lpstr>Motivation</vt:lpstr>
      <vt:lpstr>Objective</vt:lpstr>
      <vt:lpstr>Literature Review</vt:lpstr>
      <vt:lpstr>Literature Review</vt:lpstr>
      <vt:lpstr>General Overview of Plant</vt:lpstr>
      <vt:lpstr>General Overview of Plant</vt:lpstr>
      <vt:lpstr>Energy Storage System</vt:lpstr>
      <vt:lpstr>Energy Storage System</vt:lpstr>
      <vt:lpstr>Energy Storage System</vt:lpstr>
      <vt:lpstr>Model Predictive Control</vt:lpstr>
      <vt:lpstr>Model Predictive Control</vt:lpstr>
      <vt:lpstr>Model Predictive Control</vt:lpstr>
      <vt:lpstr>Modular MPC</vt:lpstr>
      <vt:lpstr>Modular MPC</vt:lpstr>
      <vt:lpstr>Modular MPC</vt:lpstr>
      <vt:lpstr>Modular MPC</vt:lpstr>
      <vt:lpstr>Modular MPC</vt:lpstr>
      <vt:lpstr>Development and Implementation</vt:lpstr>
      <vt:lpstr>Development and Implementation</vt:lpstr>
      <vt:lpstr>Development and Implementation</vt:lpstr>
      <vt:lpstr>Development and Implementation</vt:lpstr>
      <vt:lpstr>Development and Implementation</vt:lpstr>
      <vt:lpstr>Development and Implementation</vt:lpstr>
      <vt:lpstr>Development and implementation</vt:lpstr>
      <vt:lpstr>Case Study 1</vt:lpstr>
      <vt:lpstr>Case Study 1</vt:lpstr>
      <vt:lpstr>Case Study 1</vt:lpstr>
      <vt:lpstr>Case Study 1</vt:lpstr>
      <vt:lpstr>Case Study 1</vt:lpstr>
      <vt:lpstr>Case Study 2</vt:lpstr>
      <vt:lpstr>Case Study 2</vt:lpstr>
      <vt:lpstr>Case Study 2</vt:lpstr>
      <vt:lpstr>Case Study 2</vt:lpstr>
      <vt:lpstr>Case Study 2</vt:lpstr>
      <vt:lpstr>Conclusion</vt:lpstr>
      <vt:lpstr>Future Work</vt:lpstr>
      <vt:lpstr>Appendix</vt:lpstr>
      <vt:lpstr>Appendix</vt:lpstr>
      <vt:lpstr>Appendix</vt:lpstr>
      <vt:lpstr>Appendix</vt:lpstr>
      <vt:lpstr>Appendix</vt:lpstr>
      <vt:lpstr>Appendix</vt:lpstr>
      <vt:lpstr>Appendix</vt:lpstr>
      <vt:lpstr>Appendix</vt:lpstr>
      <vt:lpstr>Appendix</vt:lpstr>
      <vt:lpstr>Appendix</vt:lpstr>
      <vt:lpstr>Appendix</vt:lpstr>
      <vt:lpstr>Appendix</vt:lpstr>
      <vt:lpstr>Building’s Model</vt:lpstr>
      <vt:lpstr>Building’s Model</vt:lpstr>
      <vt:lpstr>Building’s Model</vt:lpstr>
      <vt:lpstr>Building’s Model</vt:lpstr>
      <vt:lpstr>Heat Pump</vt:lpstr>
      <vt:lpstr>Heat Pump</vt:lpstr>
      <vt:lpstr>Heat Pump</vt:lpstr>
      <vt:lpstr>Heat Pump</vt:lpstr>
      <vt:lpstr>Hot Water Tank</vt:lpstr>
      <vt:lpstr>Hot Water Tank</vt:lpstr>
      <vt:lpstr>References</vt:lpstr>
      <vt:lpstr>References</vt:lpstr>
      <vt:lpstr>Q&amp;A Session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Anna Nehring</dc:creator>
  <cp:lastModifiedBy>Nafiz Farhan Bin Zainurin</cp:lastModifiedBy>
  <cp:revision>55</cp:revision>
  <dcterms:created xsi:type="dcterms:W3CDTF">2014-10-13T13:03:21Z</dcterms:created>
  <dcterms:modified xsi:type="dcterms:W3CDTF">2023-05-26T14:16:18Z</dcterms:modified>
</cp:coreProperties>
</file>